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6" roundtripDataSignature="AMtx7miTAU9pUnv84S9le5iJ8DfN2k0GO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63AC954-7EFE-4871-A3DF-65480174A828}">
  <a:tblStyle styleId="{D63AC954-7EFE-4871-A3DF-65480174A828}"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customschemas.google.com/relationships/presentationmetadata" Target="metadata"/><Relationship Id="rId25" Type="http://schemas.openxmlformats.org/officeDocument/2006/relationships/slide" Target="slides/slide20.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Full dissertation title on cover. 30 seconds.</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 name="Shape 20"/>
        <p:cNvGrpSpPr/>
        <p:nvPr/>
      </p:nvGrpSpPr>
      <p:grpSpPr>
        <a:xfrm>
          <a:off x="0" y="0"/>
          <a:ext cx="0" cy="0"/>
          <a:chOff x="0" y="0"/>
          <a:chExt cx="0" cy="0"/>
        </a:xfrm>
      </p:grpSpPr>
      <p:sp>
        <p:nvSpPr>
          <p:cNvPr id="21" name="Google Shape;2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 name="Google Shape;22;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 name="Google Shape;23;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 name="Shape 37"/>
        <p:cNvGrpSpPr/>
        <p:nvPr/>
      </p:nvGrpSpPr>
      <p:grpSpPr>
        <a:xfrm>
          <a:off x="0" y="0"/>
          <a:ext cx="0" cy="0"/>
          <a:chOff x="0" y="0"/>
          <a:chExt cx="0" cy="0"/>
        </a:xfrm>
      </p:grpSpPr>
      <p:sp>
        <p:nvSpPr>
          <p:cNvPr id="38" name="Google Shape;3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 name="Google Shape;39;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 name="Google Shape;40;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 name="Google Shape;51;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 name="Google Shape;52;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 name="Google Shape;61;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 name="Google Shape;62;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 name="Google Shape;84;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 name="Google Shape;85;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 name="Google Shape;105;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 name="Google Shape;106;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f26303b58d_0_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 name="Google Shape;125;g3f26303b58d_0_9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 name="Google Shape;126;g3f26303b58d_0_9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f26303b58d_2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 name="Google Shape;136;g3f26303b58d_2_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7" name="Google Shape;137;g3f26303b58d_2_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f26303b58d_0_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9" name="Google Shape;159;g3f26303b58d_0_4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S3 uses the same P1+P2 signals as S2 but blends them into the score instead of creating tiers. No capacity is reserved. The boost is small and most leads stay in approximately the same position. Result: 266 converters vs 265 baseline (+1). Compare with S2: 270 converters (+5). Allocation beats score adjustment.</a:t>
            </a:r>
            <a:endParaRPr/>
          </a:p>
        </p:txBody>
      </p:sp>
      <p:sp>
        <p:nvSpPr>
          <p:cNvPr id="160" name="Google Shape;160;g3f26303b58d_0_4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9" name="Google Shape;179;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0" name="Google Shape;180;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2" name="Google Shape;192;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3" name="Google Shape;193;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3" name="Google Shape;203;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4" name="Google Shape;204;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3" name="Google Shape;213;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4" name="Google Shape;214;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5" name="Google Shape;225;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6" name="Google Shape;226;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5" name="Google Shape;235;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6" name="Google Shape;236;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4" name="Google Shape;254;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5" name="Google Shape;255;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3" name="Google Shape;283;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4" name="Google Shape;284;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3f2d3326be3_3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0" name="Google Shape;300;g3f2d3326be3_3_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Limitations: B2C dataset (BANT proxied), directional result (CIs overlap), partial signal separation, no timestamps. Future work flows as a progression: validate on real B2B → identify best signals → make qualification adaptive → broaden to revenue → study lifecycle of qualification data migrating into scoring models.</a:t>
            </a:r>
            <a:endParaRPr/>
          </a:p>
        </p:txBody>
      </p:sp>
      <p:sp>
        <p:nvSpPr>
          <p:cNvPr id="301" name="Google Shape;301;g3f2d3326be3_3_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3" name="Google Shape;313;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4" name="Google Shape;314;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761"/>
        </a:solidFill>
      </p:bgPr>
    </p:bg>
    <p:spTree>
      <p:nvGrpSpPr>
        <p:cNvPr id="15" name="Shape 15"/>
        <p:cNvGrpSpPr/>
        <p:nvPr/>
      </p:nvGrpSpPr>
      <p:grpSpPr>
        <a:xfrm>
          <a:off x="0" y="0"/>
          <a:ext cx="0" cy="0"/>
          <a:chOff x="0" y="0"/>
          <a:chExt cx="0" cy="0"/>
        </a:xfrm>
      </p:grpSpPr>
      <p:sp>
        <p:nvSpPr>
          <p:cNvPr id="16" name="Google Shape;16;p1"/>
          <p:cNvSpPr/>
          <p:nvPr/>
        </p:nvSpPr>
        <p:spPr>
          <a:xfrm>
            <a:off x="731520" y="731520"/>
            <a:ext cx="7680960" cy="1645920"/>
          </a:xfrm>
          <a:prstGeom prst="rect">
            <a:avLst/>
          </a:prstGeom>
          <a:noFill/>
          <a:ln>
            <a:noFill/>
          </a:ln>
        </p:spPr>
        <p:txBody>
          <a:bodyPr anchorCtr="0" anchor="ctr" bIns="45700" lIns="91425" spcFirstLastPara="1" rIns="91425" wrap="square" tIns="45700">
            <a:noAutofit/>
          </a:bodyPr>
          <a:lstStyle/>
          <a:p>
            <a:pPr indent="0" lvl="0" marL="0" marR="0" rtl="0" algn="l">
              <a:lnSpc>
                <a:spcPct val="115000"/>
              </a:lnSpc>
              <a:spcBef>
                <a:spcPts val="0"/>
              </a:spcBef>
              <a:spcAft>
                <a:spcPts val="0"/>
              </a:spcAft>
              <a:buClr>
                <a:srgbClr val="FFFFFF"/>
              </a:buClr>
              <a:buSzPts val="3000"/>
              <a:buFont typeface="Calibri"/>
              <a:buNone/>
            </a:pPr>
            <a:r>
              <a:rPr b="1" i="0" lang="en-US" sz="3000" u="none" cap="none" strike="noStrike">
                <a:solidFill>
                  <a:srgbClr val="FFFFFF"/>
                </a:solidFill>
                <a:latin typeface="Calibri"/>
                <a:ea typeface="Calibri"/>
                <a:cs typeface="Calibri"/>
                <a:sym typeface="Calibri"/>
              </a:rPr>
              <a:t>Integrating Predictive Models with</a:t>
            </a:r>
            <a:endParaRPr b="0" i="0" sz="30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FFFFFF"/>
              </a:buClr>
              <a:buSzPts val="3000"/>
              <a:buFont typeface="Calibri"/>
              <a:buNone/>
            </a:pPr>
            <a:r>
              <a:rPr b="1" i="0" lang="en-US" sz="3000" u="none" cap="none" strike="noStrike">
                <a:solidFill>
                  <a:srgbClr val="FFFFFF"/>
                </a:solidFill>
                <a:latin typeface="Calibri"/>
                <a:ea typeface="Calibri"/>
                <a:cs typeface="Calibri"/>
                <a:sym typeface="Calibri"/>
              </a:rPr>
              <a:t>Operational Policies for Constrained</a:t>
            </a:r>
            <a:endParaRPr b="0" i="0" sz="30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FFFFFF"/>
              </a:buClr>
              <a:buSzPts val="3000"/>
              <a:buFont typeface="Calibri"/>
              <a:buNone/>
            </a:pPr>
            <a:r>
              <a:rPr b="1" i="0" lang="en-US" sz="3000" u="none" cap="none" strike="noStrike">
                <a:solidFill>
                  <a:srgbClr val="FFFFFF"/>
                </a:solidFill>
                <a:latin typeface="Calibri"/>
                <a:ea typeface="Calibri"/>
                <a:cs typeface="Calibri"/>
                <a:sym typeface="Calibri"/>
              </a:rPr>
              <a:t>Lead Qualification</a:t>
            </a:r>
            <a:endParaRPr b="0" i="0" sz="3000" u="none" cap="none" strike="noStrike">
              <a:solidFill>
                <a:schemeClr val="dk1"/>
              </a:solidFill>
              <a:latin typeface="Calibri"/>
              <a:ea typeface="Calibri"/>
              <a:cs typeface="Calibri"/>
              <a:sym typeface="Calibri"/>
            </a:endParaRPr>
          </a:p>
        </p:txBody>
      </p:sp>
      <p:sp>
        <p:nvSpPr>
          <p:cNvPr id="17" name="Google Shape;17;p1"/>
          <p:cNvSpPr/>
          <p:nvPr/>
        </p:nvSpPr>
        <p:spPr>
          <a:xfrm>
            <a:off x="731520" y="2560320"/>
            <a:ext cx="768096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ADCFC"/>
              </a:buClr>
              <a:buSzPts val="1600"/>
              <a:buFont typeface="Calibri"/>
              <a:buNone/>
            </a:pPr>
            <a:r>
              <a:rPr b="0" i="1" lang="en-US" sz="1600" u="none" cap="none" strike="noStrike">
                <a:solidFill>
                  <a:srgbClr val="CADCFC"/>
                </a:solidFill>
                <a:latin typeface="Calibri"/>
                <a:ea typeface="Calibri"/>
                <a:cs typeface="Calibri"/>
                <a:sym typeface="Calibri"/>
              </a:rPr>
              <a:t>Does a separate qualification layer improve lead selection</a:t>
            </a:r>
            <a:endParaRPr b="0" i="0" sz="1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CADCFC"/>
              </a:buClr>
              <a:buSzPts val="1600"/>
              <a:buFont typeface="Calibri"/>
              <a:buNone/>
            </a:pPr>
            <a:r>
              <a:rPr b="0" i="1" lang="en-US" sz="1600" u="none" cap="none" strike="noStrike">
                <a:solidFill>
                  <a:srgbClr val="CADCFC"/>
                </a:solidFill>
                <a:latin typeface="Calibri"/>
                <a:ea typeface="Calibri"/>
                <a:cs typeface="Calibri"/>
                <a:sym typeface="Calibri"/>
              </a:rPr>
              <a:t>beyond predictive scoring alone?</a:t>
            </a:r>
            <a:endParaRPr b="0" i="0" sz="1600" u="none" cap="none" strike="noStrike">
              <a:solidFill>
                <a:schemeClr val="dk1"/>
              </a:solidFill>
              <a:latin typeface="Calibri"/>
              <a:ea typeface="Calibri"/>
              <a:cs typeface="Calibri"/>
              <a:sym typeface="Calibri"/>
            </a:endParaRPr>
          </a:p>
        </p:txBody>
      </p:sp>
      <p:cxnSp>
        <p:nvCxnSpPr>
          <p:cNvPr id="18" name="Google Shape;18;p1"/>
          <p:cNvCxnSpPr/>
          <p:nvPr/>
        </p:nvCxnSpPr>
        <p:spPr>
          <a:xfrm>
            <a:off x="731520" y="3383280"/>
            <a:ext cx="2286000" cy="0"/>
          </a:xfrm>
          <a:prstGeom prst="straightConnector1">
            <a:avLst/>
          </a:prstGeom>
          <a:noFill/>
          <a:ln cap="flat" cmpd="sng" w="38100">
            <a:solidFill>
              <a:srgbClr val="E8593C"/>
            </a:solidFill>
            <a:prstDash val="solid"/>
            <a:round/>
            <a:headEnd len="sm" w="sm" type="none"/>
            <a:tailEnd len="sm" w="sm" type="none"/>
          </a:ln>
        </p:spPr>
      </p:cxnSp>
      <p:sp>
        <p:nvSpPr>
          <p:cNvPr id="19" name="Google Shape;19;p1"/>
          <p:cNvSpPr/>
          <p:nvPr/>
        </p:nvSpPr>
        <p:spPr>
          <a:xfrm>
            <a:off x="731520" y="3657600"/>
            <a:ext cx="4572000" cy="822960"/>
          </a:xfrm>
          <a:prstGeom prst="rect">
            <a:avLst/>
          </a:prstGeom>
          <a:noFill/>
          <a:ln>
            <a:noFill/>
          </a:ln>
        </p:spPr>
        <p:txBody>
          <a:bodyPr anchorCtr="0" anchor="ctr" bIns="45700" lIns="91425" spcFirstLastPara="1" rIns="91425" wrap="square" tIns="45700">
            <a:noAutofit/>
          </a:bodyPr>
          <a:lstStyle/>
          <a:p>
            <a:pPr indent="0" lvl="0" marL="0" marR="0" rtl="0" algn="l">
              <a:lnSpc>
                <a:spcPct val="130000"/>
              </a:lnSpc>
              <a:spcBef>
                <a:spcPts val="0"/>
              </a:spcBef>
              <a:spcAft>
                <a:spcPts val="0"/>
              </a:spcAft>
              <a:buClr>
                <a:srgbClr val="CADCFC"/>
              </a:buClr>
              <a:buSzPts val="1400"/>
              <a:buFont typeface="Calibri"/>
              <a:buNone/>
            </a:pPr>
            <a:r>
              <a:rPr b="0" i="0" lang="en-US" sz="1400" u="none" cap="none" strike="noStrike">
                <a:solidFill>
                  <a:srgbClr val="CADCFC"/>
                </a:solidFill>
                <a:latin typeface="Calibri"/>
                <a:ea typeface="Calibri"/>
                <a:cs typeface="Calibri"/>
                <a:sym typeface="Calibri"/>
              </a:rPr>
              <a:t>Michael De</a:t>
            </a:r>
            <a:r>
              <a:rPr lang="en-US">
                <a:solidFill>
                  <a:srgbClr val="CADCFC"/>
                </a:solidFill>
                <a:latin typeface="Calibri"/>
                <a:ea typeface="Calibri"/>
                <a:cs typeface="Calibri"/>
                <a:sym typeface="Calibri"/>
              </a:rPr>
              <a:t>an </a:t>
            </a:r>
            <a:r>
              <a:rPr b="0" i="0" lang="en-US" sz="1400" u="none" cap="none" strike="noStrike">
                <a:solidFill>
                  <a:srgbClr val="CADCFC"/>
                </a:solidFill>
                <a:latin typeface="Calibri"/>
                <a:ea typeface="Calibri"/>
                <a:cs typeface="Calibri"/>
                <a:sym typeface="Calibri"/>
              </a:rPr>
              <a:t>Thomas</a:t>
            </a:r>
            <a:endParaRPr b="0" i="0" sz="14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CADCFC"/>
              </a:buClr>
              <a:buSzPts val="1400"/>
              <a:buFont typeface="Calibri"/>
              <a:buNone/>
            </a:pPr>
            <a:r>
              <a:rPr b="0" i="0" lang="en-US" sz="1400" u="none" cap="none" strike="noStrike">
                <a:solidFill>
                  <a:srgbClr val="CADCFC"/>
                </a:solidFill>
                <a:latin typeface="Calibri"/>
                <a:ea typeface="Calibri"/>
                <a:cs typeface="Calibri"/>
                <a:sym typeface="Calibri"/>
              </a:rPr>
              <a:t>MSc Artificial Intelligence and Machine Learning</a:t>
            </a:r>
            <a:endParaRPr b="0" i="0" sz="14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CADCFC"/>
              </a:buClr>
              <a:buSzPts val="1400"/>
              <a:buFont typeface="Calibri"/>
              <a:buNone/>
            </a:pPr>
            <a:r>
              <a:rPr b="0" i="0" lang="en-US" sz="1400" u="none" cap="none" strike="noStrike">
                <a:solidFill>
                  <a:srgbClr val="CADCFC"/>
                </a:solidFill>
                <a:latin typeface="Calibri"/>
                <a:ea typeface="Calibri"/>
                <a:cs typeface="Calibri"/>
                <a:sym typeface="Calibri"/>
              </a:rPr>
              <a:t>upGrad / IIT Bangalore / LJMU</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 name="Shape 24"/>
        <p:cNvGrpSpPr/>
        <p:nvPr/>
      </p:nvGrpSpPr>
      <p:grpSpPr>
        <a:xfrm>
          <a:off x="0" y="0"/>
          <a:ext cx="0" cy="0"/>
          <a:chOff x="0" y="0"/>
          <a:chExt cx="0" cy="0"/>
        </a:xfrm>
      </p:grpSpPr>
      <p:sp>
        <p:nvSpPr>
          <p:cNvPr id="25" name="Google Shape;25;p2"/>
          <p:cNvSpPr/>
          <p:nvPr/>
        </p:nvSpPr>
        <p:spPr>
          <a:xfrm>
            <a:off x="731520" y="365760"/>
            <a:ext cx="768096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3200"/>
              <a:buFont typeface="Calibri"/>
              <a:buNone/>
            </a:pPr>
            <a:r>
              <a:rPr b="1" i="0" lang="en-US" sz="3200" u="none" cap="none" strike="noStrike">
                <a:solidFill>
                  <a:srgbClr val="1E2761"/>
                </a:solidFill>
                <a:latin typeface="Calibri"/>
                <a:ea typeface="Calibri"/>
                <a:cs typeface="Calibri"/>
                <a:sym typeface="Calibri"/>
              </a:rPr>
              <a:t>The problem</a:t>
            </a:r>
            <a:endParaRPr b="0" i="0" sz="3200" u="none" cap="none" strike="noStrike">
              <a:solidFill>
                <a:schemeClr val="dk1"/>
              </a:solidFill>
              <a:latin typeface="Calibri"/>
              <a:ea typeface="Calibri"/>
              <a:cs typeface="Calibri"/>
              <a:sym typeface="Calibri"/>
            </a:endParaRPr>
          </a:p>
        </p:txBody>
      </p:sp>
      <p:sp>
        <p:nvSpPr>
          <p:cNvPr id="26" name="Google Shape;26;p2"/>
          <p:cNvSpPr/>
          <p:nvPr/>
        </p:nvSpPr>
        <p:spPr>
          <a:xfrm>
            <a:off x="1371600" y="1188720"/>
            <a:ext cx="2926080" cy="1828800"/>
          </a:xfrm>
          <a:prstGeom prst="roundRect">
            <a:avLst>
              <a:gd fmla="val 7500" name="adj"/>
            </a:avLst>
          </a:prstGeom>
          <a:solidFill>
            <a:srgbClr val="F2F4F8"/>
          </a:solidFill>
          <a:ln>
            <a:noFill/>
          </a:ln>
          <a:effectLst>
            <a:outerShdw blurRad="76200" rotWithShape="0" algn="bl" dir="27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7" name="Google Shape;27;p2"/>
          <p:cNvPicPr preferRelativeResize="0"/>
          <p:nvPr/>
        </p:nvPicPr>
        <p:blipFill rotWithShape="1">
          <a:blip r:embed="rId3">
            <a:alphaModFix/>
          </a:blip>
          <a:srcRect b="0" l="0" r="0" t="0"/>
          <a:stretch/>
        </p:blipFill>
        <p:spPr>
          <a:xfrm>
            <a:off x="1554480" y="1325880"/>
            <a:ext cx="274320" cy="274320"/>
          </a:xfrm>
          <a:prstGeom prst="rect">
            <a:avLst/>
          </a:prstGeom>
          <a:noFill/>
          <a:ln>
            <a:noFill/>
          </a:ln>
        </p:spPr>
      </p:pic>
      <p:sp>
        <p:nvSpPr>
          <p:cNvPr id="28" name="Google Shape;28;p2"/>
          <p:cNvSpPr/>
          <p:nvPr/>
        </p:nvSpPr>
        <p:spPr>
          <a:xfrm>
            <a:off x="1371600" y="1645920"/>
            <a:ext cx="292608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593C"/>
              </a:buClr>
              <a:buSzPts val="4400"/>
              <a:buFont typeface="Calibri"/>
              <a:buNone/>
            </a:pPr>
            <a:r>
              <a:rPr b="1" i="0" lang="en-US" sz="4400" u="none" cap="none" strike="noStrike">
                <a:solidFill>
                  <a:srgbClr val="E8593C"/>
                </a:solidFill>
                <a:latin typeface="Calibri"/>
                <a:ea typeface="Calibri"/>
                <a:cs typeface="Calibri"/>
                <a:sym typeface="Calibri"/>
              </a:rPr>
              <a:t>90%</a:t>
            </a:r>
            <a:endParaRPr b="0" i="0" sz="4400" u="none" cap="none" strike="noStrike">
              <a:solidFill>
                <a:schemeClr val="dk1"/>
              </a:solidFill>
              <a:latin typeface="Calibri"/>
              <a:ea typeface="Calibri"/>
              <a:cs typeface="Calibri"/>
              <a:sym typeface="Calibri"/>
            </a:endParaRPr>
          </a:p>
        </p:txBody>
      </p:sp>
      <p:sp>
        <p:nvSpPr>
          <p:cNvPr id="29" name="Google Shape;29;p2"/>
          <p:cNvSpPr/>
          <p:nvPr/>
        </p:nvSpPr>
        <p:spPr>
          <a:xfrm>
            <a:off x="1371600" y="2240280"/>
            <a:ext cx="292608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400"/>
              <a:buFont typeface="Calibri"/>
              <a:buNone/>
            </a:pPr>
            <a:r>
              <a:rPr b="0" i="0" lang="en-US" sz="1400" u="none" cap="none" strike="noStrike">
                <a:solidFill>
                  <a:srgbClr val="64748B"/>
                </a:solidFill>
                <a:latin typeface="Calibri"/>
                <a:ea typeface="Calibri"/>
                <a:cs typeface="Calibri"/>
                <a:sym typeface="Calibri"/>
              </a:rPr>
              <a:t>of leads are</a:t>
            </a:r>
            <a:endParaRPr b="0" i="0" sz="14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64748B"/>
              </a:buClr>
              <a:buSzPts val="1400"/>
              <a:buFont typeface="Calibri"/>
              <a:buNone/>
            </a:pPr>
            <a:r>
              <a:rPr b="0" i="0" lang="en-US" sz="1400" u="none" cap="none" strike="noStrike">
                <a:solidFill>
                  <a:srgbClr val="64748B"/>
                </a:solidFill>
                <a:latin typeface="Calibri"/>
                <a:ea typeface="Calibri"/>
                <a:cs typeface="Calibri"/>
                <a:sym typeface="Calibri"/>
              </a:rPr>
              <a:t>eliminated</a:t>
            </a:r>
            <a:endParaRPr b="0" i="0" sz="1400" u="none" cap="none" strike="noStrike">
              <a:solidFill>
                <a:schemeClr val="dk1"/>
              </a:solidFill>
              <a:latin typeface="Calibri"/>
              <a:ea typeface="Calibri"/>
              <a:cs typeface="Calibri"/>
              <a:sym typeface="Calibri"/>
            </a:endParaRPr>
          </a:p>
        </p:txBody>
      </p:sp>
      <p:sp>
        <p:nvSpPr>
          <p:cNvPr id="30" name="Google Shape;30;p2"/>
          <p:cNvSpPr/>
          <p:nvPr/>
        </p:nvSpPr>
        <p:spPr>
          <a:xfrm>
            <a:off x="4846320" y="1188720"/>
            <a:ext cx="2926080" cy="1828800"/>
          </a:xfrm>
          <a:prstGeom prst="roundRect">
            <a:avLst>
              <a:gd fmla="val 7500" name="adj"/>
            </a:avLst>
          </a:prstGeom>
          <a:solidFill>
            <a:srgbClr val="F2F4F8"/>
          </a:solidFill>
          <a:ln>
            <a:noFill/>
          </a:ln>
          <a:effectLst>
            <a:outerShdw blurRad="76200" rotWithShape="0" algn="bl" dir="27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1" name="Google Shape;31;p2"/>
          <p:cNvPicPr preferRelativeResize="0"/>
          <p:nvPr/>
        </p:nvPicPr>
        <p:blipFill rotWithShape="1">
          <a:blip r:embed="rId4">
            <a:alphaModFix/>
          </a:blip>
          <a:srcRect b="0" l="0" r="0" t="0"/>
          <a:stretch/>
        </p:blipFill>
        <p:spPr>
          <a:xfrm>
            <a:off x="5029200" y="1325880"/>
            <a:ext cx="274320" cy="274320"/>
          </a:xfrm>
          <a:prstGeom prst="rect">
            <a:avLst/>
          </a:prstGeom>
          <a:noFill/>
          <a:ln>
            <a:noFill/>
          </a:ln>
        </p:spPr>
      </p:pic>
      <p:sp>
        <p:nvSpPr>
          <p:cNvPr id="32" name="Google Shape;32;p2"/>
          <p:cNvSpPr/>
          <p:nvPr/>
        </p:nvSpPr>
        <p:spPr>
          <a:xfrm>
            <a:off x="4846320" y="1645920"/>
            <a:ext cx="292608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593C"/>
              </a:buClr>
              <a:buSzPts val="4400"/>
              <a:buFont typeface="Calibri"/>
              <a:buNone/>
            </a:pPr>
            <a:r>
              <a:rPr b="1" i="0" lang="en-US" sz="4400" u="none" cap="none" strike="noStrike">
                <a:solidFill>
                  <a:srgbClr val="E8593C"/>
                </a:solidFill>
                <a:latin typeface="Calibri"/>
                <a:ea typeface="Calibri"/>
                <a:cs typeface="Calibri"/>
                <a:sym typeface="Calibri"/>
              </a:rPr>
              <a:t>1–6%</a:t>
            </a:r>
            <a:endParaRPr b="0" i="0" sz="4400" u="none" cap="none" strike="noStrike">
              <a:solidFill>
                <a:schemeClr val="dk1"/>
              </a:solidFill>
              <a:latin typeface="Calibri"/>
              <a:ea typeface="Calibri"/>
              <a:cs typeface="Calibri"/>
              <a:sym typeface="Calibri"/>
            </a:endParaRPr>
          </a:p>
        </p:txBody>
      </p:sp>
      <p:sp>
        <p:nvSpPr>
          <p:cNvPr id="33" name="Google Shape;33;p2"/>
          <p:cNvSpPr/>
          <p:nvPr/>
        </p:nvSpPr>
        <p:spPr>
          <a:xfrm>
            <a:off x="4846320" y="2240280"/>
            <a:ext cx="292608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400"/>
              <a:buFont typeface="Calibri"/>
              <a:buNone/>
            </a:pPr>
            <a:r>
              <a:rPr b="0" i="0" lang="en-US" sz="1400" u="none" cap="none" strike="noStrike">
                <a:solidFill>
                  <a:srgbClr val="64748B"/>
                </a:solidFill>
                <a:latin typeface="Calibri"/>
                <a:ea typeface="Calibri"/>
                <a:cs typeface="Calibri"/>
                <a:sym typeface="Calibri"/>
              </a:rPr>
              <a:t>become</a:t>
            </a:r>
            <a:endParaRPr b="0" i="0" sz="14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64748B"/>
              </a:buClr>
              <a:buSzPts val="1400"/>
              <a:buFont typeface="Calibri"/>
              <a:buNone/>
            </a:pPr>
            <a:r>
              <a:rPr b="0" i="0" lang="en-US" sz="1400" u="none" cap="none" strike="noStrike">
                <a:solidFill>
                  <a:srgbClr val="64748B"/>
                </a:solidFill>
                <a:latin typeface="Calibri"/>
                <a:ea typeface="Calibri"/>
                <a:cs typeface="Calibri"/>
                <a:sym typeface="Calibri"/>
              </a:rPr>
              <a:t>customers</a:t>
            </a:r>
            <a:endParaRPr b="0" i="0" sz="1400" u="none" cap="none" strike="noStrike">
              <a:solidFill>
                <a:schemeClr val="dk1"/>
              </a:solidFill>
              <a:latin typeface="Calibri"/>
              <a:ea typeface="Calibri"/>
              <a:cs typeface="Calibri"/>
              <a:sym typeface="Calibri"/>
            </a:endParaRPr>
          </a:p>
        </p:txBody>
      </p:sp>
      <p:sp>
        <p:nvSpPr>
          <p:cNvPr id="34" name="Google Shape;34;p2"/>
          <p:cNvSpPr/>
          <p:nvPr/>
        </p:nvSpPr>
        <p:spPr>
          <a:xfrm>
            <a:off x="731520" y="3383280"/>
            <a:ext cx="7680960" cy="731520"/>
          </a:xfrm>
          <a:prstGeom prst="roundRect">
            <a:avLst>
              <a:gd fmla="val 12500" name="adj"/>
            </a:avLst>
          </a:prstGeom>
          <a:solidFill>
            <a:srgbClr val="FFF0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a:off x="914400" y="3429000"/>
            <a:ext cx="731520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1B3D"/>
              </a:buClr>
              <a:buSzPts val="1400"/>
              <a:buFont typeface="Calibri"/>
              <a:buNone/>
            </a:pPr>
            <a:r>
              <a:rPr b="0" i="0" lang="en-US" sz="1400" u="none" cap="none" strike="noStrike">
                <a:solidFill>
                  <a:srgbClr val="0F1B3D"/>
                </a:solidFill>
                <a:latin typeface="Calibri"/>
                <a:ea typeface="Calibri"/>
                <a:cs typeface="Calibri"/>
                <a:sym typeface="Calibri"/>
              </a:rPr>
              <a:t>The capacity constraint is the core problem</a:t>
            </a:r>
            <a:r>
              <a:rPr lang="en-US">
                <a:solidFill>
                  <a:srgbClr val="0F1B3D"/>
                </a:solidFill>
                <a:latin typeface="Calibri"/>
                <a:ea typeface="Calibri"/>
                <a:cs typeface="Calibri"/>
                <a:sym typeface="Calibri"/>
              </a:rPr>
              <a:t>:</a:t>
            </a:r>
            <a:r>
              <a:rPr b="0" i="0" lang="en-US" sz="1400" u="none" cap="none" strike="noStrike">
                <a:solidFill>
                  <a:srgbClr val="0F1B3D"/>
                </a:solidFill>
                <a:latin typeface="Calibri"/>
                <a:ea typeface="Calibri"/>
                <a:cs typeface="Calibri"/>
                <a:sym typeface="Calibri"/>
              </a:rPr>
              <a:t> sales teams cannot follow up every lead.</a:t>
            </a:r>
            <a:endParaRPr b="0" i="0" sz="14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F1B3D"/>
              </a:buClr>
              <a:buSzPts val="1400"/>
              <a:buFont typeface="Calibri"/>
              <a:buNone/>
            </a:pPr>
            <a:r>
              <a:rPr b="0" i="0" lang="en-US" sz="1400" u="none" cap="none" strike="noStrike">
                <a:solidFill>
                  <a:srgbClr val="0F1B3D"/>
                </a:solidFill>
                <a:latin typeface="Calibri"/>
                <a:ea typeface="Calibri"/>
                <a:cs typeface="Calibri"/>
                <a:sym typeface="Calibri"/>
              </a:rPr>
              <a:t>Small differences in which leads are selected create large differences in revenue.</a:t>
            </a:r>
            <a:endParaRPr b="0" i="0" sz="1400" u="none" cap="none" strike="noStrike">
              <a:solidFill>
                <a:schemeClr val="dk1"/>
              </a:solidFill>
              <a:latin typeface="Calibri"/>
              <a:ea typeface="Calibri"/>
              <a:cs typeface="Calibri"/>
              <a:sym typeface="Calibri"/>
            </a:endParaRPr>
          </a:p>
        </p:txBody>
      </p:sp>
      <p:sp>
        <p:nvSpPr>
          <p:cNvPr id="36" name="Google Shape;36;p2"/>
          <p:cNvSpPr/>
          <p:nvPr/>
        </p:nvSpPr>
        <p:spPr>
          <a:xfrm>
            <a:off x="731520" y="4389120"/>
            <a:ext cx="768096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1000"/>
              <a:buFont typeface="Calibri"/>
              <a:buNone/>
            </a:pPr>
            <a:r>
              <a:rPr b="0" i="0" lang="en-US" sz="1000" u="none" cap="none" strike="noStrike">
                <a:solidFill>
                  <a:srgbClr val="64748B"/>
                </a:solidFill>
                <a:latin typeface="Calibri"/>
                <a:ea typeface="Calibri"/>
                <a:cs typeface="Calibri"/>
                <a:sym typeface="Calibri"/>
              </a:rPr>
              <a:t>Sources: Wu et al. (2024), Leite et al. (2025)</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 name="Shape 41"/>
        <p:cNvGrpSpPr/>
        <p:nvPr/>
      </p:nvGrpSpPr>
      <p:grpSpPr>
        <a:xfrm>
          <a:off x="0" y="0"/>
          <a:ext cx="0" cy="0"/>
          <a:chOff x="0" y="0"/>
          <a:chExt cx="0" cy="0"/>
        </a:xfrm>
      </p:grpSpPr>
      <p:sp>
        <p:nvSpPr>
          <p:cNvPr id="42" name="Google Shape;42;p3"/>
          <p:cNvSpPr/>
          <p:nvPr/>
        </p:nvSpPr>
        <p:spPr>
          <a:xfrm>
            <a:off x="731520" y="365760"/>
            <a:ext cx="768096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3200"/>
              <a:buFont typeface="Calibri"/>
              <a:buNone/>
            </a:pPr>
            <a:r>
              <a:rPr b="1" i="0" lang="en-US" sz="2300" u="none" cap="none" strike="noStrike">
                <a:solidFill>
                  <a:srgbClr val="1E2761"/>
                </a:solidFill>
                <a:latin typeface="Calibri"/>
                <a:ea typeface="Calibri"/>
                <a:cs typeface="Calibri"/>
                <a:sym typeface="Calibri"/>
              </a:rPr>
              <a:t>Practice vs research: Qualification Acquires New Information</a:t>
            </a:r>
            <a:endParaRPr b="0" i="0" sz="2300" u="none" cap="none" strike="noStrike">
              <a:solidFill>
                <a:schemeClr val="dk1"/>
              </a:solidFill>
              <a:latin typeface="Calibri"/>
              <a:ea typeface="Calibri"/>
              <a:cs typeface="Calibri"/>
              <a:sym typeface="Calibri"/>
            </a:endParaRPr>
          </a:p>
        </p:txBody>
      </p:sp>
      <p:sp>
        <p:nvSpPr>
          <p:cNvPr id="43" name="Google Shape;43;p3"/>
          <p:cNvSpPr/>
          <p:nvPr/>
        </p:nvSpPr>
        <p:spPr>
          <a:xfrm>
            <a:off x="731520" y="1188720"/>
            <a:ext cx="3657600" cy="2926080"/>
          </a:xfrm>
          <a:prstGeom prst="roundRect">
            <a:avLst>
              <a:gd fmla="val 4688" name="adj"/>
            </a:avLst>
          </a:prstGeom>
          <a:solidFill>
            <a:srgbClr val="F2F4F8"/>
          </a:solidFill>
          <a:ln>
            <a:noFill/>
          </a:ln>
          <a:effectLst>
            <a:outerShdw blurRad="76200" rotWithShape="0" algn="bl" dir="27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3"/>
          <p:cNvSpPr/>
          <p:nvPr/>
        </p:nvSpPr>
        <p:spPr>
          <a:xfrm>
            <a:off x="731520" y="1280160"/>
            <a:ext cx="365760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600"/>
              <a:buFont typeface="Calibri"/>
              <a:buNone/>
            </a:pPr>
            <a:r>
              <a:rPr b="1" i="0" lang="en-US" sz="1600" u="none" cap="none" strike="noStrike">
                <a:solidFill>
                  <a:srgbClr val="1E2761"/>
                </a:solidFill>
                <a:latin typeface="Calibri"/>
                <a:ea typeface="Calibri"/>
                <a:cs typeface="Calibri"/>
                <a:sym typeface="Calibri"/>
              </a:rPr>
              <a:t>How firms actually work </a:t>
            </a:r>
            <a:endParaRPr b="0" i="0" sz="1600" u="none" cap="none" strike="noStrike">
              <a:solidFill>
                <a:schemeClr val="dk1"/>
              </a:solidFill>
              <a:latin typeface="Calibri"/>
              <a:ea typeface="Calibri"/>
              <a:cs typeface="Calibri"/>
              <a:sym typeface="Calibri"/>
            </a:endParaRPr>
          </a:p>
        </p:txBody>
      </p:sp>
      <p:sp>
        <p:nvSpPr>
          <p:cNvPr id="45" name="Google Shape;45;p3"/>
          <p:cNvSpPr/>
          <p:nvPr/>
        </p:nvSpPr>
        <p:spPr>
          <a:xfrm>
            <a:off x="1005840" y="1828800"/>
            <a:ext cx="3200400" cy="2011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1B3D"/>
              </a:buClr>
              <a:buSzPts val="1400"/>
              <a:buFont typeface="Calibri"/>
              <a:buNone/>
            </a:pPr>
            <a:r>
              <a:rPr b="1" i="0" lang="en-US" sz="1400" u="none" cap="none" strike="noStrike">
                <a:solidFill>
                  <a:srgbClr val="0F1B3D"/>
                </a:solidFill>
                <a:latin typeface="Calibri"/>
                <a:ea typeface="Calibri"/>
                <a:cs typeface="Calibri"/>
                <a:sym typeface="Calibri"/>
              </a:rPr>
              <a:t>Step 1: Predictive Lead scoring</a:t>
            </a:r>
            <a:endParaRPr b="0" i="0" sz="1400" u="none" cap="none" strike="noStrike">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200">
                <a:solidFill>
                  <a:srgbClr val="64748B"/>
                </a:solidFill>
                <a:latin typeface="Calibri"/>
                <a:ea typeface="Calibri"/>
                <a:cs typeface="Calibri"/>
                <a:sym typeface="Calibri"/>
              </a:rPr>
              <a:t>Uses information available</a:t>
            </a:r>
            <a:endParaRPr sz="1200">
              <a:solidFill>
                <a:srgbClr val="64748B"/>
              </a:solidFill>
              <a:latin typeface="Calibri"/>
              <a:ea typeface="Calibri"/>
              <a:cs typeface="Calibri"/>
              <a:sym typeface="Calibri"/>
            </a:endParaRPr>
          </a:p>
          <a:p>
            <a:pPr indent="0" lvl="0" marL="0" marR="0" rtl="0" algn="l">
              <a:spcBef>
                <a:spcPts val="0"/>
              </a:spcBef>
              <a:spcAft>
                <a:spcPts val="0"/>
              </a:spcAft>
              <a:buClr>
                <a:srgbClr val="64748B"/>
              </a:buClr>
              <a:buSzPts val="1200"/>
              <a:buFont typeface="Calibri"/>
              <a:buNone/>
            </a:pPr>
            <a:r>
              <a:rPr lang="en-US" sz="1200">
                <a:solidFill>
                  <a:srgbClr val="64748B"/>
                </a:solidFill>
                <a:latin typeface="Calibri"/>
                <a:ea typeface="Calibri"/>
                <a:cs typeface="Calibri"/>
                <a:sym typeface="Calibri"/>
              </a:rPr>
              <a:t>when the lead is created.</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F1B3D"/>
              </a:buClr>
              <a:buSzPts val="1400"/>
              <a:buFont typeface="Calibri"/>
              <a:buNone/>
            </a:pPr>
            <a:r>
              <a:rPr b="1" i="0" lang="en-US" sz="1400" u="none" cap="none" strike="noStrike">
                <a:solidFill>
                  <a:srgbClr val="0F1B3D"/>
                </a:solidFill>
                <a:latin typeface="Calibri"/>
                <a:ea typeface="Calibri"/>
                <a:cs typeface="Calibri"/>
                <a:sym typeface="Calibri"/>
              </a:rPr>
              <a:t>Step 2: Lead qualification</a:t>
            </a:r>
            <a:endParaRPr b="0" i="0" sz="1400" u="none" cap="none" strike="noStrike">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200">
                <a:solidFill>
                  <a:srgbClr val="64748B"/>
                </a:solidFill>
                <a:latin typeface="Calibri"/>
                <a:ea typeface="Calibri"/>
                <a:cs typeface="Calibri"/>
                <a:sym typeface="Calibri"/>
              </a:rPr>
              <a:t>Sales conversations uncover</a:t>
            </a:r>
            <a:endParaRPr sz="1200">
              <a:solidFill>
                <a:srgbClr val="64748B"/>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200">
                <a:solidFill>
                  <a:srgbClr val="64748B"/>
                </a:solidFill>
                <a:latin typeface="Calibri"/>
                <a:ea typeface="Calibri"/>
                <a:cs typeface="Calibri"/>
                <a:sym typeface="Calibri"/>
              </a:rPr>
              <a:t>new information</a:t>
            </a:r>
            <a:endParaRPr sz="1200">
              <a:solidFill>
                <a:srgbClr val="64748B"/>
              </a:solidFill>
              <a:latin typeface="Calibri"/>
              <a:ea typeface="Calibri"/>
              <a:cs typeface="Calibri"/>
              <a:sym typeface="Calibri"/>
            </a:endParaRPr>
          </a:p>
          <a:p>
            <a:pPr indent="0" lvl="0" marL="0" marR="0" rtl="0" algn="l">
              <a:spcBef>
                <a:spcPts val="0"/>
              </a:spcBef>
              <a:spcAft>
                <a:spcPts val="0"/>
              </a:spcAft>
              <a:buClr>
                <a:srgbClr val="64748B"/>
              </a:buClr>
              <a:buSzPts val="1200"/>
              <a:buFont typeface="Calibri"/>
              <a:buNone/>
            </a:pPr>
            <a:r>
              <a:rPr lang="en-US" sz="1200">
                <a:solidFill>
                  <a:srgbClr val="64748B"/>
                </a:solidFill>
                <a:latin typeface="Calibri"/>
                <a:ea typeface="Calibri"/>
                <a:cs typeface="Calibri"/>
                <a:sym typeface="Calibri"/>
              </a:rPr>
              <a:t>(BANT, MEDDIC, CHAMP, SPIN)</a:t>
            </a:r>
            <a:endParaRPr b="0" i="0" sz="1400" u="none" cap="none" strike="noStrike">
              <a:solidFill>
                <a:schemeClr val="dk1"/>
              </a:solidFill>
              <a:latin typeface="Calibri"/>
              <a:ea typeface="Calibri"/>
              <a:cs typeface="Calibri"/>
              <a:sym typeface="Calibri"/>
            </a:endParaRPr>
          </a:p>
        </p:txBody>
      </p:sp>
      <p:sp>
        <p:nvSpPr>
          <p:cNvPr id="46" name="Google Shape;46;p3"/>
          <p:cNvSpPr/>
          <p:nvPr/>
        </p:nvSpPr>
        <p:spPr>
          <a:xfrm>
            <a:off x="4754874" y="1188725"/>
            <a:ext cx="4024500" cy="2926200"/>
          </a:xfrm>
          <a:prstGeom prst="roundRect">
            <a:avLst>
              <a:gd fmla="val 4688" name="adj"/>
            </a:avLst>
          </a:prstGeom>
          <a:solidFill>
            <a:srgbClr val="F2F4F8"/>
          </a:solidFill>
          <a:ln>
            <a:noFill/>
          </a:ln>
          <a:effectLst>
            <a:outerShdw blurRad="76200" rotWithShape="0" algn="bl" dir="27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3"/>
          <p:cNvSpPr/>
          <p:nvPr/>
        </p:nvSpPr>
        <p:spPr>
          <a:xfrm>
            <a:off x="4754880" y="1280160"/>
            <a:ext cx="365760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600"/>
              <a:buFont typeface="Calibri"/>
              <a:buNone/>
            </a:pPr>
            <a:r>
              <a:rPr b="1" i="0" lang="en-US" sz="1600" u="none" cap="none" strike="noStrike">
                <a:solidFill>
                  <a:srgbClr val="1E2761"/>
                </a:solidFill>
                <a:latin typeface="Calibri"/>
                <a:ea typeface="Calibri"/>
                <a:cs typeface="Calibri"/>
                <a:sym typeface="Calibri"/>
              </a:rPr>
              <a:t>How research models it</a:t>
            </a:r>
            <a:endParaRPr b="0" i="0" sz="1600" u="none" cap="none" strike="noStrike">
              <a:solidFill>
                <a:schemeClr val="dk1"/>
              </a:solidFill>
              <a:latin typeface="Calibri"/>
              <a:ea typeface="Calibri"/>
              <a:cs typeface="Calibri"/>
              <a:sym typeface="Calibri"/>
            </a:endParaRPr>
          </a:p>
        </p:txBody>
      </p:sp>
      <p:sp>
        <p:nvSpPr>
          <p:cNvPr id="48" name="Google Shape;48;p3"/>
          <p:cNvSpPr/>
          <p:nvPr/>
        </p:nvSpPr>
        <p:spPr>
          <a:xfrm>
            <a:off x="5002975" y="1766400"/>
            <a:ext cx="3528300" cy="2011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1B3D"/>
              </a:buClr>
              <a:buSzPts val="1400"/>
              <a:buFont typeface="Calibri"/>
              <a:buNone/>
            </a:pPr>
            <a:r>
              <a:rPr b="1" i="0" lang="en-US" sz="1400" u="none" cap="none" strike="noStrike">
                <a:solidFill>
                  <a:srgbClr val="0F1B3D"/>
                </a:solidFill>
                <a:latin typeface="Calibri"/>
                <a:ea typeface="Calibri"/>
                <a:cs typeface="Calibri"/>
                <a:sym typeface="Calibri"/>
              </a:rPr>
              <a:t>Single-step prediction</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4748B"/>
              </a:buClr>
              <a:buSzPts val="1200"/>
              <a:buFont typeface="Calibri"/>
              <a:buNone/>
            </a:pPr>
            <a:r>
              <a:rPr b="0" i="0" lang="en-US" sz="1200" u="none" cap="none" strike="noStrike">
                <a:solidFill>
                  <a:srgbClr val="64748B"/>
                </a:solidFill>
                <a:latin typeface="Calibri"/>
                <a:ea typeface="Calibri"/>
                <a:cs typeface="Calibri"/>
                <a:sym typeface="Calibri"/>
              </a:rPr>
              <a:t>Scoring and qualification features</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4748B"/>
              </a:buClr>
              <a:buSzPts val="1200"/>
              <a:buFont typeface="Calibri"/>
              <a:buNone/>
            </a:pPr>
            <a:r>
              <a:rPr b="0" i="0" lang="en-US" sz="1200" u="none" cap="none" strike="noStrike">
                <a:solidFill>
                  <a:srgbClr val="64748B"/>
                </a:solidFill>
                <a:latin typeface="Calibri"/>
                <a:ea typeface="Calibri"/>
                <a:cs typeface="Calibri"/>
                <a:sym typeface="Calibri"/>
              </a:rPr>
              <a:t>combined into one model</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8593C"/>
              </a:buClr>
              <a:buSzPts val="1400"/>
              <a:buFont typeface="Calibri"/>
              <a:buNone/>
            </a:pPr>
            <a:r>
              <a:rPr b="1" i="0" lang="en-US" sz="1400" u="none" cap="none" strike="noStrike">
                <a:solidFill>
                  <a:srgbClr val="E8593C"/>
                </a:solidFill>
                <a:latin typeface="Calibri"/>
                <a:ea typeface="Calibri"/>
                <a:cs typeface="Calibri"/>
                <a:sym typeface="Calibri"/>
              </a:rPr>
              <a:t>The gap</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4748B"/>
              </a:buClr>
              <a:buSzPts val="1200"/>
              <a:buFont typeface="Calibri"/>
              <a:buNone/>
            </a:pPr>
            <a:r>
              <a:rPr lang="en-US" sz="1200">
                <a:solidFill>
                  <a:srgbClr val="64748B"/>
                </a:solidFill>
                <a:latin typeface="Calibri"/>
                <a:ea typeface="Calibri"/>
                <a:cs typeface="Calibri"/>
                <a:sym typeface="Calibri"/>
              </a:rPr>
              <a:t>Existing research largely treats qualification as part of prediction. This dissertation argues that qualification is a structured information-acquisition process that complements predictive scoring by revealing commercially important information unavailable at lead creation.</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761"/>
        </a:solidFill>
      </p:bgPr>
    </p:bg>
    <p:spTree>
      <p:nvGrpSpPr>
        <p:cNvPr id="53" name="Shape 53"/>
        <p:cNvGrpSpPr/>
        <p:nvPr/>
      </p:nvGrpSpPr>
      <p:grpSpPr>
        <a:xfrm>
          <a:off x="0" y="0"/>
          <a:ext cx="0" cy="0"/>
          <a:chOff x="0" y="0"/>
          <a:chExt cx="0" cy="0"/>
        </a:xfrm>
      </p:grpSpPr>
      <p:pic>
        <p:nvPicPr>
          <p:cNvPr descr="preencoded.png" id="54" name="Google Shape;54;p4"/>
          <p:cNvPicPr preferRelativeResize="0"/>
          <p:nvPr/>
        </p:nvPicPr>
        <p:blipFill rotWithShape="1">
          <a:blip r:embed="rId3">
            <a:alphaModFix/>
          </a:blip>
          <a:srcRect b="0" l="0" r="0" t="0"/>
          <a:stretch/>
        </p:blipFill>
        <p:spPr>
          <a:xfrm>
            <a:off x="731520" y="548640"/>
            <a:ext cx="457200" cy="457200"/>
          </a:xfrm>
          <a:prstGeom prst="rect">
            <a:avLst/>
          </a:prstGeom>
          <a:noFill/>
          <a:ln>
            <a:noFill/>
          </a:ln>
        </p:spPr>
      </p:pic>
      <p:sp>
        <p:nvSpPr>
          <p:cNvPr id="55" name="Google Shape;55;p4"/>
          <p:cNvSpPr/>
          <p:nvPr/>
        </p:nvSpPr>
        <p:spPr>
          <a:xfrm>
            <a:off x="1371600" y="502920"/>
            <a:ext cx="64008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800"/>
              <a:buFont typeface="Calibri"/>
              <a:buNone/>
            </a:pPr>
            <a:r>
              <a:rPr b="1" i="0" lang="en-US" sz="2800" u="none" cap="none" strike="noStrike">
                <a:solidFill>
                  <a:srgbClr val="FFFFFF"/>
                </a:solidFill>
                <a:latin typeface="Calibri"/>
                <a:ea typeface="Calibri"/>
                <a:cs typeface="Calibri"/>
                <a:sym typeface="Calibri"/>
              </a:rPr>
              <a:t>Research question</a:t>
            </a:r>
            <a:endParaRPr b="0" i="0" sz="2800" u="none" cap="none" strike="noStrike">
              <a:solidFill>
                <a:schemeClr val="dk1"/>
              </a:solidFill>
              <a:latin typeface="Calibri"/>
              <a:ea typeface="Calibri"/>
              <a:cs typeface="Calibri"/>
              <a:sym typeface="Calibri"/>
            </a:endParaRPr>
          </a:p>
        </p:txBody>
      </p:sp>
      <p:sp>
        <p:nvSpPr>
          <p:cNvPr id="56" name="Google Shape;56;p4"/>
          <p:cNvSpPr/>
          <p:nvPr/>
        </p:nvSpPr>
        <p:spPr>
          <a:xfrm>
            <a:off x="731520" y="1371600"/>
            <a:ext cx="7680960" cy="1280160"/>
          </a:xfrm>
          <a:prstGeom prst="roundRect">
            <a:avLst>
              <a:gd fmla="val 8571" name="adj"/>
            </a:avLst>
          </a:prstGeom>
          <a:solidFill>
            <a:srgbClr val="24338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4"/>
          <p:cNvSpPr/>
          <p:nvPr/>
        </p:nvSpPr>
        <p:spPr>
          <a:xfrm>
            <a:off x="914400" y="1463040"/>
            <a:ext cx="7315200" cy="10972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Calibri"/>
              <a:buNone/>
            </a:pPr>
            <a:r>
              <a:rPr b="0" i="1" lang="en-US" sz="1600" u="none" cap="none" strike="noStrike">
                <a:solidFill>
                  <a:srgbClr val="FFFFFF"/>
                </a:solidFill>
                <a:latin typeface="Calibri"/>
                <a:ea typeface="Calibri"/>
                <a:cs typeface="Calibri"/>
                <a:sym typeface="Calibri"/>
              </a:rPr>
              <a:t>When a sales team can follow up only K leads, does adding a</a:t>
            </a:r>
            <a:endParaRPr b="0" i="0" sz="16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600"/>
              <a:buFont typeface="Calibri"/>
              <a:buNone/>
            </a:pPr>
            <a:r>
              <a:rPr b="0" i="1" lang="en-US" sz="1600" u="none" cap="none" strike="noStrike">
                <a:solidFill>
                  <a:srgbClr val="FFFFFF"/>
                </a:solidFill>
                <a:latin typeface="Calibri"/>
                <a:ea typeface="Calibri"/>
                <a:cs typeface="Calibri"/>
                <a:sym typeface="Calibri"/>
              </a:rPr>
              <a:t>qualification layer on top of an operationally defensible</a:t>
            </a:r>
            <a:endParaRPr b="0" i="0" sz="16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600"/>
              <a:buFont typeface="Calibri"/>
              <a:buNone/>
            </a:pPr>
            <a:r>
              <a:rPr b="0" i="1" lang="en-US" sz="1600" u="none" cap="none" strike="noStrike">
                <a:solidFill>
                  <a:srgbClr val="FFFFFF"/>
                </a:solidFill>
                <a:latin typeface="Calibri"/>
                <a:ea typeface="Calibri"/>
                <a:cs typeface="Calibri"/>
                <a:sym typeface="Calibri"/>
              </a:rPr>
              <a:t>lead-scoring model produce better outcomes</a:t>
            </a:r>
            <a:endParaRPr b="0" i="0" sz="16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600"/>
              <a:buFont typeface="Calibri"/>
              <a:buNone/>
            </a:pPr>
            <a:r>
              <a:rPr b="0" i="1" lang="en-US" sz="1600" u="none" cap="none" strike="noStrike">
                <a:solidFill>
                  <a:srgbClr val="FFFFFF"/>
                </a:solidFill>
                <a:latin typeface="Calibri"/>
                <a:ea typeface="Calibri"/>
                <a:cs typeface="Calibri"/>
                <a:sym typeface="Calibri"/>
              </a:rPr>
              <a:t>than the scoring model alone?</a:t>
            </a:r>
            <a:endParaRPr b="0" i="0" sz="1600" u="none" cap="none" strike="noStrike">
              <a:solidFill>
                <a:schemeClr val="dk1"/>
              </a:solidFill>
              <a:latin typeface="Calibri"/>
              <a:ea typeface="Calibri"/>
              <a:cs typeface="Calibri"/>
              <a:sym typeface="Calibri"/>
            </a:endParaRPr>
          </a:p>
        </p:txBody>
      </p:sp>
      <p:sp>
        <p:nvSpPr>
          <p:cNvPr id="58" name="Google Shape;58;p4"/>
          <p:cNvSpPr/>
          <p:nvPr/>
        </p:nvSpPr>
        <p:spPr>
          <a:xfrm>
            <a:off x="914400" y="2926080"/>
            <a:ext cx="7315200" cy="1828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ADCFC"/>
              </a:buClr>
              <a:buSzPts val="1400"/>
              <a:buFont typeface="Calibri"/>
              <a:buNone/>
            </a:pPr>
            <a:r>
              <a:rPr b="1" i="0" lang="en-US" sz="1400" u="none" cap="none" strike="noStrike">
                <a:solidFill>
                  <a:srgbClr val="CADCFC"/>
                </a:solidFill>
                <a:latin typeface="Calibri"/>
                <a:ea typeface="Calibri"/>
                <a:cs typeface="Calibri"/>
                <a:sym typeface="Calibri"/>
              </a:rPr>
              <a:t>SQ1  </a:t>
            </a:r>
            <a:r>
              <a:rPr b="0" i="0" lang="en-US" sz="1400" u="none" cap="none" strike="noStrike">
                <a:solidFill>
                  <a:srgbClr val="FFFFFF"/>
                </a:solidFill>
                <a:latin typeface="Calibri"/>
                <a:ea typeface="Calibri"/>
                <a:cs typeface="Calibri"/>
                <a:sym typeface="Calibri"/>
              </a:rPr>
              <a:t>Does the qualification layer improve conversion rate?</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CADCFC"/>
              </a:buClr>
              <a:buSzPts val="1400"/>
              <a:buFont typeface="Calibri"/>
              <a:buNone/>
            </a:pPr>
            <a:r>
              <a:rPr b="1" i="0" lang="en-US" sz="1400" u="none" cap="none" strike="noStrike">
                <a:solidFill>
                  <a:srgbClr val="CADCFC"/>
                </a:solidFill>
                <a:latin typeface="Calibri"/>
                <a:ea typeface="Calibri"/>
                <a:cs typeface="Calibri"/>
                <a:sym typeface="Calibri"/>
              </a:rPr>
              <a:t>SQ2  </a:t>
            </a:r>
            <a:r>
              <a:rPr b="0" i="0" lang="en-US" sz="1400" u="none" cap="none" strike="noStrike">
                <a:solidFill>
                  <a:srgbClr val="FFFFFF"/>
                </a:solidFill>
                <a:latin typeface="Calibri"/>
                <a:ea typeface="Calibri"/>
                <a:cs typeface="Calibri"/>
                <a:sym typeface="Calibri"/>
              </a:rPr>
              <a:t>Is the improvement robust to how the signal is applied</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        (hard tiers vs continuous blend)?</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CADCFC"/>
              </a:buClr>
              <a:buSzPts val="1400"/>
              <a:buFont typeface="Calibri"/>
              <a:buNone/>
            </a:pPr>
            <a:r>
              <a:rPr b="1" i="0" lang="en-US" sz="1400" u="none" cap="none" strike="noStrike">
                <a:solidFill>
                  <a:srgbClr val="CADCFC"/>
                </a:solidFill>
                <a:latin typeface="Calibri"/>
                <a:ea typeface="Calibri"/>
                <a:cs typeface="Calibri"/>
                <a:sym typeface="Calibri"/>
              </a:rPr>
              <a:t>SQ3  </a:t>
            </a:r>
            <a:r>
              <a:rPr b="0" i="0" lang="en-US" sz="1400" u="none" cap="none" strike="noStrike">
                <a:solidFill>
                  <a:srgbClr val="FFFFFF"/>
                </a:solidFill>
                <a:latin typeface="Calibri"/>
                <a:ea typeface="Calibri"/>
                <a:cs typeface="Calibri"/>
                <a:sym typeface="Calibri"/>
              </a:rPr>
              <a:t>Is the improvement robust across different capacity</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        assumptions (varying K)?</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3" name="Shape 63"/>
        <p:cNvGrpSpPr/>
        <p:nvPr/>
      </p:nvGrpSpPr>
      <p:grpSpPr>
        <a:xfrm>
          <a:off x="0" y="0"/>
          <a:ext cx="0" cy="0"/>
          <a:chOff x="0" y="0"/>
          <a:chExt cx="0" cy="0"/>
        </a:xfrm>
      </p:grpSpPr>
      <p:sp>
        <p:nvSpPr>
          <p:cNvPr id="64" name="Google Shape;64;p5"/>
          <p:cNvSpPr/>
          <p:nvPr/>
        </p:nvSpPr>
        <p:spPr>
          <a:xfrm>
            <a:off x="731520" y="274320"/>
            <a:ext cx="768096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2800"/>
              <a:buFont typeface="Calibri"/>
              <a:buNone/>
            </a:pPr>
            <a:r>
              <a:rPr b="1" i="0" lang="en-US" sz="2800" u="none" cap="none" strike="noStrike">
                <a:solidFill>
                  <a:srgbClr val="1E2761"/>
                </a:solidFill>
                <a:latin typeface="Calibri"/>
                <a:ea typeface="Calibri"/>
                <a:cs typeface="Calibri"/>
                <a:sym typeface="Calibri"/>
              </a:rPr>
              <a:t>Literature review</a:t>
            </a:r>
            <a:endParaRPr b="0" i="0" sz="2800" u="none" cap="none" strike="noStrike">
              <a:solidFill>
                <a:schemeClr val="dk1"/>
              </a:solidFill>
              <a:latin typeface="Calibri"/>
              <a:ea typeface="Calibri"/>
              <a:cs typeface="Calibri"/>
              <a:sym typeface="Calibri"/>
            </a:endParaRPr>
          </a:p>
        </p:txBody>
      </p:sp>
      <p:sp>
        <p:nvSpPr>
          <p:cNvPr id="65" name="Google Shape;65;p5"/>
          <p:cNvSpPr/>
          <p:nvPr/>
        </p:nvSpPr>
        <p:spPr>
          <a:xfrm>
            <a:off x="731520" y="731520"/>
            <a:ext cx="768096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1400"/>
              <a:buFont typeface="Calibri"/>
              <a:buNone/>
            </a:pPr>
            <a:r>
              <a:rPr b="0" i="1" lang="en-US" sz="1400" u="none" cap="none" strike="noStrike">
                <a:solidFill>
                  <a:srgbClr val="64748B"/>
                </a:solidFill>
                <a:latin typeface="Calibri"/>
                <a:ea typeface="Calibri"/>
                <a:cs typeface="Calibri"/>
                <a:sym typeface="Calibri"/>
              </a:rPr>
              <a:t>Four approaches to lead selection under capacity constraints</a:t>
            </a:r>
            <a:endParaRPr b="0" i="0" sz="1400" u="none" cap="none" strike="noStrike">
              <a:solidFill>
                <a:schemeClr val="dk1"/>
              </a:solidFill>
              <a:latin typeface="Calibri"/>
              <a:ea typeface="Calibri"/>
              <a:cs typeface="Calibri"/>
              <a:sym typeface="Calibri"/>
            </a:endParaRPr>
          </a:p>
        </p:txBody>
      </p:sp>
      <p:sp>
        <p:nvSpPr>
          <p:cNvPr id="66" name="Google Shape;66;p5"/>
          <p:cNvSpPr/>
          <p:nvPr/>
        </p:nvSpPr>
        <p:spPr>
          <a:xfrm>
            <a:off x="731520" y="1234440"/>
            <a:ext cx="384048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E2761"/>
              </a:buClr>
              <a:buSzPts val="1100"/>
              <a:buFont typeface="Calibri"/>
              <a:buNone/>
            </a:pPr>
            <a:r>
              <a:rPr b="1" i="0" lang="en-US" sz="1100" u="none" cap="none" strike="noStrike">
                <a:solidFill>
                  <a:srgbClr val="1E2761"/>
                </a:solidFill>
                <a:latin typeface="Calibri"/>
                <a:ea typeface="Calibri"/>
                <a:cs typeface="Calibri"/>
                <a:sym typeface="Calibri"/>
              </a:rPr>
              <a:t>Improving information</a:t>
            </a:r>
            <a:endParaRPr b="0" i="0" sz="1100" u="none" cap="none" strike="noStrike">
              <a:solidFill>
                <a:schemeClr val="dk1"/>
              </a:solidFill>
              <a:latin typeface="Calibri"/>
              <a:ea typeface="Calibri"/>
              <a:cs typeface="Calibri"/>
              <a:sym typeface="Calibri"/>
            </a:endParaRPr>
          </a:p>
        </p:txBody>
      </p:sp>
      <p:sp>
        <p:nvSpPr>
          <p:cNvPr id="67" name="Google Shape;67;p5"/>
          <p:cNvSpPr/>
          <p:nvPr/>
        </p:nvSpPr>
        <p:spPr>
          <a:xfrm>
            <a:off x="4572000" y="1234440"/>
            <a:ext cx="384048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8593C"/>
              </a:buClr>
              <a:buSzPts val="1100"/>
              <a:buFont typeface="Calibri"/>
              <a:buNone/>
            </a:pPr>
            <a:r>
              <a:rPr b="1" i="0" lang="en-US" sz="1100" u="none" cap="none" strike="noStrike">
                <a:solidFill>
                  <a:srgbClr val="E8593C"/>
                </a:solidFill>
                <a:latin typeface="Calibri"/>
                <a:ea typeface="Calibri"/>
                <a:cs typeface="Calibri"/>
                <a:sym typeface="Calibri"/>
              </a:rPr>
              <a:t>Improving decisions</a:t>
            </a:r>
            <a:endParaRPr b="0" i="0" sz="1100" u="none" cap="none" strike="noStrike">
              <a:solidFill>
                <a:schemeClr val="dk1"/>
              </a:solidFill>
              <a:latin typeface="Calibri"/>
              <a:ea typeface="Calibri"/>
              <a:cs typeface="Calibri"/>
              <a:sym typeface="Calibri"/>
            </a:endParaRPr>
          </a:p>
        </p:txBody>
      </p:sp>
      <p:sp>
        <p:nvSpPr>
          <p:cNvPr id="68" name="Google Shape;68;p5"/>
          <p:cNvSpPr/>
          <p:nvPr/>
        </p:nvSpPr>
        <p:spPr>
          <a:xfrm>
            <a:off x="731520" y="1600200"/>
            <a:ext cx="1737360" cy="2011680"/>
          </a:xfrm>
          <a:prstGeom prst="roundRect">
            <a:avLst>
              <a:gd fmla="val 6316" name="adj"/>
            </a:avLst>
          </a:prstGeom>
          <a:solidFill>
            <a:srgbClr val="E8EDF5"/>
          </a:solidFill>
          <a:ln>
            <a:noFill/>
          </a:ln>
          <a:effectLst>
            <a:outerShdw blurRad="76200" rotWithShape="0" algn="bl" dir="27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5"/>
          <p:cNvSpPr/>
          <p:nvPr/>
        </p:nvSpPr>
        <p:spPr>
          <a:xfrm>
            <a:off x="731520" y="1691640"/>
            <a:ext cx="173736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1B3D"/>
              </a:buClr>
              <a:buSzPts val="1300"/>
              <a:buFont typeface="Calibri"/>
              <a:buNone/>
            </a:pPr>
            <a:r>
              <a:rPr b="1" i="0" lang="en-US" sz="1300" u="none" cap="none" strike="noStrike">
                <a:solidFill>
                  <a:srgbClr val="0F1B3D"/>
                </a:solidFill>
                <a:latin typeface="Calibri"/>
                <a:ea typeface="Calibri"/>
                <a:cs typeface="Calibri"/>
                <a:sym typeface="Calibri"/>
              </a:rPr>
              <a:t>Predictive</a:t>
            </a:r>
            <a:endParaRPr b="0" i="0" sz="13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F1B3D"/>
              </a:buClr>
              <a:buSzPts val="1300"/>
              <a:buFont typeface="Calibri"/>
              <a:buNone/>
            </a:pPr>
            <a:r>
              <a:rPr b="1" i="0" lang="en-US" sz="1300" u="none" cap="none" strike="noStrike">
                <a:solidFill>
                  <a:srgbClr val="0F1B3D"/>
                </a:solidFill>
                <a:latin typeface="Calibri"/>
                <a:ea typeface="Calibri"/>
                <a:cs typeface="Calibri"/>
                <a:sym typeface="Calibri"/>
              </a:rPr>
              <a:t>scoring</a:t>
            </a:r>
            <a:endParaRPr b="0" i="0" sz="1300" u="none" cap="none" strike="noStrike">
              <a:solidFill>
                <a:schemeClr val="dk1"/>
              </a:solidFill>
              <a:latin typeface="Calibri"/>
              <a:ea typeface="Calibri"/>
              <a:cs typeface="Calibri"/>
              <a:sym typeface="Calibri"/>
            </a:endParaRPr>
          </a:p>
        </p:txBody>
      </p:sp>
      <p:sp>
        <p:nvSpPr>
          <p:cNvPr id="70" name="Google Shape;70;p5"/>
          <p:cNvSpPr/>
          <p:nvPr/>
        </p:nvSpPr>
        <p:spPr>
          <a:xfrm>
            <a:off x="731520" y="2377440"/>
            <a:ext cx="1737360" cy="91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100"/>
              <a:buFont typeface="Calibri"/>
              <a:buNone/>
            </a:pPr>
            <a:r>
              <a:rPr b="0" i="0" lang="en-US" sz="1100" u="none" cap="none" strike="noStrike">
                <a:solidFill>
                  <a:srgbClr val="64748B"/>
                </a:solidFill>
                <a:latin typeface="Calibri"/>
                <a:ea typeface="Calibri"/>
                <a:cs typeface="Calibri"/>
                <a:sym typeface="Calibri"/>
              </a:rPr>
              <a:t>ML models rank</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64748B"/>
              </a:buClr>
              <a:buSzPts val="1100"/>
              <a:buFont typeface="Calibri"/>
              <a:buNone/>
            </a:pPr>
            <a:r>
              <a:rPr b="0" i="0" lang="en-US" sz="1100" u="none" cap="none" strike="noStrike">
                <a:solidFill>
                  <a:srgbClr val="64748B"/>
                </a:solidFill>
                <a:latin typeface="Calibri"/>
                <a:ea typeface="Calibri"/>
                <a:cs typeface="Calibri"/>
                <a:sym typeface="Calibri"/>
              </a:rPr>
              <a:t>by conversion</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64748B"/>
              </a:buClr>
              <a:buSzPts val="1100"/>
              <a:buFont typeface="Calibri"/>
              <a:buNone/>
            </a:pPr>
            <a:r>
              <a:rPr b="0" i="0" lang="en-US" sz="1100" u="none" cap="none" strike="noStrike">
                <a:solidFill>
                  <a:srgbClr val="64748B"/>
                </a:solidFill>
                <a:latin typeface="Calibri"/>
                <a:ea typeface="Calibri"/>
                <a:cs typeface="Calibri"/>
                <a:sym typeface="Calibri"/>
              </a:rPr>
              <a:t>probability</a:t>
            </a:r>
            <a:endParaRPr b="0" i="0" sz="1100" u="none" cap="none" strike="noStrike">
              <a:solidFill>
                <a:schemeClr val="dk1"/>
              </a:solidFill>
              <a:latin typeface="Calibri"/>
              <a:ea typeface="Calibri"/>
              <a:cs typeface="Calibri"/>
              <a:sym typeface="Calibri"/>
            </a:endParaRPr>
          </a:p>
        </p:txBody>
      </p:sp>
      <p:sp>
        <p:nvSpPr>
          <p:cNvPr id="71" name="Google Shape;71;p5"/>
          <p:cNvSpPr/>
          <p:nvPr/>
        </p:nvSpPr>
        <p:spPr>
          <a:xfrm>
            <a:off x="2743200" y="1600200"/>
            <a:ext cx="1737360" cy="2011680"/>
          </a:xfrm>
          <a:prstGeom prst="roundRect">
            <a:avLst>
              <a:gd fmla="val 6316" name="adj"/>
            </a:avLst>
          </a:prstGeom>
          <a:solidFill>
            <a:srgbClr val="E8EDF5"/>
          </a:solidFill>
          <a:ln>
            <a:noFill/>
          </a:ln>
          <a:effectLst>
            <a:outerShdw blurRad="76200" rotWithShape="0" algn="bl" dir="27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5"/>
          <p:cNvSpPr/>
          <p:nvPr/>
        </p:nvSpPr>
        <p:spPr>
          <a:xfrm>
            <a:off x="2743200" y="1691640"/>
            <a:ext cx="173736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1B3D"/>
              </a:buClr>
              <a:buSzPts val="1300"/>
              <a:buFont typeface="Calibri"/>
              <a:buNone/>
            </a:pPr>
            <a:r>
              <a:rPr b="1" i="0" lang="en-US" sz="1300" u="none" cap="none" strike="noStrike">
                <a:solidFill>
                  <a:srgbClr val="0F1B3D"/>
                </a:solidFill>
                <a:latin typeface="Calibri"/>
                <a:ea typeface="Calibri"/>
                <a:cs typeface="Calibri"/>
                <a:sym typeface="Calibri"/>
              </a:rPr>
              <a:t>Predict-then-</a:t>
            </a:r>
            <a:endParaRPr b="0" i="0" sz="13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F1B3D"/>
              </a:buClr>
              <a:buSzPts val="1300"/>
              <a:buFont typeface="Calibri"/>
              <a:buNone/>
            </a:pPr>
            <a:r>
              <a:rPr b="1" i="0" lang="en-US" sz="1300" u="none" cap="none" strike="noStrike">
                <a:solidFill>
                  <a:srgbClr val="0F1B3D"/>
                </a:solidFill>
                <a:latin typeface="Calibri"/>
                <a:ea typeface="Calibri"/>
                <a:cs typeface="Calibri"/>
                <a:sym typeface="Calibri"/>
              </a:rPr>
              <a:t>optimise</a:t>
            </a:r>
            <a:endParaRPr b="0" i="0" sz="1300" u="none" cap="none" strike="noStrike">
              <a:solidFill>
                <a:schemeClr val="dk1"/>
              </a:solidFill>
              <a:latin typeface="Calibri"/>
              <a:ea typeface="Calibri"/>
              <a:cs typeface="Calibri"/>
              <a:sym typeface="Calibri"/>
            </a:endParaRPr>
          </a:p>
        </p:txBody>
      </p:sp>
      <p:sp>
        <p:nvSpPr>
          <p:cNvPr id="73" name="Google Shape;73;p5"/>
          <p:cNvSpPr/>
          <p:nvPr/>
        </p:nvSpPr>
        <p:spPr>
          <a:xfrm>
            <a:off x="2743200" y="2377440"/>
            <a:ext cx="1737360" cy="91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100"/>
              <a:buFont typeface="Calibri"/>
              <a:buNone/>
            </a:pPr>
            <a:r>
              <a:rPr b="0" i="0" lang="en-US" sz="1100" u="none" cap="none" strike="noStrike">
                <a:solidFill>
                  <a:srgbClr val="64748B"/>
                </a:solidFill>
                <a:latin typeface="Calibri"/>
                <a:ea typeface="Calibri"/>
                <a:cs typeface="Calibri"/>
                <a:sym typeface="Calibri"/>
              </a:rPr>
              <a:t>Optimisation</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64748B"/>
              </a:buClr>
              <a:buSzPts val="1100"/>
              <a:buFont typeface="Calibri"/>
              <a:buNone/>
            </a:pPr>
            <a:r>
              <a:rPr b="0" i="0" lang="en-US" sz="1100" u="none" cap="none" strike="noStrike">
                <a:solidFill>
                  <a:srgbClr val="64748B"/>
                </a:solidFill>
                <a:latin typeface="Calibri"/>
                <a:ea typeface="Calibri"/>
                <a:cs typeface="Calibri"/>
                <a:sym typeface="Calibri"/>
              </a:rPr>
              <a:t>over predictions</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64748B"/>
              </a:buClr>
              <a:buSzPts val="1100"/>
              <a:buFont typeface="Calibri"/>
              <a:buNone/>
            </a:pPr>
            <a:r>
              <a:rPr b="0" i="0" lang="en-US" sz="1100" u="none" cap="none" strike="noStrike">
                <a:solidFill>
                  <a:srgbClr val="64748B"/>
                </a:solidFill>
                <a:latin typeface="Calibri"/>
                <a:ea typeface="Calibri"/>
                <a:cs typeface="Calibri"/>
                <a:sym typeface="Calibri"/>
              </a:rPr>
              <a:t>under constraints</a:t>
            </a:r>
            <a:endParaRPr b="0" i="0" sz="1100" u="none" cap="none" strike="noStrike">
              <a:solidFill>
                <a:schemeClr val="dk1"/>
              </a:solidFill>
              <a:latin typeface="Calibri"/>
              <a:ea typeface="Calibri"/>
              <a:cs typeface="Calibri"/>
              <a:sym typeface="Calibri"/>
            </a:endParaRPr>
          </a:p>
        </p:txBody>
      </p:sp>
      <p:sp>
        <p:nvSpPr>
          <p:cNvPr id="74" name="Google Shape;74;p5"/>
          <p:cNvSpPr/>
          <p:nvPr/>
        </p:nvSpPr>
        <p:spPr>
          <a:xfrm>
            <a:off x="4754880" y="1600200"/>
            <a:ext cx="1737360" cy="2011680"/>
          </a:xfrm>
          <a:prstGeom prst="roundRect">
            <a:avLst>
              <a:gd fmla="val 6316" name="adj"/>
            </a:avLst>
          </a:prstGeom>
          <a:solidFill>
            <a:srgbClr val="FFF0EB"/>
          </a:solidFill>
          <a:ln>
            <a:noFill/>
          </a:ln>
          <a:effectLst>
            <a:outerShdw blurRad="76200" rotWithShape="0" algn="bl" dir="27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5"/>
          <p:cNvSpPr/>
          <p:nvPr/>
        </p:nvSpPr>
        <p:spPr>
          <a:xfrm>
            <a:off x="4754880" y="1691640"/>
            <a:ext cx="173736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1B3D"/>
              </a:buClr>
              <a:buSzPts val="1300"/>
              <a:buFont typeface="Calibri"/>
              <a:buNone/>
            </a:pPr>
            <a:r>
              <a:rPr b="1" i="0" lang="en-US" sz="1300" u="none" cap="none" strike="noStrike">
                <a:solidFill>
                  <a:srgbClr val="0F1B3D"/>
                </a:solidFill>
                <a:latin typeface="Calibri"/>
                <a:ea typeface="Calibri"/>
                <a:cs typeface="Calibri"/>
                <a:sym typeface="Calibri"/>
              </a:rPr>
              <a:t>Hard</a:t>
            </a:r>
            <a:endParaRPr b="0" i="0" sz="13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F1B3D"/>
              </a:buClr>
              <a:buSzPts val="1300"/>
              <a:buFont typeface="Calibri"/>
              <a:buNone/>
            </a:pPr>
            <a:r>
              <a:rPr b="1" i="0" lang="en-US" sz="1300" u="none" cap="none" strike="noStrike">
                <a:solidFill>
                  <a:srgbClr val="0F1B3D"/>
                </a:solidFill>
                <a:latin typeface="Calibri"/>
                <a:ea typeface="Calibri"/>
                <a:cs typeface="Calibri"/>
                <a:sym typeface="Calibri"/>
              </a:rPr>
              <a:t>constraints</a:t>
            </a:r>
            <a:endParaRPr b="0" i="0" sz="1300" u="none" cap="none" strike="noStrike">
              <a:solidFill>
                <a:schemeClr val="dk1"/>
              </a:solidFill>
              <a:latin typeface="Calibri"/>
              <a:ea typeface="Calibri"/>
              <a:cs typeface="Calibri"/>
              <a:sym typeface="Calibri"/>
            </a:endParaRPr>
          </a:p>
        </p:txBody>
      </p:sp>
      <p:sp>
        <p:nvSpPr>
          <p:cNvPr id="76" name="Google Shape;76;p5"/>
          <p:cNvSpPr/>
          <p:nvPr/>
        </p:nvSpPr>
        <p:spPr>
          <a:xfrm>
            <a:off x="4754880" y="2377440"/>
            <a:ext cx="1737360" cy="91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100"/>
              <a:buFont typeface="Calibri"/>
              <a:buNone/>
            </a:pPr>
            <a:r>
              <a:rPr b="0" i="0" lang="en-US" sz="1100" u="none" cap="none" strike="noStrike">
                <a:solidFill>
                  <a:srgbClr val="64748B"/>
                </a:solidFill>
                <a:latin typeface="Calibri"/>
                <a:ea typeface="Calibri"/>
                <a:cs typeface="Calibri"/>
                <a:sym typeface="Calibri"/>
              </a:rPr>
              <a:t>Remove leads</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64748B"/>
              </a:buClr>
              <a:buSzPts val="1100"/>
              <a:buFont typeface="Calibri"/>
              <a:buNone/>
            </a:pPr>
            <a:r>
              <a:rPr b="0" i="0" lang="en-US" sz="1100" u="none" cap="none" strike="noStrike">
                <a:solidFill>
                  <a:srgbClr val="64748B"/>
                </a:solidFill>
                <a:latin typeface="Calibri"/>
                <a:ea typeface="Calibri"/>
                <a:cs typeface="Calibri"/>
                <a:sym typeface="Calibri"/>
              </a:rPr>
              <a:t>that cannot be</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64748B"/>
              </a:buClr>
              <a:buSzPts val="1100"/>
              <a:buFont typeface="Calibri"/>
              <a:buNone/>
            </a:pPr>
            <a:r>
              <a:rPr b="0" i="0" lang="en-US" sz="1100" u="none" cap="none" strike="noStrike">
                <a:solidFill>
                  <a:srgbClr val="64748B"/>
                </a:solidFill>
                <a:latin typeface="Calibri"/>
                <a:ea typeface="Calibri"/>
                <a:cs typeface="Calibri"/>
                <a:sym typeface="Calibri"/>
              </a:rPr>
              <a:t>pursued</a:t>
            </a:r>
            <a:endParaRPr b="0" i="0" sz="1100" u="none" cap="none" strike="noStrike">
              <a:solidFill>
                <a:schemeClr val="dk1"/>
              </a:solidFill>
              <a:latin typeface="Calibri"/>
              <a:ea typeface="Calibri"/>
              <a:cs typeface="Calibri"/>
              <a:sym typeface="Calibri"/>
            </a:endParaRPr>
          </a:p>
        </p:txBody>
      </p:sp>
      <p:sp>
        <p:nvSpPr>
          <p:cNvPr id="77" name="Google Shape;77;p5"/>
          <p:cNvSpPr/>
          <p:nvPr/>
        </p:nvSpPr>
        <p:spPr>
          <a:xfrm>
            <a:off x="6766560" y="1600200"/>
            <a:ext cx="1737360" cy="2011680"/>
          </a:xfrm>
          <a:prstGeom prst="roundRect">
            <a:avLst>
              <a:gd fmla="val 6316" name="adj"/>
            </a:avLst>
          </a:prstGeom>
          <a:solidFill>
            <a:srgbClr val="FFF0EB"/>
          </a:solidFill>
          <a:ln>
            <a:noFill/>
          </a:ln>
          <a:effectLst>
            <a:outerShdw blurRad="76200" rotWithShape="0" algn="bl" dir="27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5"/>
          <p:cNvSpPr/>
          <p:nvPr/>
        </p:nvSpPr>
        <p:spPr>
          <a:xfrm>
            <a:off x="6766560" y="1691640"/>
            <a:ext cx="173736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1B3D"/>
              </a:buClr>
              <a:buSzPts val="1300"/>
              <a:buFont typeface="Calibri"/>
              <a:buNone/>
            </a:pPr>
            <a:r>
              <a:rPr b="1" i="0" lang="en-US" sz="1300" u="none" cap="none" strike="noStrike">
                <a:solidFill>
                  <a:srgbClr val="0F1B3D"/>
                </a:solidFill>
                <a:latin typeface="Calibri"/>
                <a:ea typeface="Calibri"/>
                <a:cs typeface="Calibri"/>
                <a:sym typeface="Calibri"/>
              </a:rPr>
              <a:t>Soft</a:t>
            </a:r>
            <a:endParaRPr b="0" i="0" sz="13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F1B3D"/>
              </a:buClr>
              <a:buSzPts val="1300"/>
              <a:buFont typeface="Calibri"/>
              <a:buNone/>
            </a:pPr>
            <a:r>
              <a:rPr b="1" i="0" lang="en-US" sz="1300" u="none" cap="none" strike="noStrike">
                <a:solidFill>
                  <a:srgbClr val="0F1B3D"/>
                </a:solidFill>
                <a:latin typeface="Calibri"/>
                <a:ea typeface="Calibri"/>
                <a:cs typeface="Calibri"/>
                <a:sym typeface="Calibri"/>
              </a:rPr>
              <a:t>prioritisation</a:t>
            </a:r>
            <a:endParaRPr b="0" i="0" sz="1300" u="none" cap="none" strike="noStrike">
              <a:solidFill>
                <a:schemeClr val="dk1"/>
              </a:solidFill>
              <a:latin typeface="Calibri"/>
              <a:ea typeface="Calibri"/>
              <a:cs typeface="Calibri"/>
              <a:sym typeface="Calibri"/>
            </a:endParaRPr>
          </a:p>
        </p:txBody>
      </p:sp>
      <p:sp>
        <p:nvSpPr>
          <p:cNvPr id="79" name="Google Shape;79;p5"/>
          <p:cNvSpPr/>
          <p:nvPr/>
        </p:nvSpPr>
        <p:spPr>
          <a:xfrm>
            <a:off x="6766560" y="2377440"/>
            <a:ext cx="1737360" cy="91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100"/>
              <a:buFont typeface="Calibri"/>
              <a:buNone/>
            </a:pPr>
            <a:r>
              <a:rPr b="0" i="0" lang="en-US" sz="1100" u="none" cap="none" strike="noStrike">
                <a:solidFill>
                  <a:srgbClr val="64748B"/>
                </a:solidFill>
                <a:latin typeface="Calibri"/>
                <a:ea typeface="Calibri"/>
                <a:cs typeface="Calibri"/>
                <a:sym typeface="Calibri"/>
              </a:rPr>
              <a:t>Re-rank by</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64748B"/>
              </a:buClr>
              <a:buSzPts val="1100"/>
              <a:buFont typeface="Calibri"/>
              <a:buNone/>
            </a:pPr>
            <a:r>
              <a:rPr b="0" i="0" lang="en-US" sz="1100" u="none" cap="none" strike="noStrike">
                <a:solidFill>
                  <a:srgbClr val="64748B"/>
                </a:solidFill>
                <a:latin typeface="Calibri"/>
                <a:ea typeface="Calibri"/>
                <a:cs typeface="Calibri"/>
                <a:sym typeface="Calibri"/>
              </a:rPr>
              <a:t>qualification</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64748B"/>
              </a:buClr>
              <a:buSzPts val="1100"/>
              <a:buFont typeface="Calibri"/>
              <a:buNone/>
            </a:pPr>
            <a:r>
              <a:rPr b="0" i="0" lang="en-US" sz="1100" u="none" cap="none" strike="noStrike">
                <a:solidFill>
                  <a:srgbClr val="64748B"/>
                </a:solidFill>
                <a:latin typeface="Calibri"/>
                <a:ea typeface="Calibri"/>
                <a:cs typeface="Calibri"/>
                <a:sym typeface="Calibri"/>
              </a:rPr>
              <a:t>policies</a:t>
            </a:r>
            <a:endParaRPr b="0" i="0" sz="1100" u="none" cap="none" strike="noStrike">
              <a:solidFill>
                <a:schemeClr val="dk1"/>
              </a:solidFill>
              <a:latin typeface="Calibri"/>
              <a:ea typeface="Calibri"/>
              <a:cs typeface="Calibri"/>
              <a:sym typeface="Calibri"/>
            </a:endParaRPr>
          </a:p>
        </p:txBody>
      </p:sp>
      <p:sp>
        <p:nvSpPr>
          <p:cNvPr id="80" name="Google Shape;80;p5"/>
          <p:cNvSpPr/>
          <p:nvPr/>
        </p:nvSpPr>
        <p:spPr>
          <a:xfrm>
            <a:off x="731520" y="3840480"/>
            <a:ext cx="7680960" cy="822960"/>
          </a:xfrm>
          <a:prstGeom prst="roundRect">
            <a:avLst>
              <a:gd fmla="val 11111" name="adj"/>
            </a:avLst>
          </a:prstGeom>
          <a:solidFill>
            <a:srgbClr val="FFF8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5"/>
          <p:cNvSpPr/>
          <p:nvPr/>
        </p:nvSpPr>
        <p:spPr>
          <a:xfrm>
            <a:off x="914400" y="3931920"/>
            <a:ext cx="731520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1B3D"/>
              </a:buClr>
              <a:buSzPts val="1300"/>
              <a:buFont typeface="Calibri"/>
              <a:buNone/>
            </a:pPr>
            <a:r>
              <a:rPr b="1" i="0" lang="en-US" sz="1300" u="none" cap="none" strike="noStrike">
                <a:solidFill>
                  <a:srgbClr val="0F1B3D"/>
                </a:solidFill>
                <a:latin typeface="Calibri"/>
                <a:ea typeface="Calibri"/>
                <a:cs typeface="Calibri"/>
                <a:sym typeface="Calibri"/>
              </a:rPr>
              <a:t>Literature studies prediction, optimisation, constraints, and prioritisation separately.</a:t>
            </a:r>
            <a:endParaRPr b="0" i="0" sz="13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F1B3D"/>
              </a:buClr>
              <a:buSzPts val="1300"/>
              <a:buFont typeface="Calibri"/>
              <a:buNone/>
            </a:pPr>
            <a:r>
              <a:rPr b="1" i="0" lang="en-US" sz="1300" u="none" cap="none" strike="noStrike">
                <a:solidFill>
                  <a:srgbClr val="0F1B3D"/>
                </a:solidFill>
                <a:latin typeface="Calibri"/>
                <a:ea typeface="Calibri"/>
                <a:cs typeface="Calibri"/>
                <a:sym typeface="Calibri"/>
              </a:rPr>
              <a:t>This dissertation tests them together.</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6" name="Shape 86"/>
        <p:cNvGrpSpPr/>
        <p:nvPr/>
      </p:nvGrpSpPr>
      <p:grpSpPr>
        <a:xfrm>
          <a:off x="0" y="0"/>
          <a:ext cx="0" cy="0"/>
          <a:chOff x="0" y="0"/>
          <a:chExt cx="0" cy="0"/>
        </a:xfrm>
      </p:grpSpPr>
      <p:pic>
        <p:nvPicPr>
          <p:cNvPr descr="preencoded.png" id="87" name="Google Shape;87;p6"/>
          <p:cNvPicPr preferRelativeResize="0"/>
          <p:nvPr/>
        </p:nvPicPr>
        <p:blipFill rotWithShape="1">
          <a:blip r:embed="rId3">
            <a:alphaModFix/>
          </a:blip>
          <a:srcRect b="0" l="0" r="0" t="0"/>
          <a:stretch/>
        </p:blipFill>
        <p:spPr>
          <a:xfrm>
            <a:off x="731520" y="320040"/>
            <a:ext cx="365760" cy="365760"/>
          </a:xfrm>
          <a:prstGeom prst="rect">
            <a:avLst/>
          </a:prstGeom>
          <a:noFill/>
          <a:ln>
            <a:noFill/>
          </a:ln>
        </p:spPr>
      </p:pic>
      <p:sp>
        <p:nvSpPr>
          <p:cNvPr id="88" name="Google Shape;88;p6"/>
          <p:cNvSpPr/>
          <p:nvPr/>
        </p:nvSpPr>
        <p:spPr>
          <a:xfrm>
            <a:off x="1234440" y="274320"/>
            <a:ext cx="64008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2800"/>
              <a:buFont typeface="Calibri"/>
              <a:buNone/>
            </a:pPr>
            <a:r>
              <a:rPr b="1" i="0" lang="en-US" sz="2800" u="none" cap="none" strike="noStrike">
                <a:solidFill>
                  <a:srgbClr val="1E2761"/>
                </a:solidFill>
                <a:latin typeface="Calibri"/>
                <a:ea typeface="Calibri"/>
                <a:cs typeface="Calibri"/>
                <a:sym typeface="Calibri"/>
              </a:rPr>
              <a:t>Methodology: three systems</a:t>
            </a:r>
            <a:endParaRPr b="0" i="0" sz="2800" u="none" cap="none" strike="noStrike">
              <a:solidFill>
                <a:schemeClr val="dk1"/>
              </a:solidFill>
              <a:latin typeface="Calibri"/>
              <a:ea typeface="Calibri"/>
              <a:cs typeface="Calibri"/>
              <a:sym typeface="Calibri"/>
            </a:endParaRPr>
          </a:p>
        </p:txBody>
      </p:sp>
      <p:sp>
        <p:nvSpPr>
          <p:cNvPr id="89" name="Google Shape;89;p6"/>
          <p:cNvSpPr/>
          <p:nvPr/>
        </p:nvSpPr>
        <p:spPr>
          <a:xfrm>
            <a:off x="731520" y="777240"/>
            <a:ext cx="768096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1300"/>
              <a:buFont typeface="Calibri"/>
              <a:buNone/>
            </a:pPr>
            <a:r>
              <a:rPr b="0" i="1" lang="en-US" sz="1300" u="none" cap="none" strike="noStrike">
                <a:solidFill>
                  <a:srgbClr val="64748B"/>
                </a:solidFill>
                <a:latin typeface="Calibri"/>
                <a:ea typeface="Calibri"/>
                <a:cs typeface="Calibri"/>
                <a:sym typeface="Calibri"/>
              </a:rPr>
              <a:t>Same ML score, same H1 filter, same K</a:t>
            </a:r>
            <a:r>
              <a:rPr i="1" lang="en-US" sz="1300">
                <a:solidFill>
                  <a:srgbClr val="64748B"/>
                </a:solidFill>
                <a:latin typeface="Calibri"/>
                <a:ea typeface="Calibri"/>
                <a:cs typeface="Calibri"/>
                <a:sym typeface="Calibri"/>
              </a:rPr>
              <a:t>.</a:t>
            </a:r>
            <a:r>
              <a:rPr b="0" i="1" lang="en-US" sz="1300" u="none" cap="none" strike="noStrike">
                <a:solidFill>
                  <a:srgbClr val="64748B"/>
                </a:solidFill>
                <a:latin typeface="Calibri"/>
                <a:ea typeface="Calibri"/>
                <a:cs typeface="Calibri"/>
                <a:sym typeface="Calibri"/>
              </a:rPr>
              <a:t> </a:t>
            </a:r>
            <a:r>
              <a:rPr i="1" lang="en-US" sz="1300">
                <a:solidFill>
                  <a:srgbClr val="64748B"/>
                </a:solidFill>
                <a:latin typeface="Calibri"/>
                <a:ea typeface="Calibri"/>
                <a:cs typeface="Calibri"/>
                <a:sym typeface="Calibri"/>
              </a:rPr>
              <a:t>O</a:t>
            </a:r>
            <a:r>
              <a:rPr b="0" i="1" lang="en-US" sz="1300" u="none" cap="none" strike="noStrike">
                <a:solidFill>
                  <a:srgbClr val="64748B"/>
                </a:solidFill>
                <a:latin typeface="Calibri"/>
                <a:ea typeface="Calibri"/>
                <a:cs typeface="Calibri"/>
                <a:sym typeface="Calibri"/>
              </a:rPr>
              <a:t>nly the qualification policy differs</a:t>
            </a:r>
            <a:endParaRPr b="0" i="0" sz="1300" u="none" cap="none" strike="noStrike">
              <a:solidFill>
                <a:schemeClr val="dk1"/>
              </a:solidFill>
              <a:latin typeface="Calibri"/>
              <a:ea typeface="Calibri"/>
              <a:cs typeface="Calibri"/>
              <a:sym typeface="Calibri"/>
            </a:endParaRPr>
          </a:p>
        </p:txBody>
      </p:sp>
      <p:sp>
        <p:nvSpPr>
          <p:cNvPr id="90" name="Google Shape;90;p6"/>
          <p:cNvSpPr/>
          <p:nvPr/>
        </p:nvSpPr>
        <p:spPr>
          <a:xfrm>
            <a:off x="731520" y="1280160"/>
            <a:ext cx="2468880" cy="2377440"/>
          </a:xfrm>
          <a:prstGeom prst="roundRect">
            <a:avLst>
              <a:gd fmla="val 4615" name="adj"/>
            </a:avLst>
          </a:prstGeom>
          <a:solidFill>
            <a:srgbClr val="E8EDF5"/>
          </a:solidFill>
          <a:ln>
            <a:noFill/>
          </a:ln>
          <a:effectLst>
            <a:outerShdw blurRad="76200" rotWithShape="0" algn="bl" dir="27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6"/>
          <p:cNvSpPr/>
          <p:nvPr/>
        </p:nvSpPr>
        <p:spPr>
          <a:xfrm>
            <a:off x="731520" y="1371600"/>
            <a:ext cx="24688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800"/>
              <a:buFont typeface="Calibri"/>
              <a:buNone/>
            </a:pPr>
            <a:r>
              <a:rPr b="1" i="0" lang="en-US" sz="1800" u="none" cap="none" strike="noStrike">
                <a:solidFill>
                  <a:srgbClr val="1E2761"/>
                </a:solidFill>
                <a:latin typeface="Calibri"/>
                <a:ea typeface="Calibri"/>
                <a:cs typeface="Calibri"/>
                <a:sym typeface="Calibri"/>
              </a:rPr>
              <a:t>System 1</a:t>
            </a:r>
            <a:endParaRPr b="0" i="0" sz="1800" u="none" cap="none" strike="noStrike">
              <a:solidFill>
                <a:schemeClr val="dk1"/>
              </a:solidFill>
              <a:latin typeface="Calibri"/>
              <a:ea typeface="Calibri"/>
              <a:cs typeface="Calibri"/>
              <a:sym typeface="Calibri"/>
            </a:endParaRPr>
          </a:p>
        </p:txBody>
      </p:sp>
      <p:sp>
        <p:nvSpPr>
          <p:cNvPr id="92" name="Google Shape;92;p6"/>
          <p:cNvSpPr/>
          <p:nvPr/>
        </p:nvSpPr>
        <p:spPr>
          <a:xfrm>
            <a:off x="731520" y="1737360"/>
            <a:ext cx="246888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200"/>
              <a:buFont typeface="Calibri"/>
              <a:buNone/>
            </a:pPr>
            <a:r>
              <a:rPr b="0" i="1" lang="en-US" sz="1200" u="none" cap="none" strike="noStrike">
                <a:solidFill>
                  <a:srgbClr val="64748B"/>
                </a:solidFill>
                <a:latin typeface="Calibri"/>
                <a:ea typeface="Calibri"/>
                <a:cs typeface="Calibri"/>
                <a:sym typeface="Calibri"/>
              </a:rPr>
              <a:t>ML baseline</a:t>
            </a:r>
            <a:endParaRPr b="0" i="0" sz="1200" u="none" cap="none" strike="noStrike">
              <a:solidFill>
                <a:schemeClr val="dk1"/>
              </a:solidFill>
              <a:latin typeface="Calibri"/>
              <a:ea typeface="Calibri"/>
              <a:cs typeface="Calibri"/>
              <a:sym typeface="Calibri"/>
            </a:endParaRPr>
          </a:p>
        </p:txBody>
      </p:sp>
      <p:sp>
        <p:nvSpPr>
          <p:cNvPr id="93" name="Google Shape;93;p6"/>
          <p:cNvSpPr/>
          <p:nvPr/>
        </p:nvSpPr>
        <p:spPr>
          <a:xfrm>
            <a:off x="914400" y="2194560"/>
            <a:ext cx="2103120" cy="12801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F1B3D"/>
              </a:buClr>
              <a:buSzPts val="1200"/>
              <a:buFont typeface="Calibri"/>
              <a:buNone/>
            </a:pPr>
            <a:r>
              <a:rPr lang="en-US" sz="1200">
                <a:solidFill>
                  <a:srgbClr val="0F1B3D"/>
                </a:solidFill>
                <a:latin typeface="Calibri"/>
                <a:ea typeface="Calibri"/>
                <a:cs typeface="Calibri"/>
                <a:sym typeface="Calibri"/>
              </a:rPr>
              <a:t>X-Education dataset.</a:t>
            </a:r>
            <a:endParaRPr sz="1200">
              <a:solidFill>
                <a:srgbClr val="0F1B3D"/>
              </a:solidFill>
              <a:latin typeface="Calibri"/>
              <a:ea typeface="Calibri"/>
              <a:cs typeface="Calibri"/>
              <a:sym typeface="Calibri"/>
            </a:endParaRPr>
          </a:p>
          <a:p>
            <a:pPr indent="0" lvl="0" marL="0" marR="0" rtl="0" algn="l">
              <a:spcBef>
                <a:spcPts val="0"/>
              </a:spcBef>
              <a:spcAft>
                <a:spcPts val="0"/>
              </a:spcAft>
              <a:buClr>
                <a:srgbClr val="0F1B3D"/>
              </a:buClr>
              <a:buSzPts val="1200"/>
              <a:buFont typeface="Calibri"/>
              <a:buNone/>
            </a:pPr>
            <a:r>
              <a:rPr b="0" i="0" lang="en-US" sz="1200" u="none" cap="none" strike="noStrike">
                <a:solidFill>
                  <a:srgbClr val="0F1B3D"/>
                </a:solidFill>
                <a:latin typeface="Calibri"/>
                <a:ea typeface="Calibri"/>
                <a:cs typeface="Calibri"/>
                <a:sym typeface="Calibri"/>
              </a:rPr>
              <a:t>XGBoost score only.</a:t>
            </a:r>
            <a:endParaRPr sz="1200">
              <a:solidFill>
                <a:srgbClr val="0F1B3D"/>
              </a:solidFill>
              <a:latin typeface="Calibri"/>
              <a:ea typeface="Calibri"/>
              <a:cs typeface="Calibri"/>
              <a:sym typeface="Calibri"/>
            </a:endParaRPr>
          </a:p>
          <a:p>
            <a:pPr indent="0" lvl="0" marL="0" marR="0" rtl="0" algn="l">
              <a:spcBef>
                <a:spcPts val="0"/>
              </a:spcBef>
              <a:spcAft>
                <a:spcPts val="0"/>
              </a:spcAft>
              <a:buClr>
                <a:srgbClr val="0F1B3D"/>
              </a:buClr>
              <a:buSzPts val="1200"/>
              <a:buFont typeface="Calibri"/>
              <a:buNone/>
            </a:pPr>
            <a:r>
              <a:rPr b="0" i="0" lang="en-US" sz="1200" u="none" cap="none" strike="noStrike">
                <a:solidFill>
                  <a:srgbClr val="0F1B3D"/>
                </a:solidFill>
                <a:latin typeface="Calibri"/>
                <a:ea typeface="Calibri"/>
                <a:cs typeface="Calibri"/>
                <a:sym typeface="Calibri"/>
              </a:rPr>
              <a:t>No qualification policy.</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F1B3D"/>
              </a:buClr>
              <a:buSzPts val="1200"/>
              <a:buFont typeface="Calibri"/>
              <a:buNone/>
            </a:pPr>
            <a:r>
              <a:rPr b="0" i="0" lang="en-US" sz="1200" u="none" cap="none" strike="noStrike">
                <a:solidFill>
                  <a:srgbClr val="0F1B3D"/>
                </a:solidFill>
                <a:latin typeface="Calibri"/>
                <a:ea typeface="Calibri"/>
                <a:cs typeface="Calibri"/>
                <a:sym typeface="Calibri"/>
              </a:rPr>
              <a:t>Top K selected by score.</a:t>
            </a:r>
            <a:endParaRPr b="0" i="0" sz="1200" u="none" cap="none" strike="noStrike">
              <a:solidFill>
                <a:schemeClr val="dk1"/>
              </a:solidFill>
              <a:latin typeface="Calibri"/>
              <a:ea typeface="Calibri"/>
              <a:cs typeface="Calibri"/>
              <a:sym typeface="Calibri"/>
            </a:endParaRPr>
          </a:p>
        </p:txBody>
      </p:sp>
      <p:sp>
        <p:nvSpPr>
          <p:cNvPr id="94" name="Google Shape;94;p6"/>
          <p:cNvSpPr/>
          <p:nvPr/>
        </p:nvSpPr>
        <p:spPr>
          <a:xfrm>
            <a:off x="3566160" y="1280160"/>
            <a:ext cx="2468880" cy="2377440"/>
          </a:xfrm>
          <a:prstGeom prst="roundRect">
            <a:avLst>
              <a:gd fmla="val 4615" name="adj"/>
            </a:avLst>
          </a:prstGeom>
          <a:solidFill>
            <a:srgbClr val="FFF0EB"/>
          </a:solidFill>
          <a:ln>
            <a:noFill/>
          </a:ln>
          <a:effectLst>
            <a:outerShdw blurRad="76200" rotWithShape="0" algn="bl" dir="27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6"/>
          <p:cNvSpPr/>
          <p:nvPr/>
        </p:nvSpPr>
        <p:spPr>
          <a:xfrm>
            <a:off x="3566160" y="1371600"/>
            <a:ext cx="24688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593C"/>
              </a:buClr>
              <a:buSzPts val="1800"/>
              <a:buFont typeface="Calibri"/>
              <a:buNone/>
            </a:pPr>
            <a:r>
              <a:rPr b="1" i="0" lang="en-US" sz="1800" u="none" cap="none" strike="noStrike">
                <a:solidFill>
                  <a:srgbClr val="E8593C"/>
                </a:solidFill>
                <a:latin typeface="Calibri"/>
                <a:ea typeface="Calibri"/>
                <a:cs typeface="Calibri"/>
                <a:sym typeface="Calibri"/>
              </a:rPr>
              <a:t>System 2</a:t>
            </a:r>
            <a:endParaRPr b="0" i="0" sz="1800" u="none" cap="none" strike="noStrike">
              <a:solidFill>
                <a:schemeClr val="dk1"/>
              </a:solidFill>
              <a:latin typeface="Calibri"/>
              <a:ea typeface="Calibri"/>
              <a:cs typeface="Calibri"/>
              <a:sym typeface="Calibri"/>
            </a:endParaRPr>
          </a:p>
        </p:txBody>
      </p:sp>
      <p:sp>
        <p:nvSpPr>
          <p:cNvPr id="96" name="Google Shape;96;p6"/>
          <p:cNvSpPr/>
          <p:nvPr/>
        </p:nvSpPr>
        <p:spPr>
          <a:xfrm>
            <a:off x="3566160" y="1737360"/>
            <a:ext cx="246888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200"/>
              <a:buFont typeface="Calibri"/>
              <a:buNone/>
            </a:pPr>
            <a:r>
              <a:rPr b="0" i="1" lang="en-US" sz="1200" u="none" cap="none" strike="noStrike">
                <a:solidFill>
                  <a:srgbClr val="64748B"/>
                </a:solidFill>
                <a:latin typeface="Calibri"/>
                <a:ea typeface="Calibri"/>
                <a:cs typeface="Calibri"/>
                <a:sym typeface="Calibri"/>
              </a:rPr>
              <a:t>Tier qualification</a:t>
            </a:r>
            <a:endParaRPr b="0" i="0" sz="1200" u="none" cap="none" strike="noStrike">
              <a:solidFill>
                <a:schemeClr val="dk1"/>
              </a:solidFill>
              <a:latin typeface="Calibri"/>
              <a:ea typeface="Calibri"/>
              <a:cs typeface="Calibri"/>
              <a:sym typeface="Calibri"/>
            </a:endParaRPr>
          </a:p>
        </p:txBody>
      </p:sp>
      <p:sp>
        <p:nvSpPr>
          <p:cNvPr id="97" name="Google Shape;97;p6"/>
          <p:cNvSpPr/>
          <p:nvPr/>
        </p:nvSpPr>
        <p:spPr>
          <a:xfrm>
            <a:off x="3749040" y="2194560"/>
            <a:ext cx="2103120" cy="12801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F1B3D"/>
              </a:buClr>
              <a:buSzPts val="1200"/>
              <a:buFont typeface="Calibri"/>
              <a:buNone/>
            </a:pPr>
            <a:r>
              <a:rPr b="0" i="0" lang="en-US" sz="1200" u="none" cap="none" strike="noStrike">
                <a:solidFill>
                  <a:srgbClr val="0F1B3D"/>
                </a:solidFill>
                <a:latin typeface="Calibri"/>
                <a:ea typeface="Calibri"/>
                <a:cs typeface="Calibri"/>
                <a:sym typeface="Calibri"/>
              </a:rPr>
              <a:t>P1: Working Professional</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F1B3D"/>
              </a:buClr>
              <a:buSzPts val="1200"/>
              <a:buFont typeface="Calibri"/>
              <a:buNone/>
            </a:pPr>
            <a:r>
              <a:rPr b="0" i="0" lang="en-US" sz="1200" u="none" cap="none" strike="noStrike">
                <a:solidFill>
                  <a:srgbClr val="0F1B3D"/>
                </a:solidFill>
                <a:latin typeface="Calibri"/>
                <a:ea typeface="Calibri"/>
                <a:cs typeface="Calibri"/>
                <a:sym typeface="Calibri"/>
              </a:rPr>
              <a:t>P2: SMS Sent</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F1B3D"/>
              </a:buClr>
              <a:buSzPts val="1200"/>
              <a:buFont typeface="Calibri"/>
              <a:buNone/>
            </a:pPr>
            <a:r>
              <a:rPr b="0" i="0" lang="en-US" sz="1200" u="none" cap="none" strike="noStrike">
                <a:solidFill>
                  <a:srgbClr val="0F1B3D"/>
                </a:solidFill>
                <a:latin typeface="Calibri"/>
                <a:ea typeface="Calibri"/>
                <a:cs typeface="Calibri"/>
                <a:sym typeface="Calibri"/>
              </a:rPr>
              <a:t>Baseline cutoff + tier cap.</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F1B3D"/>
              </a:buClr>
              <a:buSzPts val="1200"/>
              <a:buFont typeface="Calibri"/>
              <a:buNone/>
            </a:pPr>
            <a:r>
              <a:rPr b="0" i="0" lang="en-US" sz="1200" u="none" cap="none" strike="noStrike">
                <a:solidFill>
                  <a:srgbClr val="0F1B3D"/>
                </a:solidFill>
                <a:latin typeface="Calibri"/>
                <a:ea typeface="Calibri"/>
                <a:cs typeface="Calibri"/>
                <a:sym typeface="Calibri"/>
              </a:rPr>
              <a:t>ML rank within tiers.</a:t>
            </a:r>
            <a:endParaRPr b="0" i="0" sz="1200" u="none" cap="none" strike="noStrike">
              <a:solidFill>
                <a:schemeClr val="dk1"/>
              </a:solidFill>
              <a:latin typeface="Calibri"/>
              <a:ea typeface="Calibri"/>
              <a:cs typeface="Calibri"/>
              <a:sym typeface="Calibri"/>
            </a:endParaRPr>
          </a:p>
        </p:txBody>
      </p:sp>
      <p:sp>
        <p:nvSpPr>
          <p:cNvPr id="98" name="Google Shape;98;p6"/>
          <p:cNvSpPr/>
          <p:nvPr/>
        </p:nvSpPr>
        <p:spPr>
          <a:xfrm>
            <a:off x="6400800" y="1280160"/>
            <a:ext cx="2468880" cy="2377440"/>
          </a:xfrm>
          <a:prstGeom prst="roundRect">
            <a:avLst>
              <a:gd fmla="val 4615" name="adj"/>
            </a:avLst>
          </a:prstGeom>
          <a:solidFill>
            <a:srgbClr val="F0F5F0"/>
          </a:solidFill>
          <a:ln>
            <a:noFill/>
          </a:ln>
          <a:effectLst>
            <a:outerShdw blurRad="76200" rotWithShape="0" algn="bl" dir="27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6"/>
          <p:cNvSpPr/>
          <p:nvPr/>
        </p:nvSpPr>
        <p:spPr>
          <a:xfrm>
            <a:off x="6400800" y="1371600"/>
            <a:ext cx="24688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E7D32"/>
              </a:buClr>
              <a:buSzPts val="1800"/>
              <a:buFont typeface="Calibri"/>
              <a:buNone/>
            </a:pPr>
            <a:r>
              <a:rPr b="1" i="0" lang="en-US" sz="1800" u="none" cap="none" strike="noStrike">
                <a:solidFill>
                  <a:srgbClr val="2E7D32"/>
                </a:solidFill>
                <a:latin typeface="Calibri"/>
                <a:ea typeface="Calibri"/>
                <a:cs typeface="Calibri"/>
                <a:sym typeface="Calibri"/>
              </a:rPr>
              <a:t>System 3</a:t>
            </a:r>
            <a:endParaRPr b="0" i="0" sz="1800" u="none" cap="none" strike="noStrike">
              <a:solidFill>
                <a:schemeClr val="dk1"/>
              </a:solidFill>
              <a:latin typeface="Calibri"/>
              <a:ea typeface="Calibri"/>
              <a:cs typeface="Calibri"/>
              <a:sym typeface="Calibri"/>
            </a:endParaRPr>
          </a:p>
        </p:txBody>
      </p:sp>
      <p:sp>
        <p:nvSpPr>
          <p:cNvPr id="100" name="Google Shape;100;p6"/>
          <p:cNvSpPr/>
          <p:nvPr/>
        </p:nvSpPr>
        <p:spPr>
          <a:xfrm>
            <a:off x="6400800" y="1737360"/>
            <a:ext cx="246888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200"/>
              <a:buFont typeface="Calibri"/>
              <a:buNone/>
            </a:pPr>
            <a:r>
              <a:rPr b="0" i="1" lang="en-US" sz="1200" u="none" cap="none" strike="noStrike">
                <a:solidFill>
                  <a:srgbClr val="64748B"/>
                </a:solidFill>
                <a:latin typeface="Calibri"/>
                <a:ea typeface="Calibri"/>
                <a:cs typeface="Calibri"/>
                <a:sym typeface="Calibri"/>
              </a:rPr>
              <a:t>Calibrated blend</a:t>
            </a:r>
            <a:endParaRPr b="0" i="0" sz="1200" u="none" cap="none" strike="noStrike">
              <a:solidFill>
                <a:schemeClr val="dk1"/>
              </a:solidFill>
              <a:latin typeface="Calibri"/>
              <a:ea typeface="Calibri"/>
              <a:cs typeface="Calibri"/>
              <a:sym typeface="Calibri"/>
            </a:endParaRPr>
          </a:p>
        </p:txBody>
      </p:sp>
      <p:sp>
        <p:nvSpPr>
          <p:cNvPr id="101" name="Google Shape;101;p6"/>
          <p:cNvSpPr/>
          <p:nvPr/>
        </p:nvSpPr>
        <p:spPr>
          <a:xfrm>
            <a:off x="6623175" y="2217450"/>
            <a:ext cx="2206800" cy="1280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F1B3D"/>
              </a:buClr>
              <a:buSzPts val="1200"/>
              <a:buFont typeface="Calibri"/>
              <a:buNone/>
            </a:pPr>
            <a:r>
              <a:rPr b="0" i="0" lang="en-US" sz="1200" u="none" cap="none" strike="noStrike">
                <a:solidFill>
                  <a:srgbClr val="0F1B3D"/>
                </a:solidFill>
                <a:latin typeface="Calibri"/>
                <a:ea typeface="Calibri"/>
                <a:cs typeface="Calibri"/>
                <a:sym typeface="Calibri"/>
              </a:rPr>
              <a:t>Same P1 + P2 signals.</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F1B3D"/>
              </a:buClr>
              <a:buSzPts val="1200"/>
              <a:buFont typeface="Calibri"/>
              <a:buNone/>
            </a:pPr>
            <a:r>
              <a:rPr b="0" i="0" lang="en-US" sz="1200" u="none" cap="none" strike="noStrike">
                <a:solidFill>
                  <a:srgbClr val="0F1B3D"/>
                </a:solidFill>
                <a:latin typeface="Calibri"/>
                <a:ea typeface="Calibri"/>
                <a:cs typeface="Calibri"/>
                <a:sym typeface="Calibri"/>
              </a:rPr>
              <a:t>90% ML + 10% </a:t>
            </a:r>
            <a:r>
              <a:rPr lang="en-US" sz="1200">
                <a:solidFill>
                  <a:srgbClr val="0F1B3D"/>
                </a:solidFill>
                <a:latin typeface="Calibri"/>
                <a:ea typeface="Calibri"/>
                <a:cs typeface="Calibri"/>
                <a:sym typeface="Calibri"/>
              </a:rPr>
              <a:t>qualification score</a:t>
            </a:r>
            <a:r>
              <a:rPr b="0" i="0" lang="en-US" sz="1200" u="none" cap="none" strike="noStrike">
                <a:solidFill>
                  <a:srgbClr val="0F1B3D"/>
                </a:solidFill>
                <a:latin typeface="Calibri"/>
                <a:ea typeface="Calibri"/>
                <a:cs typeface="Calibri"/>
                <a:sym typeface="Calibri"/>
              </a:rPr>
              <a:t>.</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F1B3D"/>
              </a:buClr>
              <a:buSzPts val="1200"/>
              <a:buFont typeface="Calibri"/>
              <a:buNone/>
            </a:pPr>
            <a:r>
              <a:rPr b="0" i="0" lang="en-US" sz="1200" u="none" cap="none" strike="noStrike">
                <a:solidFill>
                  <a:srgbClr val="0F1B3D"/>
                </a:solidFill>
                <a:latin typeface="Calibri"/>
                <a:ea typeface="Calibri"/>
                <a:cs typeface="Calibri"/>
                <a:sym typeface="Calibri"/>
              </a:rPr>
              <a:t>No tiers. Single ranking.</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F1B3D"/>
              </a:buClr>
              <a:buSzPts val="1200"/>
              <a:buFont typeface="Calibri"/>
              <a:buNone/>
            </a:pPr>
            <a:r>
              <a:rPr b="0" i="0" lang="en-US" sz="1200" u="none" cap="none" strike="noStrike">
                <a:solidFill>
                  <a:srgbClr val="0F1B3D"/>
                </a:solidFill>
                <a:latin typeface="Calibri"/>
                <a:ea typeface="Calibri"/>
                <a:cs typeface="Calibri"/>
                <a:sym typeface="Calibri"/>
              </a:rPr>
              <a:t>Robustness check.</a:t>
            </a:r>
            <a:endParaRPr b="0" i="0" sz="1200" u="none" cap="none" strike="noStrike">
              <a:solidFill>
                <a:schemeClr val="dk1"/>
              </a:solidFill>
              <a:latin typeface="Calibri"/>
              <a:ea typeface="Calibri"/>
              <a:cs typeface="Calibri"/>
              <a:sym typeface="Calibri"/>
            </a:endParaRPr>
          </a:p>
        </p:txBody>
      </p:sp>
      <p:sp>
        <p:nvSpPr>
          <p:cNvPr id="102" name="Google Shape;102;p6"/>
          <p:cNvSpPr/>
          <p:nvPr/>
        </p:nvSpPr>
        <p:spPr>
          <a:xfrm>
            <a:off x="731520" y="3931920"/>
            <a:ext cx="76809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E2761"/>
              </a:buClr>
              <a:buSzPts val="1300"/>
              <a:buFont typeface="Calibri"/>
              <a:buNone/>
            </a:pPr>
            <a:r>
              <a:rPr b="1" i="0" lang="en-US" sz="1300" u="none" cap="none" strike="noStrike">
                <a:solidFill>
                  <a:srgbClr val="1E2761"/>
                </a:solidFill>
                <a:latin typeface="Calibri"/>
                <a:ea typeface="Calibri"/>
                <a:cs typeface="Calibri"/>
                <a:sym typeface="Calibri"/>
              </a:rPr>
              <a:t>Evaluation</a:t>
            </a:r>
            <a:r>
              <a:rPr b="1" lang="en-US" sz="1300">
                <a:solidFill>
                  <a:srgbClr val="1E2761"/>
                </a:solidFill>
                <a:latin typeface="Calibri"/>
                <a:ea typeface="Calibri"/>
                <a:cs typeface="Calibri"/>
                <a:sym typeface="Calibri"/>
              </a:rPr>
              <a:t> uses</a:t>
            </a:r>
            <a:r>
              <a:rPr b="1" i="0" lang="en-US" sz="1300" u="none" cap="none" strike="noStrike">
                <a:solidFill>
                  <a:srgbClr val="1E2761"/>
                </a:solidFill>
                <a:latin typeface="Calibri"/>
                <a:ea typeface="Calibri"/>
                <a:cs typeface="Calibri"/>
                <a:sym typeface="Calibri"/>
              </a:rPr>
              <a:t> Precision@K</a:t>
            </a:r>
            <a:r>
              <a:rPr b="1" lang="en-US" sz="1300">
                <a:solidFill>
                  <a:srgbClr val="1E2761"/>
                </a:solidFill>
                <a:latin typeface="Calibri"/>
                <a:ea typeface="Calibri"/>
                <a:cs typeface="Calibri"/>
                <a:sym typeface="Calibri"/>
              </a:rPr>
              <a:t>:</a:t>
            </a:r>
            <a:r>
              <a:rPr b="1" i="0" lang="en-US" sz="1300" u="none" cap="none" strike="noStrike">
                <a:solidFill>
                  <a:srgbClr val="1E2761"/>
                </a:solidFill>
                <a:latin typeface="Calibri"/>
                <a:ea typeface="Calibri"/>
                <a:cs typeface="Calibri"/>
                <a:sym typeface="Calibri"/>
              </a:rPr>
              <a:t> what proportion of selected leads actually convert? The ML score was held constant across all three systems so that only the qualification layer differed.</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7" name="Shape 107"/>
        <p:cNvGrpSpPr/>
        <p:nvPr/>
      </p:nvGrpSpPr>
      <p:grpSpPr>
        <a:xfrm>
          <a:off x="0" y="0"/>
          <a:ext cx="0" cy="0"/>
          <a:chOff x="0" y="0"/>
          <a:chExt cx="0" cy="0"/>
        </a:xfrm>
      </p:grpSpPr>
      <p:sp>
        <p:nvSpPr>
          <p:cNvPr id="108" name="Google Shape;108;p7"/>
          <p:cNvSpPr/>
          <p:nvPr/>
        </p:nvSpPr>
        <p:spPr>
          <a:xfrm>
            <a:off x="731520" y="274320"/>
            <a:ext cx="768096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2800"/>
              <a:buFont typeface="Calibri"/>
              <a:buNone/>
            </a:pPr>
            <a:r>
              <a:rPr b="1" lang="en-US" sz="2800">
                <a:solidFill>
                  <a:srgbClr val="1E2761"/>
                </a:solidFill>
                <a:latin typeface="Calibri"/>
                <a:ea typeface="Calibri"/>
                <a:cs typeface="Calibri"/>
                <a:sym typeface="Calibri"/>
              </a:rPr>
              <a:t>Two Signals </a:t>
            </a:r>
            <a:r>
              <a:rPr b="1" lang="en-US" sz="2800">
                <a:solidFill>
                  <a:srgbClr val="1E2761"/>
                </a:solidFill>
                <a:latin typeface="Calibri"/>
                <a:ea typeface="Calibri"/>
                <a:cs typeface="Calibri"/>
                <a:sym typeface="Calibri"/>
              </a:rPr>
              <a:t>withheld</a:t>
            </a:r>
            <a:r>
              <a:rPr b="1" lang="en-US" sz="2800">
                <a:solidFill>
                  <a:srgbClr val="1E2761"/>
                </a:solidFill>
                <a:latin typeface="Calibri"/>
                <a:ea typeface="Calibri"/>
                <a:cs typeface="Calibri"/>
                <a:sym typeface="Calibri"/>
              </a:rPr>
              <a:t> from ML Model </a:t>
            </a:r>
            <a:endParaRPr b="0" i="0" sz="2800" u="none" cap="none" strike="noStrike">
              <a:solidFill>
                <a:schemeClr val="dk1"/>
              </a:solidFill>
              <a:latin typeface="Calibri"/>
              <a:ea typeface="Calibri"/>
              <a:cs typeface="Calibri"/>
              <a:sym typeface="Calibri"/>
            </a:endParaRPr>
          </a:p>
        </p:txBody>
      </p:sp>
      <p:sp>
        <p:nvSpPr>
          <p:cNvPr id="109" name="Google Shape;109;p7"/>
          <p:cNvSpPr/>
          <p:nvPr/>
        </p:nvSpPr>
        <p:spPr>
          <a:xfrm>
            <a:off x="731520" y="845852"/>
            <a:ext cx="7680900" cy="1280100"/>
          </a:xfrm>
          <a:prstGeom prst="roundRect">
            <a:avLst>
              <a:gd fmla="val 8571" name="adj"/>
            </a:avLst>
          </a:prstGeom>
          <a:solidFill>
            <a:srgbClr val="F2F4F8"/>
          </a:solidFill>
          <a:ln>
            <a:noFill/>
          </a:ln>
          <a:effectLst>
            <a:outerShdw blurRad="76200" rotWithShape="0" algn="bl" dir="27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7"/>
          <p:cNvSpPr/>
          <p:nvPr/>
        </p:nvSpPr>
        <p:spPr>
          <a:xfrm>
            <a:off x="914400" y="937292"/>
            <a:ext cx="20118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593C"/>
              </a:buClr>
              <a:buSzPts val="1400"/>
              <a:buFont typeface="Calibri"/>
              <a:buNone/>
            </a:pPr>
            <a:r>
              <a:rPr b="1" i="0" lang="en-US" sz="1400" u="none" cap="none" strike="noStrike">
                <a:solidFill>
                  <a:srgbClr val="E8593C"/>
                </a:solidFill>
                <a:latin typeface="Calibri"/>
                <a:ea typeface="Calibri"/>
                <a:cs typeface="Calibri"/>
                <a:sym typeface="Calibri"/>
              </a:rPr>
              <a:t>P1 — Tier 1</a:t>
            </a:r>
            <a:endParaRPr b="0" i="0" sz="1400" u="none" cap="none" strike="noStrike">
              <a:solidFill>
                <a:schemeClr val="dk1"/>
              </a:solidFill>
              <a:latin typeface="Calibri"/>
              <a:ea typeface="Calibri"/>
              <a:cs typeface="Calibri"/>
              <a:sym typeface="Calibri"/>
            </a:endParaRPr>
          </a:p>
        </p:txBody>
      </p:sp>
      <p:sp>
        <p:nvSpPr>
          <p:cNvPr id="111" name="Google Shape;111;p7"/>
          <p:cNvSpPr/>
          <p:nvPr/>
        </p:nvSpPr>
        <p:spPr>
          <a:xfrm>
            <a:off x="914400" y="1257333"/>
            <a:ext cx="20118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B3D"/>
              </a:buClr>
              <a:buSzPts val="1800"/>
              <a:buFont typeface="Calibri"/>
              <a:buNone/>
            </a:pPr>
            <a:r>
              <a:rPr b="1" i="0" lang="en-US" sz="1800" u="none" cap="none" strike="noStrike">
                <a:solidFill>
                  <a:srgbClr val="0F1B3D"/>
                </a:solidFill>
                <a:latin typeface="Calibri"/>
                <a:ea typeface="Calibri"/>
                <a:cs typeface="Calibri"/>
                <a:sym typeface="Calibri"/>
              </a:rPr>
              <a:t>Working Professional</a:t>
            </a:r>
            <a:endParaRPr b="0" i="0" sz="1800" u="none" cap="none" strike="noStrike">
              <a:solidFill>
                <a:schemeClr val="dk1"/>
              </a:solidFill>
              <a:latin typeface="Calibri"/>
              <a:ea typeface="Calibri"/>
              <a:cs typeface="Calibri"/>
              <a:sym typeface="Calibri"/>
            </a:endParaRPr>
          </a:p>
        </p:txBody>
      </p:sp>
      <p:sp>
        <p:nvSpPr>
          <p:cNvPr id="112" name="Google Shape;112;p7"/>
          <p:cNvSpPr/>
          <p:nvPr/>
        </p:nvSpPr>
        <p:spPr>
          <a:xfrm>
            <a:off x="914400" y="1623093"/>
            <a:ext cx="20118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593C"/>
              </a:buClr>
              <a:buSzPts val="1400"/>
              <a:buFont typeface="Calibri"/>
              <a:buNone/>
            </a:pPr>
            <a:r>
              <a:rPr b="1" i="0" lang="en-US" sz="1400" u="none" cap="none" strike="noStrike">
                <a:solidFill>
                  <a:srgbClr val="E8593C"/>
                </a:solidFill>
                <a:latin typeface="Calibri"/>
                <a:ea typeface="Calibri"/>
                <a:cs typeface="Calibri"/>
                <a:sym typeface="Calibri"/>
              </a:rPr>
              <a:t>91% conversion</a:t>
            </a:r>
            <a:endParaRPr b="0" i="0" sz="1400" u="none" cap="none" strike="noStrike">
              <a:solidFill>
                <a:schemeClr val="dk1"/>
              </a:solidFill>
              <a:latin typeface="Calibri"/>
              <a:ea typeface="Calibri"/>
              <a:cs typeface="Calibri"/>
              <a:sym typeface="Calibri"/>
            </a:endParaRPr>
          </a:p>
        </p:txBody>
      </p:sp>
      <p:sp>
        <p:nvSpPr>
          <p:cNvPr id="113" name="Google Shape;113;p7"/>
          <p:cNvSpPr/>
          <p:nvPr/>
        </p:nvSpPr>
        <p:spPr>
          <a:xfrm>
            <a:off x="3200400" y="983013"/>
            <a:ext cx="49377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300"/>
              <a:buFont typeface="Calibri"/>
              <a:buNone/>
            </a:pPr>
            <a:r>
              <a:rPr b="1" lang="en-US" sz="1300">
                <a:solidFill>
                  <a:srgbClr val="1E2761"/>
                </a:solidFill>
                <a:latin typeface="Calibri"/>
                <a:ea typeface="Calibri"/>
                <a:cs typeface="Calibri"/>
                <a:sym typeface="Calibri"/>
              </a:rPr>
              <a:t>Commercial information acquired or confirmed during qualification</a:t>
            </a:r>
            <a:endParaRPr b="0" i="0" sz="1300" u="none" cap="none" strike="noStrike">
              <a:solidFill>
                <a:schemeClr val="dk1"/>
              </a:solidFill>
              <a:latin typeface="Calibri"/>
              <a:ea typeface="Calibri"/>
              <a:cs typeface="Calibri"/>
              <a:sym typeface="Calibri"/>
            </a:endParaRPr>
          </a:p>
        </p:txBody>
      </p:sp>
      <p:sp>
        <p:nvSpPr>
          <p:cNvPr id="114" name="Google Shape;114;p7"/>
          <p:cNvSpPr/>
          <p:nvPr/>
        </p:nvSpPr>
        <p:spPr>
          <a:xfrm>
            <a:off x="3200400" y="1303052"/>
            <a:ext cx="49377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200"/>
              <a:buFont typeface="Calibri"/>
              <a:buNone/>
            </a:pPr>
            <a:r>
              <a:rPr b="0" i="0" lang="en-US" sz="1200" u="none" cap="none" strike="noStrike">
                <a:solidFill>
                  <a:srgbClr val="64748B"/>
                </a:solidFill>
                <a:latin typeface="Calibri"/>
                <a:ea typeface="Calibri"/>
                <a:cs typeface="Calibri"/>
                <a:sym typeface="Calibri"/>
              </a:rPr>
              <a:t>Occupation confirmed through SDR</a:t>
            </a:r>
            <a:r>
              <a:rPr lang="en-US" sz="1200">
                <a:solidFill>
                  <a:schemeClr val="dk1"/>
                </a:solidFill>
                <a:latin typeface="Calibri"/>
                <a:ea typeface="Calibri"/>
                <a:cs typeface="Calibri"/>
                <a:sym typeface="Calibri"/>
              </a:rPr>
              <a:t> </a:t>
            </a:r>
            <a:r>
              <a:rPr b="0" i="0" lang="en-US" sz="1200" u="none" cap="none" strike="noStrike">
                <a:solidFill>
                  <a:srgbClr val="64748B"/>
                </a:solidFill>
                <a:latin typeface="Calibri"/>
                <a:ea typeface="Calibri"/>
                <a:cs typeface="Calibri"/>
                <a:sym typeface="Calibri"/>
              </a:rPr>
              <a:t>interaction </a:t>
            </a:r>
            <a:r>
              <a:rPr lang="en-US" sz="1200">
                <a:solidFill>
                  <a:srgbClr val="64748B"/>
                </a:solidFill>
                <a:latin typeface="Calibri"/>
                <a:ea typeface="Calibri"/>
                <a:cs typeface="Calibri"/>
                <a:sym typeface="Calibri"/>
              </a:rPr>
              <a:t>-</a:t>
            </a:r>
            <a:r>
              <a:rPr b="0" i="0" lang="en-US" sz="1200" u="none" cap="none" strike="noStrike">
                <a:solidFill>
                  <a:srgbClr val="64748B"/>
                </a:solidFill>
                <a:latin typeface="Calibri"/>
                <a:ea typeface="Calibri"/>
                <a:cs typeface="Calibri"/>
                <a:sym typeface="Calibri"/>
              </a:rPr>
              <a:t> plausibly post-scoring</a:t>
            </a:r>
            <a:endParaRPr b="0" i="0" sz="1200" u="none" cap="none" strike="noStrike">
              <a:solidFill>
                <a:schemeClr val="dk1"/>
              </a:solidFill>
              <a:latin typeface="Calibri"/>
              <a:ea typeface="Calibri"/>
              <a:cs typeface="Calibri"/>
              <a:sym typeface="Calibri"/>
            </a:endParaRPr>
          </a:p>
        </p:txBody>
      </p:sp>
      <p:sp>
        <p:nvSpPr>
          <p:cNvPr id="115" name="Google Shape;115;p7"/>
          <p:cNvSpPr/>
          <p:nvPr/>
        </p:nvSpPr>
        <p:spPr>
          <a:xfrm>
            <a:off x="731520" y="2354613"/>
            <a:ext cx="7680900" cy="1280100"/>
          </a:xfrm>
          <a:prstGeom prst="roundRect">
            <a:avLst>
              <a:gd fmla="val 8571" name="adj"/>
            </a:avLst>
          </a:prstGeom>
          <a:solidFill>
            <a:srgbClr val="F2F4F8"/>
          </a:solidFill>
          <a:ln>
            <a:noFill/>
          </a:ln>
          <a:effectLst>
            <a:outerShdw blurRad="76200" rotWithShape="0" algn="bl" dir="27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7"/>
          <p:cNvSpPr/>
          <p:nvPr/>
        </p:nvSpPr>
        <p:spPr>
          <a:xfrm>
            <a:off x="914400" y="2446053"/>
            <a:ext cx="20118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593C"/>
              </a:buClr>
              <a:buSzPts val="1400"/>
              <a:buFont typeface="Calibri"/>
              <a:buNone/>
            </a:pPr>
            <a:r>
              <a:rPr b="1" i="0" lang="en-US" sz="1400" u="none" cap="none" strike="noStrike">
                <a:solidFill>
                  <a:srgbClr val="E8593C"/>
                </a:solidFill>
                <a:latin typeface="Calibri"/>
                <a:ea typeface="Calibri"/>
                <a:cs typeface="Calibri"/>
                <a:sym typeface="Calibri"/>
              </a:rPr>
              <a:t>P2 — Tier 2</a:t>
            </a:r>
            <a:endParaRPr b="0" i="0" sz="1400" u="none" cap="none" strike="noStrike">
              <a:solidFill>
                <a:schemeClr val="dk1"/>
              </a:solidFill>
              <a:latin typeface="Calibri"/>
              <a:ea typeface="Calibri"/>
              <a:cs typeface="Calibri"/>
              <a:sym typeface="Calibri"/>
            </a:endParaRPr>
          </a:p>
        </p:txBody>
      </p:sp>
      <p:sp>
        <p:nvSpPr>
          <p:cNvPr id="117" name="Google Shape;117;p7"/>
          <p:cNvSpPr/>
          <p:nvPr/>
        </p:nvSpPr>
        <p:spPr>
          <a:xfrm>
            <a:off x="914400" y="2766093"/>
            <a:ext cx="20118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B3D"/>
              </a:buClr>
              <a:buSzPts val="1800"/>
              <a:buFont typeface="Calibri"/>
              <a:buNone/>
            </a:pPr>
            <a:r>
              <a:rPr b="1" i="0" lang="en-US" sz="1800" u="none" cap="none" strike="noStrike">
                <a:solidFill>
                  <a:srgbClr val="0F1B3D"/>
                </a:solidFill>
                <a:latin typeface="Calibri"/>
                <a:ea typeface="Calibri"/>
                <a:cs typeface="Calibri"/>
                <a:sym typeface="Calibri"/>
              </a:rPr>
              <a:t>SMS Sent</a:t>
            </a:r>
            <a:endParaRPr b="0" i="0" sz="1800" u="none" cap="none" strike="noStrike">
              <a:solidFill>
                <a:schemeClr val="dk1"/>
              </a:solidFill>
              <a:latin typeface="Calibri"/>
              <a:ea typeface="Calibri"/>
              <a:cs typeface="Calibri"/>
              <a:sym typeface="Calibri"/>
            </a:endParaRPr>
          </a:p>
        </p:txBody>
      </p:sp>
      <p:sp>
        <p:nvSpPr>
          <p:cNvPr id="118" name="Google Shape;118;p7"/>
          <p:cNvSpPr/>
          <p:nvPr/>
        </p:nvSpPr>
        <p:spPr>
          <a:xfrm>
            <a:off x="914400" y="3131853"/>
            <a:ext cx="20118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593C"/>
              </a:buClr>
              <a:buSzPts val="1400"/>
              <a:buFont typeface="Calibri"/>
              <a:buNone/>
            </a:pPr>
            <a:r>
              <a:rPr b="1" i="0" lang="en-US" sz="1400" u="none" cap="none" strike="noStrike">
                <a:solidFill>
                  <a:srgbClr val="E8593C"/>
                </a:solidFill>
                <a:latin typeface="Calibri"/>
                <a:ea typeface="Calibri"/>
                <a:cs typeface="Calibri"/>
                <a:sym typeface="Calibri"/>
              </a:rPr>
              <a:t>59% conversion</a:t>
            </a:r>
            <a:endParaRPr b="0" i="0" sz="1400" u="none" cap="none" strike="noStrike">
              <a:solidFill>
                <a:schemeClr val="dk1"/>
              </a:solidFill>
              <a:latin typeface="Calibri"/>
              <a:ea typeface="Calibri"/>
              <a:cs typeface="Calibri"/>
              <a:sym typeface="Calibri"/>
            </a:endParaRPr>
          </a:p>
        </p:txBody>
      </p:sp>
      <p:sp>
        <p:nvSpPr>
          <p:cNvPr id="119" name="Google Shape;119;p7"/>
          <p:cNvSpPr/>
          <p:nvPr/>
        </p:nvSpPr>
        <p:spPr>
          <a:xfrm>
            <a:off x="3200400" y="2491763"/>
            <a:ext cx="46710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300"/>
              <a:buFont typeface="Calibri"/>
              <a:buNone/>
            </a:pPr>
            <a:r>
              <a:rPr b="1" lang="en-US" sz="1300">
                <a:solidFill>
                  <a:srgbClr val="1E2761"/>
                </a:solidFill>
                <a:latin typeface="Calibri"/>
                <a:ea typeface="Calibri"/>
                <a:cs typeface="Calibri"/>
                <a:sym typeface="Calibri"/>
              </a:rPr>
              <a:t>Post-scoring behavioural information</a:t>
            </a:r>
            <a:endParaRPr b="0" i="0" sz="1300" u="none" cap="none" strike="noStrike">
              <a:solidFill>
                <a:schemeClr val="dk1"/>
              </a:solidFill>
              <a:latin typeface="Calibri"/>
              <a:ea typeface="Calibri"/>
              <a:cs typeface="Calibri"/>
              <a:sym typeface="Calibri"/>
            </a:endParaRPr>
          </a:p>
        </p:txBody>
      </p:sp>
      <p:sp>
        <p:nvSpPr>
          <p:cNvPr id="120" name="Google Shape;120;p7"/>
          <p:cNvSpPr/>
          <p:nvPr/>
        </p:nvSpPr>
        <p:spPr>
          <a:xfrm>
            <a:off x="3200400" y="2811813"/>
            <a:ext cx="49377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200"/>
              <a:buFont typeface="Calibri"/>
              <a:buNone/>
            </a:pPr>
            <a:r>
              <a:rPr b="0" i="0" lang="en-US" sz="1200" u="none" cap="none" strike="noStrike">
                <a:solidFill>
                  <a:srgbClr val="64748B"/>
                </a:solidFill>
                <a:latin typeface="Calibri"/>
                <a:ea typeface="Calibri"/>
                <a:cs typeface="Calibri"/>
                <a:sym typeface="Calibri"/>
              </a:rPr>
              <a:t>SDR-initiated interaction </a:t>
            </a:r>
            <a:r>
              <a:rPr lang="en-US" sz="1200">
                <a:solidFill>
                  <a:srgbClr val="64748B"/>
                </a:solidFill>
                <a:latin typeface="Calibri"/>
                <a:ea typeface="Calibri"/>
                <a:cs typeface="Calibri"/>
                <a:sym typeface="Calibri"/>
              </a:rPr>
              <a:t>-</a:t>
            </a:r>
            <a:r>
              <a:rPr lang="en-US" sz="1200">
                <a:solidFill>
                  <a:schemeClr val="dk1"/>
                </a:solidFill>
                <a:latin typeface="Calibri"/>
                <a:ea typeface="Calibri"/>
                <a:cs typeface="Calibri"/>
                <a:sym typeface="Calibri"/>
              </a:rPr>
              <a:t> </a:t>
            </a:r>
            <a:r>
              <a:rPr b="0" i="0" lang="en-US" sz="1200" u="none" cap="none" strike="noStrike">
                <a:solidFill>
                  <a:srgbClr val="64748B"/>
                </a:solidFill>
                <a:latin typeface="Calibri"/>
                <a:ea typeface="Calibri"/>
                <a:cs typeface="Calibri"/>
                <a:sym typeface="Calibri"/>
              </a:rPr>
              <a:t>definitionally post-origination</a:t>
            </a:r>
            <a:endParaRPr b="0" i="0" sz="1200" u="none" cap="none" strike="noStrike">
              <a:solidFill>
                <a:schemeClr val="dk1"/>
              </a:solidFill>
              <a:latin typeface="Calibri"/>
              <a:ea typeface="Calibri"/>
              <a:cs typeface="Calibri"/>
              <a:sym typeface="Calibri"/>
            </a:endParaRPr>
          </a:p>
        </p:txBody>
      </p:sp>
      <p:sp>
        <p:nvSpPr>
          <p:cNvPr id="121" name="Google Shape;121;p7"/>
          <p:cNvSpPr/>
          <p:nvPr/>
        </p:nvSpPr>
        <p:spPr>
          <a:xfrm>
            <a:off x="731525" y="3749055"/>
            <a:ext cx="7680900" cy="1221600"/>
          </a:xfrm>
          <a:prstGeom prst="roundRect">
            <a:avLst>
              <a:gd fmla="val 11111" name="adj"/>
            </a:avLst>
          </a:prstGeom>
          <a:solidFill>
            <a:srgbClr val="FFF8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7"/>
          <p:cNvSpPr/>
          <p:nvPr/>
        </p:nvSpPr>
        <p:spPr>
          <a:xfrm>
            <a:off x="914400" y="3840475"/>
            <a:ext cx="7315200" cy="1019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1B3D"/>
              </a:buClr>
              <a:buSzPts val="1300"/>
              <a:buFont typeface="Calibri"/>
              <a:buNone/>
            </a:pPr>
            <a:r>
              <a:rPr b="0" i="0" lang="en-US" sz="1300" u="none" cap="none" strike="noStrike">
                <a:solidFill>
                  <a:srgbClr val="0F1B3D"/>
                </a:solidFill>
                <a:latin typeface="Calibri"/>
                <a:ea typeface="Calibri"/>
                <a:cs typeface="Calibri"/>
                <a:sym typeface="Calibri"/>
              </a:rPr>
              <a:t>Both signals withheld from ML model → S2 uses them for tier allocation,</a:t>
            </a:r>
            <a:endParaRPr b="0" i="0" sz="13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F1B3D"/>
              </a:buClr>
              <a:buSzPts val="1300"/>
              <a:buFont typeface="Calibri"/>
              <a:buNone/>
            </a:pPr>
            <a:r>
              <a:rPr b="0" i="0" lang="en-US" sz="1300" u="none" cap="none" strike="noStrike">
                <a:solidFill>
                  <a:srgbClr val="0F1B3D"/>
                </a:solidFill>
                <a:latin typeface="Calibri"/>
                <a:ea typeface="Calibri"/>
                <a:cs typeface="Calibri"/>
                <a:sym typeface="Calibri"/>
              </a:rPr>
              <a:t>S3 uses them as a continuous score adjustment</a:t>
            </a:r>
            <a:endParaRPr b="0" i="0" sz="1300" u="none" cap="none" strike="noStrike">
              <a:solidFill>
                <a:srgbClr val="0F1B3D"/>
              </a:solidFill>
              <a:latin typeface="Calibri"/>
              <a:ea typeface="Calibri"/>
              <a:cs typeface="Calibri"/>
              <a:sym typeface="Calibri"/>
            </a:endParaRPr>
          </a:p>
          <a:p>
            <a:pPr indent="0" lvl="0" marL="0" marR="0" rtl="0" algn="ctr">
              <a:spcBef>
                <a:spcPts val="0"/>
              </a:spcBef>
              <a:spcAft>
                <a:spcPts val="0"/>
              </a:spcAft>
              <a:buClr>
                <a:srgbClr val="0F1B3D"/>
              </a:buClr>
              <a:buSzPts val="1300"/>
              <a:buFont typeface="Calibri"/>
              <a:buNone/>
            </a:pPr>
            <a:r>
              <a:t/>
            </a:r>
            <a:endParaRPr sz="1300">
              <a:solidFill>
                <a:srgbClr val="0F1B3D"/>
              </a:solidFill>
              <a:latin typeface="Calibri"/>
              <a:ea typeface="Calibri"/>
              <a:cs typeface="Calibri"/>
              <a:sym typeface="Calibri"/>
            </a:endParaRPr>
          </a:p>
          <a:p>
            <a:pPr indent="0" lvl="0" marL="0" marR="0" rtl="0" algn="ctr">
              <a:spcBef>
                <a:spcPts val="0"/>
              </a:spcBef>
              <a:spcAft>
                <a:spcPts val="0"/>
              </a:spcAft>
              <a:buClr>
                <a:srgbClr val="0F1B3D"/>
              </a:buClr>
              <a:buSzPts val="1300"/>
              <a:buFont typeface="Calibri"/>
              <a:buNone/>
            </a:pPr>
            <a:r>
              <a:rPr lang="en-US" sz="1300">
                <a:solidFill>
                  <a:srgbClr val="0F1B3D"/>
                </a:solidFill>
                <a:latin typeface="Calibri"/>
                <a:ea typeface="Calibri"/>
                <a:cs typeface="Calibri"/>
                <a:sym typeface="Calibri"/>
              </a:rPr>
              <a:t>These signals illustrate the central idea of the dissertation: qualification contributes value by incorporating information unavailable when predictive scores are first generated.</a:t>
            </a:r>
            <a:endParaRPr sz="1300">
              <a:solidFill>
                <a:srgbClr val="0F1B3D"/>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7" name="Shape 127"/>
        <p:cNvGrpSpPr/>
        <p:nvPr/>
      </p:nvGrpSpPr>
      <p:grpSpPr>
        <a:xfrm>
          <a:off x="0" y="0"/>
          <a:ext cx="0" cy="0"/>
          <a:chOff x="0" y="0"/>
          <a:chExt cx="0" cy="0"/>
        </a:xfrm>
      </p:grpSpPr>
      <p:sp>
        <p:nvSpPr>
          <p:cNvPr id="128" name="Google Shape;128;g3f26303b58d_0_90"/>
          <p:cNvSpPr/>
          <p:nvPr/>
        </p:nvSpPr>
        <p:spPr>
          <a:xfrm>
            <a:off x="731520" y="274320"/>
            <a:ext cx="76809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2800"/>
              <a:buFont typeface="Calibri"/>
              <a:buNone/>
            </a:pPr>
            <a:r>
              <a:rPr b="1" lang="en-US" sz="2800">
                <a:solidFill>
                  <a:srgbClr val="1E2761"/>
                </a:solidFill>
                <a:latin typeface="Calibri"/>
                <a:ea typeface="Calibri"/>
                <a:cs typeface="Calibri"/>
                <a:sym typeface="Calibri"/>
              </a:rPr>
              <a:t>Predictive Scoring Baseline</a:t>
            </a:r>
            <a:endParaRPr b="0" i="0" sz="2800" u="none" cap="none" strike="noStrike">
              <a:solidFill>
                <a:schemeClr val="dk1"/>
              </a:solidFill>
              <a:latin typeface="Calibri"/>
              <a:ea typeface="Calibri"/>
              <a:cs typeface="Calibri"/>
              <a:sym typeface="Calibri"/>
            </a:endParaRPr>
          </a:p>
        </p:txBody>
      </p:sp>
      <p:sp>
        <p:nvSpPr>
          <p:cNvPr id="129" name="Google Shape;129;g3f26303b58d_0_90"/>
          <p:cNvSpPr/>
          <p:nvPr/>
        </p:nvSpPr>
        <p:spPr>
          <a:xfrm>
            <a:off x="731520" y="690870"/>
            <a:ext cx="7680900" cy="320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1300"/>
              <a:buFont typeface="Calibri"/>
              <a:buNone/>
            </a:pPr>
            <a:r>
              <a:rPr i="1" lang="en-US" sz="1300">
                <a:solidFill>
                  <a:srgbClr val="64748B"/>
                </a:solidFill>
                <a:latin typeface="Calibri"/>
                <a:ea typeface="Calibri"/>
                <a:cs typeface="Calibri"/>
                <a:sym typeface="Calibri"/>
              </a:rPr>
              <a:t>The predictive model was selected once and then held constant throughout the experiment.</a:t>
            </a:r>
            <a:endParaRPr b="0" i="0" sz="1300" u="none" cap="none" strike="noStrike">
              <a:solidFill>
                <a:schemeClr val="dk1"/>
              </a:solidFill>
              <a:latin typeface="Calibri"/>
              <a:ea typeface="Calibri"/>
              <a:cs typeface="Calibri"/>
              <a:sym typeface="Calibri"/>
            </a:endParaRPr>
          </a:p>
        </p:txBody>
      </p:sp>
      <p:sp>
        <p:nvSpPr>
          <p:cNvPr id="130" name="Google Shape;130;g3f26303b58d_0_90"/>
          <p:cNvSpPr/>
          <p:nvPr/>
        </p:nvSpPr>
        <p:spPr>
          <a:xfrm>
            <a:off x="731520" y="4114800"/>
            <a:ext cx="7680900" cy="457200"/>
          </a:xfrm>
          <a:prstGeom prst="rect">
            <a:avLst/>
          </a:prstGeom>
          <a:noFill/>
          <a:ln>
            <a:noFill/>
          </a:ln>
        </p:spPr>
        <p:txBody>
          <a:bodyPr anchorCtr="0" anchor="ctr" bIns="45700" lIns="91425" spcFirstLastPara="1" rIns="91425" wrap="square" tIns="45700">
            <a:noAutofit/>
          </a:bodyPr>
          <a:lstStyle/>
          <a:p>
            <a:pPr indent="0" lvl="0" marL="0" rtl="0" algn="just">
              <a:lnSpc>
                <a:spcPct val="150000"/>
              </a:lnSpc>
              <a:spcBef>
                <a:spcPts val="1200"/>
              </a:spcBef>
              <a:spcAft>
                <a:spcPts val="1200"/>
              </a:spcAft>
              <a:buClr>
                <a:schemeClr val="dk1"/>
              </a:buClr>
              <a:buSzPts val="1100"/>
              <a:buFont typeface="Arial"/>
              <a:buNone/>
            </a:pPr>
            <a:r>
              <a:t/>
            </a:r>
            <a:endParaRPr b="0" i="0" sz="1400" u="none" cap="none" strike="noStrike">
              <a:solidFill>
                <a:schemeClr val="dk1"/>
              </a:solidFill>
              <a:latin typeface="Calibri"/>
              <a:ea typeface="Calibri"/>
              <a:cs typeface="Calibri"/>
              <a:sym typeface="Calibri"/>
            </a:endParaRPr>
          </a:p>
        </p:txBody>
      </p:sp>
      <p:graphicFrame>
        <p:nvGraphicFramePr>
          <p:cNvPr id="131" name="Google Shape;131;g3f26303b58d_0_90"/>
          <p:cNvGraphicFramePr/>
          <p:nvPr/>
        </p:nvGraphicFramePr>
        <p:xfrm>
          <a:off x="1406100" y="1367638"/>
          <a:ext cx="3000000" cy="3000000"/>
        </p:xfrm>
        <a:graphic>
          <a:graphicData uri="http://schemas.openxmlformats.org/drawingml/2006/table">
            <a:tbl>
              <a:tblPr>
                <a:noFill/>
                <a:tableStyleId>{D63AC954-7EFE-4871-A3DF-65480174A828}</a:tableStyleId>
              </a:tblPr>
              <a:tblGrid>
                <a:gridCol w="3286125"/>
                <a:gridCol w="1323975"/>
                <a:gridCol w="1333500"/>
              </a:tblGrid>
              <a:tr h="342900">
                <a:tc>
                  <a:txBody>
                    <a:bodyPr/>
                    <a:lstStyle/>
                    <a:p>
                      <a:pPr indent="0" lvl="0" marL="0" rtl="0" algn="just">
                        <a:lnSpc>
                          <a:spcPct val="115000"/>
                        </a:lnSpc>
                        <a:spcBef>
                          <a:spcPts val="1200"/>
                        </a:spcBef>
                        <a:spcAft>
                          <a:spcPts val="800"/>
                        </a:spcAft>
                        <a:buNone/>
                      </a:pPr>
                      <a:r>
                        <a:rPr b="1" lang="en-US" sz="1100"/>
                        <a:t>Model</a:t>
                      </a:r>
                      <a:endParaRPr b="1" sz="1100"/>
                    </a:p>
                  </a:txBody>
                  <a:tcPr marT="38100" marB="38100" marR="63500" marL="63500">
                    <a:lnL cap="flat" cmpd="sng" w="7150">
                      <a:solidFill>
                        <a:srgbClr val="999999"/>
                      </a:solidFill>
                      <a:prstDash val="solid"/>
                      <a:round/>
                      <a:headEnd len="sm" w="sm" type="none"/>
                      <a:tailEnd len="sm" w="sm" type="none"/>
                    </a:lnL>
                    <a:lnR cap="flat" cmpd="sng" w="7150">
                      <a:solidFill>
                        <a:srgbClr val="999999"/>
                      </a:solidFill>
                      <a:prstDash val="solid"/>
                      <a:round/>
                      <a:headEnd len="sm" w="sm" type="none"/>
                      <a:tailEnd len="sm" w="sm" type="none"/>
                    </a:lnR>
                    <a:lnT cap="flat" cmpd="sng" w="7150">
                      <a:solidFill>
                        <a:srgbClr val="999999"/>
                      </a:solidFill>
                      <a:prstDash val="solid"/>
                      <a:round/>
                      <a:headEnd len="sm" w="sm" type="none"/>
                      <a:tailEnd len="sm" w="sm" type="none"/>
                    </a:lnT>
                    <a:lnB cap="flat" cmpd="sng" w="7150">
                      <a:solidFill>
                        <a:srgbClr val="999999"/>
                      </a:solidFill>
                      <a:prstDash val="solid"/>
                      <a:round/>
                      <a:headEnd len="sm" w="sm" type="none"/>
                      <a:tailEnd len="sm" w="sm" type="none"/>
                    </a:lnB>
                    <a:solidFill>
                      <a:srgbClr val="D5E8F0"/>
                    </a:solidFill>
                  </a:tcPr>
                </a:tc>
                <a:tc>
                  <a:txBody>
                    <a:bodyPr/>
                    <a:lstStyle/>
                    <a:p>
                      <a:pPr indent="0" lvl="0" marL="0" rtl="0" algn="just">
                        <a:lnSpc>
                          <a:spcPct val="115000"/>
                        </a:lnSpc>
                        <a:spcBef>
                          <a:spcPts val="1200"/>
                        </a:spcBef>
                        <a:spcAft>
                          <a:spcPts val="800"/>
                        </a:spcAft>
                        <a:buNone/>
                      </a:pPr>
                      <a:r>
                        <a:rPr b="1" lang="en-US" sz="1100"/>
                        <a:t>Test AUC-ROC</a:t>
                      </a:r>
                      <a:endParaRPr b="1" sz="1100"/>
                    </a:p>
                  </a:txBody>
                  <a:tcPr marT="38100" marB="38100" marR="63500" marL="63500">
                    <a:lnL cap="flat" cmpd="sng" w="7150">
                      <a:solidFill>
                        <a:srgbClr val="999999"/>
                      </a:solidFill>
                      <a:prstDash val="solid"/>
                      <a:round/>
                      <a:headEnd len="sm" w="sm" type="none"/>
                      <a:tailEnd len="sm" w="sm" type="none"/>
                    </a:lnL>
                    <a:lnR cap="flat" cmpd="sng" w="7150">
                      <a:solidFill>
                        <a:srgbClr val="999999"/>
                      </a:solidFill>
                      <a:prstDash val="solid"/>
                      <a:round/>
                      <a:headEnd len="sm" w="sm" type="none"/>
                      <a:tailEnd len="sm" w="sm" type="none"/>
                    </a:lnR>
                    <a:lnT cap="flat" cmpd="sng" w="7150">
                      <a:solidFill>
                        <a:srgbClr val="999999"/>
                      </a:solidFill>
                      <a:prstDash val="solid"/>
                      <a:round/>
                      <a:headEnd len="sm" w="sm" type="none"/>
                      <a:tailEnd len="sm" w="sm" type="none"/>
                    </a:lnT>
                    <a:lnB cap="flat" cmpd="sng" w="7150">
                      <a:solidFill>
                        <a:srgbClr val="999999"/>
                      </a:solidFill>
                      <a:prstDash val="solid"/>
                      <a:round/>
                      <a:headEnd len="sm" w="sm" type="none"/>
                      <a:tailEnd len="sm" w="sm" type="none"/>
                    </a:lnB>
                    <a:solidFill>
                      <a:srgbClr val="D5E8F0"/>
                    </a:solidFill>
                  </a:tcPr>
                </a:tc>
                <a:tc>
                  <a:txBody>
                    <a:bodyPr/>
                    <a:lstStyle/>
                    <a:p>
                      <a:pPr indent="0" lvl="0" marL="0" rtl="0" algn="just">
                        <a:lnSpc>
                          <a:spcPct val="115000"/>
                        </a:lnSpc>
                        <a:spcBef>
                          <a:spcPts val="1200"/>
                        </a:spcBef>
                        <a:spcAft>
                          <a:spcPts val="800"/>
                        </a:spcAft>
                        <a:buNone/>
                      </a:pPr>
                      <a:r>
                        <a:rPr b="1" lang="en-US" sz="1100"/>
                        <a:t>Selected</a:t>
                      </a:r>
                      <a:endParaRPr b="1" sz="1100"/>
                    </a:p>
                  </a:txBody>
                  <a:tcPr marT="38100" marB="38100" marR="63500" marL="63500">
                    <a:lnL cap="flat" cmpd="sng" w="7150">
                      <a:solidFill>
                        <a:srgbClr val="999999"/>
                      </a:solidFill>
                      <a:prstDash val="solid"/>
                      <a:round/>
                      <a:headEnd len="sm" w="sm" type="none"/>
                      <a:tailEnd len="sm" w="sm" type="none"/>
                    </a:lnL>
                    <a:lnR cap="flat" cmpd="sng" w="7150">
                      <a:solidFill>
                        <a:srgbClr val="999999"/>
                      </a:solidFill>
                      <a:prstDash val="solid"/>
                      <a:round/>
                      <a:headEnd len="sm" w="sm" type="none"/>
                      <a:tailEnd len="sm" w="sm" type="none"/>
                    </a:lnR>
                    <a:lnT cap="flat" cmpd="sng" w="7150">
                      <a:solidFill>
                        <a:srgbClr val="999999"/>
                      </a:solidFill>
                      <a:prstDash val="solid"/>
                      <a:round/>
                      <a:headEnd len="sm" w="sm" type="none"/>
                      <a:tailEnd len="sm" w="sm" type="none"/>
                    </a:lnT>
                    <a:lnB cap="flat" cmpd="sng" w="7150">
                      <a:solidFill>
                        <a:srgbClr val="999999"/>
                      </a:solidFill>
                      <a:prstDash val="solid"/>
                      <a:round/>
                      <a:headEnd len="sm" w="sm" type="none"/>
                      <a:tailEnd len="sm" w="sm" type="none"/>
                    </a:lnB>
                    <a:solidFill>
                      <a:srgbClr val="D5E8F0"/>
                    </a:solidFill>
                  </a:tcPr>
                </a:tc>
              </a:tr>
              <a:tr h="342900">
                <a:tc>
                  <a:txBody>
                    <a:bodyPr/>
                    <a:lstStyle/>
                    <a:p>
                      <a:pPr indent="0" lvl="0" marL="0" rtl="0" algn="just">
                        <a:lnSpc>
                          <a:spcPct val="115000"/>
                        </a:lnSpc>
                        <a:spcBef>
                          <a:spcPts val="1200"/>
                        </a:spcBef>
                        <a:spcAft>
                          <a:spcPts val="800"/>
                        </a:spcAft>
                        <a:buNone/>
                      </a:pPr>
                      <a:r>
                        <a:rPr lang="en-US"/>
                        <a:t>Logistic Regression (baseline)</a:t>
                      </a:r>
                      <a:endParaRPr/>
                    </a:p>
                  </a:txBody>
                  <a:tcPr marT="38100" marB="38100" marR="63500" marL="63500">
                    <a:lnL cap="flat" cmpd="sng" w="7150">
                      <a:solidFill>
                        <a:srgbClr val="999999"/>
                      </a:solidFill>
                      <a:prstDash val="solid"/>
                      <a:round/>
                      <a:headEnd len="sm" w="sm" type="none"/>
                      <a:tailEnd len="sm" w="sm" type="none"/>
                    </a:lnL>
                    <a:lnR cap="flat" cmpd="sng" w="7150">
                      <a:solidFill>
                        <a:srgbClr val="999999"/>
                      </a:solidFill>
                      <a:prstDash val="solid"/>
                      <a:round/>
                      <a:headEnd len="sm" w="sm" type="none"/>
                      <a:tailEnd len="sm" w="sm" type="none"/>
                    </a:lnR>
                    <a:lnT cap="flat" cmpd="sng" w="7150">
                      <a:solidFill>
                        <a:srgbClr val="999999"/>
                      </a:solidFill>
                      <a:prstDash val="solid"/>
                      <a:round/>
                      <a:headEnd len="sm" w="sm" type="none"/>
                      <a:tailEnd len="sm" w="sm" type="none"/>
                    </a:lnT>
                    <a:lnB cap="flat" cmpd="sng" w="7150">
                      <a:solidFill>
                        <a:srgbClr val="999999"/>
                      </a:solidFill>
                      <a:prstDash val="solid"/>
                      <a:round/>
                      <a:headEnd len="sm" w="sm" type="none"/>
                      <a:tailEnd len="sm" w="sm" type="none"/>
                    </a:lnB>
                  </a:tcPr>
                </a:tc>
                <a:tc>
                  <a:txBody>
                    <a:bodyPr/>
                    <a:lstStyle/>
                    <a:p>
                      <a:pPr indent="0" lvl="0" marL="0" rtl="0" algn="just">
                        <a:lnSpc>
                          <a:spcPct val="115000"/>
                        </a:lnSpc>
                        <a:spcBef>
                          <a:spcPts val="1200"/>
                        </a:spcBef>
                        <a:spcAft>
                          <a:spcPts val="800"/>
                        </a:spcAft>
                        <a:buNone/>
                      </a:pPr>
                      <a:r>
                        <a:rPr lang="en-US"/>
                        <a:t>0.830</a:t>
                      </a:r>
                      <a:endParaRPr/>
                    </a:p>
                  </a:txBody>
                  <a:tcPr marT="38100" marB="38100" marR="63500" marL="63500">
                    <a:lnL cap="flat" cmpd="sng" w="7150">
                      <a:solidFill>
                        <a:srgbClr val="999999"/>
                      </a:solidFill>
                      <a:prstDash val="solid"/>
                      <a:round/>
                      <a:headEnd len="sm" w="sm" type="none"/>
                      <a:tailEnd len="sm" w="sm" type="none"/>
                    </a:lnL>
                    <a:lnR cap="flat" cmpd="sng" w="7150">
                      <a:solidFill>
                        <a:srgbClr val="999999"/>
                      </a:solidFill>
                      <a:prstDash val="solid"/>
                      <a:round/>
                      <a:headEnd len="sm" w="sm" type="none"/>
                      <a:tailEnd len="sm" w="sm" type="none"/>
                    </a:lnR>
                    <a:lnT cap="flat" cmpd="sng" w="7150">
                      <a:solidFill>
                        <a:srgbClr val="999999"/>
                      </a:solidFill>
                      <a:prstDash val="solid"/>
                      <a:round/>
                      <a:headEnd len="sm" w="sm" type="none"/>
                      <a:tailEnd len="sm" w="sm" type="none"/>
                    </a:lnT>
                    <a:lnB cap="flat" cmpd="sng" w="7150">
                      <a:solidFill>
                        <a:srgbClr val="999999"/>
                      </a:solidFill>
                      <a:prstDash val="solid"/>
                      <a:round/>
                      <a:headEnd len="sm" w="sm" type="none"/>
                      <a:tailEnd len="sm" w="sm" type="none"/>
                    </a:lnB>
                  </a:tcPr>
                </a:tc>
                <a:tc>
                  <a:txBody>
                    <a:bodyPr/>
                    <a:lstStyle/>
                    <a:p>
                      <a:pPr indent="0" lvl="0" marL="0" rtl="0" algn="just">
                        <a:lnSpc>
                          <a:spcPct val="115000"/>
                        </a:lnSpc>
                        <a:spcBef>
                          <a:spcPts val="1200"/>
                        </a:spcBef>
                        <a:spcAft>
                          <a:spcPts val="800"/>
                        </a:spcAft>
                        <a:buNone/>
                      </a:pPr>
                      <a:r>
                        <a:rPr lang="en-US"/>
                        <a:t>No</a:t>
                      </a:r>
                      <a:endParaRPr/>
                    </a:p>
                  </a:txBody>
                  <a:tcPr marT="38100" marB="38100" marR="63500" marL="63500">
                    <a:lnL cap="flat" cmpd="sng" w="7150">
                      <a:solidFill>
                        <a:srgbClr val="999999"/>
                      </a:solidFill>
                      <a:prstDash val="solid"/>
                      <a:round/>
                      <a:headEnd len="sm" w="sm" type="none"/>
                      <a:tailEnd len="sm" w="sm" type="none"/>
                    </a:lnL>
                    <a:lnR cap="flat" cmpd="sng" w="7150">
                      <a:solidFill>
                        <a:srgbClr val="999999"/>
                      </a:solidFill>
                      <a:prstDash val="solid"/>
                      <a:round/>
                      <a:headEnd len="sm" w="sm" type="none"/>
                      <a:tailEnd len="sm" w="sm" type="none"/>
                    </a:lnR>
                    <a:lnT cap="flat" cmpd="sng" w="7150">
                      <a:solidFill>
                        <a:srgbClr val="999999"/>
                      </a:solidFill>
                      <a:prstDash val="solid"/>
                      <a:round/>
                      <a:headEnd len="sm" w="sm" type="none"/>
                      <a:tailEnd len="sm" w="sm" type="none"/>
                    </a:lnT>
                    <a:lnB cap="flat" cmpd="sng" w="7150">
                      <a:solidFill>
                        <a:srgbClr val="999999"/>
                      </a:solidFill>
                      <a:prstDash val="solid"/>
                      <a:round/>
                      <a:headEnd len="sm" w="sm" type="none"/>
                      <a:tailEnd len="sm" w="sm" type="none"/>
                    </a:lnB>
                  </a:tcPr>
                </a:tc>
              </a:tr>
              <a:tr h="342900">
                <a:tc>
                  <a:txBody>
                    <a:bodyPr/>
                    <a:lstStyle/>
                    <a:p>
                      <a:pPr indent="0" lvl="0" marL="0" rtl="0" algn="just">
                        <a:lnSpc>
                          <a:spcPct val="115000"/>
                        </a:lnSpc>
                        <a:spcBef>
                          <a:spcPts val="1200"/>
                        </a:spcBef>
                        <a:spcAft>
                          <a:spcPts val="800"/>
                        </a:spcAft>
                        <a:buNone/>
                      </a:pPr>
                      <a:r>
                        <a:rPr lang="en-US"/>
                        <a:t>XGBoost (primary)</a:t>
                      </a:r>
                      <a:endParaRPr/>
                    </a:p>
                  </a:txBody>
                  <a:tcPr marT="38100" marB="38100" marR="63500" marL="63500">
                    <a:lnL cap="flat" cmpd="sng" w="7150">
                      <a:solidFill>
                        <a:srgbClr val="999999"/>
                      </a:solidFill>
                      <a:prstDash val="solid"/>
                      <a:round/>
                      <a:headEnd len="sm" w="sm" type="none"/>
                      <a:tailEnd len="sm" w="sm" type="none"/>
                    </a:lnL>
                    <a:lnR cap="flat" cmpd="sng" w="7150">
                      <a:solidFill>
                        <a:srgbClr val="999999"/>
                      </a:solidFill>
                      <a:prstDash val="solid"/>
                      <a:round/>
                      <a:headEnd len="sm" w="sm" type="none"/>
                      <a:tailEnd len="sm" w="sm" type="none"/>
                    </a:lnR>
                    <a:lnT cap="flat" cmpd="sng" w="7150">
                      <a:solidFill>
                        <a:srgbClr val="999999"/>
                      </a:solidFill>
                      <a:prstDash val="solid"/>
                      <a:round/>
                      <a:headEnd len="sm" w="sm" type="none"/>
                      <a:tailEnd len="sm" w="sm" type="none"/>
                    </a:lnT>
                    <a:lnB cap="flat" cmpd="sng" w="7150">
                      <a:solidFill>
                        <a:srgbClr val="999999"/>
                      </a:solidFill>
                      <a:prstDash val="solid"/>
                      <a:round/>
                      <a:headEnd len="sm" w="sm" type="none"/>
                      <a:tailEnd len="sm" w="sm" type="none"/>
                    </a:lnB>
                  </a:tcPr>
                </a:tc>
                <a:tc>
                  <a:txBody>
                    <a:bodyPr/>
                    <a:lstStyle/>
                    <a:p>
                      <a:pPr indent="0" lvl="0" marL="0" rtl="0" algn="just">
                        <a:lnSpc>
                          <a:spcPct val="115000"/>
                        </a:lnSpc>
                        <a:spcBef>
                          <a:spcPts val="1200"/>
                        </a:spcBef>
                        <a:spcAft>
                          <a:spcPts val="800"/>
                        </a:spcAft>
                        <a:buNone/>
                      </a:pPr>
                      <a:r>
                        <a:rPr lang="en-US"/>
                        <a:t>0.848</a:t>
                      </a:r>
                      <a:endParaRPr/>
                    </a:p>
                  </a:txBody>
                  <a:tcPr marT="38100" marB="38100" marR="63500" marL="63500">
                    <a:lnL cap="flat" cmpd="sng" w="7150">
                      <a:solidFill>
                        <a:srgbClr val="999999"/>
                      </a:solidFill>
                      <a:prstDash val="solid"/>
                      <a:round/>
                      <a:headEnd len="sm" w="sm" type="none"/>
                      <a:tailEnd len="sm" w="sm" type="none"/>
                    </a:lnL>
                    <a:lnR cap="flat" cmpd="sng" w="7150">
                      <a:solidFill>
                        <a:srgbClr val="999999"/>
                      </a:solidFill>
                      <a:prstDash val="solid"/>
                      <a:round/>
                      <a:headEnd len="sm" w="sm" type="none"/>
                      <a:tailEnd len="sm" w="sm" type="none"/>
                    </a:lnR>
                    <a:lnT cap="flat" cmpd="sng" w="7150">
                      <a:solidFill>
                        <a:srgbClr val="999999"/>
                      </a:solidFill>
                      <a:prstDash val="solid"/>
                      <a:round/>
                      <a:headEnd len="sm" w="sm" type="none"/>
                      <a:tailEnd len="sm" w="sm" type="none"/>
                    </a:lnT>
                    <a:lnB cap="flat" cmpd="sng" w="7150">
                      <a:solidFill>
                        <a:srgbClr val="999999"/>
                      </a:solidFill>
                      <a:prstDash val="solid"/>
                      <a:round/>
                      <a:headEnd len="sm" w="sm" type="none"/>
                      <a:tailEnd len="sm" w="sm" type="none"/>
                    </a:lnB>
                  </a:tcPr>
                </a:tc>
                <a:tc>
                  <a:txBody>
                    <a:bodyPr/>
                    <a:lstStyle/>
                    <a:p>
                      <a:pPr indent="0" lvl="0" marL="0" rtl="0" algn="just">
                        <a:lnSpc>
                          <a:spcPct val="115000"/>
                        </a:lnSpc>
                        <a:spcBef>
                          <a:spcPts val="1200"/>
                        </a:spcBef>
                        <a:spcAft>
                          <a:spcPts val="800"/>
                        </a:spcAft>
                        <a:buNone/>
                      </a:pPr>
                      <a:r>
                        <a:rPr lang="en-US"/>
                        <a:t>Yes</a:t>
                      </a:r>
                      <a:endParaRPr/>
                    </a:p>
                  </a:txBody>
                  <a:tcPr marT="38100" marB="38100" marR="63500" marL="63500">
                    <a:lnL cap="flat" cmpd="sng" w="7150">
                      <a:solidFill>
                        <a:srgbClr val="999999"/>
                      </a:solidFill>
                      <a:prstDash val="solid"/>
                      <a:round/>
                      <a:headEnd len="sm" w="sm" type="none"/>
                      <a:tailEnd len="sm" w="sm" type="none"/>
                    </a:lnL>
                    <a:lnR cap="flat" cmpd="sng" w="7150">
                      <a:solidFill>
                        <a:srgbClr val="999999"/>
                      </a:solidFill>
                      <a:prstDash val="solid"/>
                      <a:round/>
                      <a:headEnd len="sm" w="sm" type="none"/>
                      <a:tailEnd len="sm" w="sm" type="none"/>
                    </a:lnR>
                    <a:lnT cap="flat" cmpd="sng" w="7150">
                      <a:solidFill>
                        <a:srgbClr val="999999"/>
                      </a:solidFill>
                      <a:prstDash val="solid"/>
                      <a:round/>
                      <a:headEnd len="sm" w="sm" type="none"/>
                      <a:tailEnd len="sm" w="sm" type="none"/>
                    </a:lnT>
                    <a:lnB cap="flat" cmpd="sng" w="7150">
                      <a:solidFill>
                        <a:srgbClr val="999999"/>
                      </a:solidFill>
                      <a:prstDash val="solid"/>
                      <a:round/>
                      <a:headEnd len="sm" w="sm" type="none"/>
                      <a:tailEnd len="sm" w="sm" type="none"/>
                    </a:lnB>
                  </a:tcPr>
                </a:tc>
              </a:tr>
            </a:tbl>
          </a:graphicData>
        </a:graphic>
      </p:graphicFrame>
      <p:sp>
        <p:nvSpPr>
          <p:cNvPr id="132" name="Google Shape;132;g3f26303b58d_0_90"/>
          <p:cNvSpPr/>
          <p:nvPr/>
        </p:nvSpPr>
        <p:spPr>
          <a:xfrm>
            <a:off x="731525" y="3670649"/>
            <a:ext cx="7680900" cy="992700"/>
          </a:xfrm>
          <a:prstGeom prst="roundRect">
            <a:avLst>
              <a:gd fmla="val 11111" name="adj"/>
            </a:avLst>
          </a:prstGeom>
          <a:solidFill>
            <a:srgbClr val="FFF8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g3f26303b58d_0_90"/>
          <p:cNvSpPr/>
          <p:nvPr/>
        </p:nvSpPr>
        <p:spPr>
          <a:xfrm>
            <a:off x="914400" y="3670650"/>
            <a:ext cx="7315200" cy="9471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1B3D"/>
              </a:buClr>
              <a:buSzPts val="1300"/>
              <a:buFont typeface="Calibri"/>
              <a:buNone/>
            </a:pPr>
            <a:r>
              <a:rPr lang="en-US" sz="1300">
                <a:solidFill>
                  <a:srgbClr val="0F1B3D"/>
                </a:solidFill>
                <a:latin typeface="Calibri"/>
                <a:ea typeface="Calibri"/>
                <a:cs typeface="Calibri"/>
                <a:sym typeface="Calibri"/>
              </a:rPr>
              <a:t>XGBoost produced the highest predictive performance (AUC = 0.842) and was selected as the common scoring model. The resulting probability scores were generated once and reused unchanged across Systems 1, 2 and 3 so that the effect of the qualification layer could be evaluated independently of the predictive model.</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8" name="Shape 138"/>
        <p:cNvGrpSpPr/>
        <p:nvPr/>
      </p:nvGrpSpPr>
      <p:grpSpPr>
        <a:xfrm>
          <a:off x="0" y="0"/>
          <a:ext cx="0" cy="0"/>
          <a:chOff x="0" y="0"/>
          <a:chExt cx="0" cy="0"/>
        </a:xfrm>
      </p:grpSpPr>
      <p:sp>
        <p:nvSpPr>
          <p:cNvPr id="139" name="Google Shape;139;g3f26303b58d_2_0"/>
          <p:cNvSpPr/>
          <p:nvPr/>
        </p:nvSpPr>
        <p:spPr>
          <a:xfrm>
            <a:off x="731520" y="274320"/>
            <a:ext cx="768096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2800"/>
              <a:buFont typeface="Calibri"/>
              <a:buNone/>
            </a:pPr>
            <a:r>
              <a:rPr b="1" i="0" lang="en-US" sz="2800" u="none" cap="none" strike="noStrike">
                <a:solidFill>
                  <a:srgbClr val="1E2761"/>
                </a:solidFill>
                <a:latin typeface="Calibri"/>
                <a:ea typeface="Calibri"/>
                <a:cs typeface="Calibri"/>
                <a:sym typeface="Calibri"/>
              </a:rPr>
              <a:t>How System 2 changes allocation</a:t>
            </a:r>
            <a:endParaRPr b="0" i="0" sz="2800" u="none" cap="none" strike="noStrike">
              <a:solidFill>
                <a:schemeClr val="dk1"/>
              </a:solidFill>
              <a:latin typeface="Calibri"/>
              <a:ea typeface="Calibri"/>
              <a:cs typeface="Calibri"/>
              <a:sym typeface="Calibri"/>
            </a:endParaRPr>
          </a:p>
        </p:txBody>
      </p:sp>
      <p:sp>
        <p:nvSpPr>
          <p:cNvPr id="140" name="Google Shape;140;g3f26303b58d_2_0"/>
          <p:cNvSpPr/>
          <p:nvPr/>
        </p:nvSpPr>
        <p:spPr>
          <a:xfrm>
            <a:off x="731520" y="731520"/>
            <a:ext cx="768096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1400"/>
              <a:buFont typeface="Calibri"/>
              <a:buNone/>
            </a:pPr>
            <a:r>
              <a:rPr b="0" i="1" lang="en-US" sz="1400" u="none" cap="none" strike="noStrike">
                <a:solidFill>
                  <a:srgbClr val="64748B"/>
                </a:solidFill>
                <a:latin typeface="Calibri"/>
                <a:ea typeface="Calibri"/>
                <a:cs typeface="Calibri"/>
                <a:sym typeface="Calibri"/>
              </a:rPr>
              <a:t>Same K = 302 leads </a:t>
            </a:r>
            <a:r>
              <a:rPr i="1" lang="en-US">
                <a:solidFill>
                  <a:srgbClr val="64748B"/>
                </a:solidFill>
                <a:latin typeface="Calibri"/>
                <a:ea typeface="Calibri"/>
                <a:cs typeface="Calibri"/>
                <a:sym typeface="Calibri"/>
              </a:rPr>
              <a:t>with a</a:t>
            </a:r>
            <a:r>
              <a:rPr b="0" i="1" lang="en-US" sz="1400" u="none" cap="none" strike="noStrike">
                <a:solidFill>
                  <a:srgbClr val="64748B"/>
                </a:solidFill>
                <a:latin typeface="Calibri"/>
                <a:ea typeface="Calibri"/>
                <a:cs typeface="Calibri"/>
                <a:sym typeface="Calibri"/>
              </a:rPr>
              <a:t> different composition</a:t>
            </a:r>
            <a:endParaRPr b="0" i="0" sz="1400" u="none" cap="none" strike="noStrike">
              <a:solidFill>
                <a:schemeClr val="dk1"/>
              </a:solidFill>
              <a:latin typeface="Calibri"/>
              <a:ea typeface="Calibri"/>
              <a:cs typeface="Calibri"/>
              <a:sym typeface="Calibri"/>
            </a:endParaRPr>
          </a:p>
        </p:txBody>
      </p:sp>
      <p:sp>
        <p:nvSpPr>
          <p:cNvPr id="141" name="Google Shape;141;g3f26303b58d_2_0"/>
          <p:cNvSpPr/>
          <p:nvPr/>
        </p:nvSpPr>
        <p:spPr>
          <a:xfrm>
            <a:off x="731520" y="1371600"/>
            <a:ext cx="1371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400"/>
              <a:buFont typeface="Calibri"/>
              <a:buNone/>
            </a:pPr>
            <a:r>
              <a:rPr b="1" i="0" lang="en-US" sz="1400" u="none" cap="none" strike="noStrike">
                <a:solidFill>
                  <a:srgbClr val="1E2761"/>
                </a:solidFill>
                <a:latin typeface="Calibri"/>
                <a:ea typeface="Calibri"/>
                <a:cs typeface="Calibri"/>
                <a:sym typeface="Calibri"/>
              </a:rPr>
              <a:t>System 1</a:t>
            </a:r>
            <a:endParaRPr b="0" i="0" sz="1400" u="none" cap="none" strike="noStrike">
              <a:solidFill>
                <a:schemeClr val="dk1"/>
              </a:solidFill>
              <a:latin typeface="Calibri"/>
              <a:ea typeface="Calibri"/>
              <a:cs typeface="Calibri"/>
              <a:sym typeface="Calibri"/>
            </a:endParaRPr>
          </a:p>
        </p:txBody>
      </p:sp>
      <p:sp>
        <p:nvSpPr>
          <p:cNvPr id="142" name="Google Shape;142;g3f26303b58d_2_0"/>
          <p:cNvSpPr/>
          <p:nvPr/>
        </p:nvSpPr>
        <p:spPr>
          <a:xfrm>
            <a:off x="731520" y="1691640"/>
            <a:ext cx="1371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100"/>
              <a:buFont typeface="Calibri"/>
              <a:buNone/>
            </a:pPr>
            <a:r>
              <a:rPr b="0" i="1" lang="en-US" sz="1100" u="none" cap="none" strike="noStrike">
                <a:solidFill>
                  <a:srgbClr val="64748B"/>
                </a:solidFill>
                <a:latin typeface="Calibri"/>
                <a:ea typeface="Calibri"/>
                <a:cs typeface="Calibri"/>
                <a:sym typeface="Calibri"/>
              </a:rPr>
              <a:t>ML baseline</a:t>
            </a:r>
            <a:endParaRPr b="0" i="0" sz="1100" u="none" cap="none" strike="noStrike">
              <a:solidFill>
                <a:schemeClr val="dk1"/>
              </a:solidFill>
              <a:latin typeface="Calibri"/>
              <a:ea typeface="Calibri"/>
              <a:cs typeface="Calibri"/>
              <a:sym typeface="Calibri"/>
            </a:endParaRPr>
          </a:p>
        </p:txBody>
      </p:sp>
      <p:sp>
        <p:nvSpPr>
          <p:cNvPr id="143" name="Google Shape;143;g3f26303b58d_2_0"/>
          <p:cNvSpPr/>
          <p:nvPr/>
        </p:nvSpPr>
        <p:spPr>
          <a:xfrm>
            <a:off x="2286000" y="1371600"/>
            <a:ext cx="6126480" cy="640080"/>
          </a:xfrm>
          <a:prstGeom prst="roundRect">
            <a:avLst>
              <a:gd fmla="val 11429" name="adj"/>
            </a:avLst>
          </a:prstGeom>
          <a:solidFill>
            <a:srgbClr val="D6D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g3f26303b58d_2_0"/>
          <p:cNvSpPr/>
          <p:nvPr/>
        </p:nvSpPr>
        <p:spPr>
          <a:xfrm>
            <a:off x="2286000" y="1371600"/>
            <a:ext cx="612648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E2761"/>
              </a:buClr>
              <a:buSzPts val="1300"/>
              <a:buFont typeface="Calibri"/>
              <a:buNone/>
            </a:pPr>
            <a:r>
              <a:rPr b="0" i="0" lang="en-US" sz="1300" u="none" cap="none" strike="noStrike">
                <a:solidFill>
                  <a:srgbClr val="1E2761"/>
                </a:solidFill>
                <a:latin typeface="Calibri"/>
                <a:ea typeface="Calibri"/>
                <a:cs typeface="Calibri"/>
                <a:sym typeface="Calibri"/>
              </a:rPr>
              <a:t>302 leads ranked by ML score only</a:t>
            </a:r>
            <a:endParaRPr b="0" i="0" sz="1300" u="none" cap="none" strike="noStrike">
              <a:solidFill>
                <a:schemeClr val="dk1"/>
              </a:solidFill>
              <a:latin typeface="Calibri"/>
              <a:ea typeface="Calibri"/>
              <a:cs typeface="Calibri"/>
              <a:sym typeface="Calibri"/>
            </a:endParaRPr>
          </a:p>
        </p:txBody>
      </p:sp>
      <p:sp>
        <p:nvSpPr>
          <p:cNvPr id="145" name="Google Shape;145;g3f26303b58d_2_0"/>
          <p:cNvSpPr/>
          <p:nvPr/>
        </p:nvSpPr>
        <p:spPr>
          <a:xfrm>
            <a:off x="6858000" y="2057400"/>
            <a:ext cx="155448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E2761"/>
              </a:buClr>
              <a:buSzPts val="1200"/>
              <a:buFont typeface="Calibri"/>
              <a:buNone/>
            </a:pPr>
            <a:r>
              <a:rPr b="1" i="0" lang="en-US" sz="1200" u="none" cap="none" strike="noStrike">
                <a:solidFill>
                  <a:srgbClr val="1E2761"/>
                </a:solidFill>
                <a:latin typeface="Calibri"/>
                <a:ea typeface="Calibri"/>
                <a:cs typeface="Calibri"/>
                <a:sym typeface="Calibri"/>
              </a:rPr>
              <a:t>265 converters</a:t>
            </a:r>
            <a:endParaRPr b="0" i="0" sz="1200" u="none" cap="none" strike="noStrike">
              <a:solidFill>
                <a:schemeClr val="dk1"/>
              </a:solidFill>
              <a:latin typeface="Calibri"/>
              <a:ea typeface="Calibri"/>
              <a:cs typeface="Calibri"/>
              <a:sym typeface="Calibri"/>
            </a:endParaRPr>
          </a:p>
        </p:txBody>
      </p:sp>
      <p:sp>
        <p:nvSpPr>
          <p:cNvPr id="146" name="Google Shape;146;g3f26303b58d_2_0"/>
          <p:cNvSpPr/>
          <p:nvPr/>
        </p:nvSpPr>
        <p:spPr>
          <a:xfrm>
            <a:off x="731520" y="2743200"/>
            <a:ext cx="1371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593C"/>
              </a:buClr>
              <a:buSzPts val="1400"/>
              <a:buFont typeface="Calibri"/>
              <a:buNone/>
            </a:pPr>
            <a:r>
              <a:rPr b="1" i="0" lang="en-US" sz="1400" u="none" cap="none" strike="noStrike">
                <a:solidFill>
                  <a:srgbClr val="E8593C"/>
                </a:solidFill>
                <a:latin typeface="Calibri"/>
                <a:ea typeface="Calibri"/>
                <a:cs typeface="Calibri"/>
                <a:sym typeface="Calibri"/>
              </a:rPr>
              <a:t>System 2</a:t>
            </a:r>
            <a:endParaRPr b="0" i="0" sz="1400" u="none" cap="none" strike="noStrike">
              <a:solidFill>
                <a:schemeClr val="dk1"/>
              </a:solidFill>
              <a:latin typeface="Calibri"/>
              <a:ea typeface="Calibri"/>
              <a:cs typeface="Calibri"/>
              <a:sym typeface="Calibri"/>
            </a:endParaRPr>
          </a:p>
        </p:txBody>
      </p:sp>
      <p:sp>
        <p:nvSpPr>
          <p:cNvPr id="147" name="Google Shape;147;g3f26303b58d_2_0"/>
          <p:cNvSpPr/>
          <p:nvPr/>
        </p:nvSpPr>
        <p:spPr>
          <a:xfrm>
            <a:off x="731520" y="3063240"/>
            <a:ext cx="1371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100"/>
              <a:buFont typeface="Calibri"/>
              <a:buNone/>
            </a:pPr>
            <a:r>
              <a:rPr b="0" i="1" lang="en-US" sz="1100" u="none" cap="none" strike="noStrike">
                <a:solidFill>
                  <a:srgbClr val="64748B"/>
                </a:solidFill>
                <a:latin typeface="Calibri"/>
                <a:ea typeface="Calibri"/>
                <a:cs typeface="Calibri"/>
                <a:sym typeface="Calibri"/>
              </a:rPr>
              <a:t>Tier qualification</a:t>
            </a:r>
            <a:endParaRPr b="0" i="0" sz="1100" u="none" cap="none" strike="noStrike">
              <a:solidFill>
                <a:schemeClr val="dk1"/>
              </a:solidFill>
              <a:latin typeface="Calibri"/>
              <a:ea typeface="Calibri"/>
              <a:cs typeface="Calibri"/>
              <a:sym typeface="Calibri"/>
            </a:endParaRPr>
          </a:p>
        </p:txBody>
      </p:sp>
      <p:sp>
        <p:nvSpPr>
          <p:cNvPr id="148" name="Google Shape;148;g3f26303b58d_2_0"/>
          <p:cNvSpPr/>
          <p:nvPr/>
        </p:nvSpPr>
        <p:spPr>
          <a:xfrm>
            <a:off x="2286000" y="2743200"/>
            <a:ext cx="1828800" cy="640080"/>
          </a:xfrm>
          <a:prstGeom prst="roundRect">
            <a:avLst>
              <a:gd fmla="val 11429" name="adj"/>
            </a:avLst>
          </a:prstGeom>
          <a:solidFill>
            <a:srgbClr val="E859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g3f26303b58d_2_0"/>
          <p:cNvSpPr/>
          <p:nvPr/>
        </p:nvSpPr>
        <p:spPr>
          <a:xfrm>
            <a:off x="2286000" y="2743200"/>
            <a:ext cx="182880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P1: 92 leads</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Working </a:t>
            </a:r>
            <a:r>
              <a:rPr b="1" lang="en-US" sz="1100">
                <a:solidFill>
                  <a:srgbClr val="FFFFFF"/>
                </a:solidFill>
                <a:latin typeface="Calibri"/>
                <a:ea typeface="Calibri"/>
                <a:cs typeface="Calibri"/>
                <a:sym typeface="Calibri"/>
              </a:rPr>
              <a:t>Professionals</a:t>
            </a:r>
            <a:endParaRPr b="0" i="0" sz="1100" u="none" cap="none" strike="noStrike">
              <a:solidFill>
                <a:schemeClr val="dk1"/>
              </a:solidFill>
              <a:latin typeface="Calibri"/>
              <a:ea typeface="Calibri"/>
              <a:cs typeface="Calibri"/>
              <a:sym typeface="Calibri"/>
            </a:endParaRPr>
          </a:p>
        </p:txBody>
      </p:sp>
      <p:sp>
        <p:nvSpPr>
          <p:cNvPr id="150" name="Google Shape;150;g3f26303b58d_2_0"/>
          <p:cNvSpPr/>
          <p:nvPr/>
        </p:nvSpPr>
        <p:spPr>
          <a:xfrm>
            <a:off x="4160520" y="2743200"/>
            <a:ext cx="2377440" cy="640080"/>
          </a:xfrm>
          <a:prstGeom prst="roundRect">
            <a:avLst>
              <a:gd fmla="val 11429" name="adj"/>
            </a:avLst>
          </a:prstGeom>
          <a:solidFill>
            <a:srgbClr val="F4A2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g3f26303b58d_2_0"/>
          <p:cNvSpPr/>
          <p:nvPr/>
        </p:nvSpPr>
        <p:spPr>
          <a:xfrm>
            <a:off x="4160520" y="2743200"/>
            <a:ext cx="237744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1B3D"/>
              </a:buClr>
              <a:buSzPts val="1100"/>
              <a:buFont typeface="Calibri"/>
              <a:buNone/>
            </a:pPr>
            <a:r>
              <a:rPr b="1" i="0" lang="en-US" sz="1100" u="none" cap="none" strike="noStrike">
                <a:solidFill>
                  <a:srgbClr val="0F1B3D"/>
                </a:solidFill>
                <a:latin typeface="Calibri"/>
                <a:ea typeface="Calibri"/>
                <a:cs typeface="Calibri"/>
                <a:sym typeface="Calibri"/>
              </a:rPr>
              <a:t>P2: 120 leads</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F1B3D"/>
              </a:buClr>
              <a:buSzPts val="1100"/>
              <a:buFont typeface="Calibri"/>
              <a:buNone/>
            </a:pPr>
            <a:r>
              <a:rPr b="1" i="0" lang="en-US" sz="1100" u="none" cap="none" strike="noStrike">
                <a:solidFill>
                  <a:srgbClr val="0F1B3D"/>
                </a:solidFill>
                <a:latin typeface="Calibri"/>
                <a:ea typeface="Calibri"/>
                <a:cs typeface="Calibri"/>
                <a:sym typeface="Calibri"/>
              </a:rPr>
              <a:t>SMS Sent</a:t>
            </a:r>
            <a:endParaRPr b="0" i="0" sz="1100" u="none" cap="none" strike="noStrike">
              <a:solidFill>
                <a:schemeClr val="dk1"/>
              </a:solidFill>
              <a:latin typeface="Calibri"/>
              <a:ea typeface="Calibri"/>
              <a:cs typeface="Calibri"/>
              <a:sym typeface="Calibri"/>
            </a:endParaRPr>
          </a:p>
        </p:txBody>
      </p:sp>
      <p:sp>
        <p:nvSpPr>
          <p:cNvPr id="152" name="Google Shape;152;g3f26303b58d_2_0"/>
          <p:cNvSpPr/>
          <p:nvPr/>
        </p:nvSpPr>
        <p:spPr>
          <a:xfrm>
            <a:off x="6583680" y="2743200"/>
            <a:ext cx="1828800" cy="640080"/>
          </a:xfrm>
          <a:prstGeom prst="roundRect">
            <a:avLst>
              <a:gd fmla="val 11429" name="adj"/>
            </a:avLst>
          </a:prstGeom>
          <a:solidFill>
            <a:srgbClr val="D6D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g3f26303b58d_2_0"/>
          <p:cNvSpPr/>
          <p:nvPr/>
        </p:nvSpPr>
        <p:spPr>
          <a:xfrm>
            <a:off x="6583680" y="2743200"/>
            <a:ext cx="182880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E2761"/>
              </a:buClr>
              <a:buSzPts val="1100"/>
              <a:buFont typeface="Calibri"/>
              <a:buNone/>
            </a:pPr>
            <a:r>
              <a:rPr b="1" i="0" lang="en-US" sz="1100" u="none" cap="none" strike="noStrike">
                <a:solidFill>
                  <a:srgbClr val="1E2761"/>
                </a:solidFill>
                <a:latin typeface="Calibri"/>
                <a:ea typeface="Calibri"/>
                <a:cs typeface="Calibri"/>
                <a:sym typeface="Calibri"/>
              </a:rPr>
              <a:t>ML: 90 leads</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E2761"/>
              </a:buClr>
              <a:buSzPts val="1100"/>
              <a:buFont typeface="Calibri"/>
              <a:buNone/>
            </a:pPr>
            <a:r>
              <a:rPr b="1" i="0" lang="en-US" sz="1100" u="none" cap="none" strike="noStrike">
                <a:solidFill>
                  <a:srgbClr val="1E2761"/>
                </a:solidFill>
                <a:latin typeface="Calibri"/>
                <a:ea typeface="Calibri"/>
                <a:cs typeface="Calibri"/>
                <a:sym typeface="Calibri"/>
              </a:rPr>
              <a:t>Overflow</a:t>
            </a:r>
            <a:endParaRPr b="0" i="0" sz="1100" u="none" cap="none" strike="noStrike">
              <a:solidFill>
                <a:schemeClr val="dk1"/>
              </a:solidFill>
              <a:latin typeface="Calibri"/>
              <a:ea typeface="Calibri"/>
              <a:cs typeface="Calibri"/>
              <a:sym typeface="Calibri"/>
            </a:endParaRPr>
          </a:p>
        </p:txBody>
      </p:sp>
      <p:sp>
        <p:nvSpPr>
          <p:cNvPr id="154" name="Google Shape;154;g3f26303b58d_2_0"/>
          <p:cNvSpPr/>
          <p:nvPr/>
        </p:nvSpPr>
        <p:spPr>
          <a:xfrm>
            <a:off x="6858000" y="3429000"/>
            <a:ext cx="155448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8593C"/>
              </a:buClr>
              <a:buSzPts val="1200"/>
              <a:buFont typeface="Calibri"/>
              <a:buNone/>
            </a:pPr>
            <a:r>
              <a:rPr b="1" i="0" lang="en-US" sz="1200" u="none" cap="none" strike="noStrike">
                <a:solidFill>
                  <a:srgbClr val="E8593C"/>
                </a:solidFill>
                <a:latin typeface="Calibri"/>
                <a:ea typeface="Calibri"/>
                <a:cs typeface="Calibri"/>
                <a:sym typeface="Calibri"/>
              </a:rPr>
              <a:t>270 converters (+5)</a:t>
            </a:r>
            <a:endParaRPr b="0" i="0" sz="1200" u="none" cap="none" strike="noStrike">
              <a:solidFill>
                <a:schemeClr val="dk1"/>
              </a:solidFill>
              <a:latin typeface="Calibri"/>
              <a:ea typeface="Calibri"/>
              <a:cs typeface="Calibri"/>
              <a:sym typeface="Calibri"/>
            </a:endParaRPr>
          </a:p>
        </p:txBody>
      </p:sp>
      <p:sp>
        <p:nvSpPr>
          <p:cNvPr id="155" name="Google Shape;155;g3f26303b58d_2_0"/>
          <p:cNvSpPr/>
          <p:nvPr/>
        </p:nvSpPr>
        <p:spPr>
          <a:xfrm>
            <a:off x="731520" y="3840480"/>
            <a:ext cx="7680960" cy="822960"/>
          </a:xfrm>
          <a:prstGeom prst="roundRect">
            <a:avLst>
              <a:gd fmla="val 11111" name="adj"/>
            </a:avLst>
          </a:prstGeom>
          <a:solidFill>
            <a:srgbClr val="FFF8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g3f26303b58d_2_0"/>
          <p:cNvSpPr/>
          <p:nvPr/>
        </p:nvSpPr>
        <p:spPr>
          <a:xfrm>
            <a:off x="914400" y="3886200"/>
            <a:ext cx="7315200" cy="7315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1B3D"/>
              </a:buClr>
              <a:buSzPts val="1300"/>
              <a:buFont typeface="Calibri"/>
              <a:buNone/>
            </a:pPr>
            <a:r>
              <a:rPr b="0" i="0" lang="en-US" sz="1300" u="none" cap="none" strike="noStrike">
                <a:solidFill>
                  <a:srgbClr val="0F1B3D"/>
                </a:solidFill>
                <a:latin typeface="Calibri"/>
                <a:ea typeface="Calibri"/>
                <a:cs typeface="Calibri"/>
                <a:sym typeface="Calibri"/>
              </a:rPr>
              <a:t>Tier membership determines allocation eligibility</a:t>
            </a:r>
            <a:r>
              <a:rPr i="0" lang="en-US" sz="1300" u="none" cap="none" strike="noStrike">
                <a:solidFill>
                  <a:srgbClr val="0F1B3D"/>
                </a:solidFill>
                <a:latin typeface="Calibri"/>
                <a:ea typeface="Calibri"/>
                <a:cs typeface="Calibri"/>
                <a:sym typeface="Calibri"/>
              </a:rPr>
              <a:t>. </a:t>
            </a:r>
            <a:r>
              <a:rPr lang="en-US" sz="1300">
                <a:solidFill>
                  <a:schemeClr val="dk1"/>
                </a:solidFill>
                <a:latin typeface="Calibri"/>
                <a:ea typeface="Calibri"/>
                <a:cs typeface="Calibri"/>
                <a:sym typeface="Calibri"/>
              </a:rPr>
              <a:t>E</a:t>
            </a:r>
            <a:r>
              <a:rPr lang="en-US" sz="1300">
                <a:solidFill>
                  <a:schemeClr val="dk1"/>
                </a:solidFill>
                <a:latin typeface="Calibri"/>
                <a:ea typeface="Calibri"/>
                <a:cs typeface="Calibri"/>
                <a:sym typeface="Calibri"/>
              </a:rPr>
              <a:t>ach tier is limited to a maximum of 40% of K (120 leads). </a:t>
            </a:r>
            <a:r>
              <a:rPr b="0" i="0" lang="en-US" sz="1300" u="none" cap="none" strike="noStrike">
                <a:solidFill>
                  <a:srgbClr val="0F1B3D"/>
                </a:solidFill>
                <a:latin typeface="Calibri"/>
                <a:ea typeface="Calibri"/>
                <a:cs typeface="Calibri"/>
                <a:sym typeface="Calibri"/>
              </a:rPr>
              <a:t>ML score determines ranking within</a:t>
            </a:r>
            <a:r>
              <a:rPr lang="en-US" sz="1300">
                <a:solidFill>
                  <a:schemeClr val="dk1"/>
                </a:solidFill>
                <a:latin typeface="Calibri"/>
                <a:ea typeface="Calibri"/>
                <a:cs typeface="Calibri"/>
                <a:sym typeface="Calibri"/>
              </a:rPr>
              <a:t> </a:t>
            </a:r>
            <a:r>
              <a:rPr b="0" i="0" lang="en-US" sz="1300" u="none" cap="none" strike="noStrike">
                <a:solidFill>
                  <a:srgbClr val="0F1B3D"/>
                </a:solidFill>
                <a:latin typeface="Calibri"/>
                <a:ea typeface="Calibri"/>
                <a:cs typeface="Calibri"/>
                <a:sym typeface="Calibri"/>
              </a:rPr>
              <a:t>each tier and prevents low-scoring leads from being promoted solely because of tier membership.</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1" name="Shape 161"/>
        <p:cNvGrpSpPr/>
        <p:nvPr/>
      </p:nvGrpSpPr>
      <p:grpSpPr>
        <a:xfrm>
          <a:off x="0" y="0"/>
          <a:ext cx="0" cy="0"/>
          <a:chOff x="0" y="0"/>
          <a:chExt cx="0" cy="0"/>
        </a:xfrm>
      </p:grpSpPr>
      <p:sp>
        <p:nvSpPr>
          <p:cNvPr id="162" name="Google Shape;162;g3f26303b58d_0_49"/>
          <p:cNvSpPr/>
          <p:nvPr/>
        </p:nvSpPr>
        <p:spPr>
          <a:xfrm>
            <a:off x="731520" y="274320"/>
            <a:ext cx="76809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2800"/>
              <a:buFont typeface="Calibri"/>
              <a:buNone/>
            </a:pPr>
            <a:r>
              <a:rPr b="1" i="0" lang="en-US" sz="2800" u="none" cap="none" strike="noStrike">
                <a:solidFill>
                  <a:srgbClr val="1E2761"/>
                </a:solidFill>
                <a:latin typeface="Calibri"/>
                <a:ea typeface="Calibri"/>
                <a:cs typeface="Calibri"/>
                <a:sym typeface="Calibri"/>
              </a:rPr>
              <a:t>How System 3 adjusts </a:t>
            </a:r>
            <a:r>
              <a:rPr b="1" lang="en-US" sz="2800">
                <a:solidFill>
                  <a:srgbClr val="1E2761"/>
                </a:solidFill>
                <a:latin typeface="Calibri"/>
                <a:ea typeface="Calibri"/>
                <a:cs typeface="Calibri"/>
                <a:sym typeface="Calibri"/>
              </a:rPr>
              <a:t>scores</a:t>
            </a:r>
            <a:endParaRPr b="0" i="0" sz="2800" u="none" cap="none" strike="noStrike">
              <a:solidFill>
                <a:schemeClr val="dk1"/>
              </a:solidFill>
              <a:latin typeface="Calibri"/>
              <a:ea typeface="Calibri"/>
              <a:cs typeface="Calibri"/>
              <a:sym typeface="Calibri"/>
            </a:endParaRPr>
          </a:p>
        </p:txBody>
      </p:sp>
      <p:sp>
        <p:nvSpPr>
          <p:cNvPr id="163" name="Google Shape;163;g3f26303b58d_0_49"/>
          <p:cNvSpPr/>
          <p:nvPr/>
        </p:nvSpPr>
        <p:spPr>
          <a:xfrm>
            <a:off x="731520" y="731520"/>
            <a:ext cx="7680900" cy="320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1400"/>
              <a:buFont typeface="Calibri"/>
              <a:buNone/>
            </a:pPr>
            <a:r>
              <a:rPr b="0" i="1" lang="en-US" sz="1400" u="none" cap="none" strike="noStrike">
                <a:solidFill>
                  <a:srgbClr val="64748B"/>
                </a:solidFill>
                <a:latin typeface="Calibri"/>
                <a:ea typeface="Calibri"/>
                <a:cs typeface="Calibri"/>
                <a:sym typeface="Calibri"/>
              </a:rPr>
              <a:t>Leads </a:t>
            </a:r>
            <a:r>
              <a:rPr i="1" lang="en-US">
                <a:solidFill>
                  <a:srgbClr val="64748B"/>
                </a:solidFill>
                <a:latin typeface="Calibri"/>
                <a:ea typeface="Calibri"/>
                <a:cs typeface="Calibri"/>
                <a:sym typeface="Calibri"/>
              </a:rPr>
              <a:t>in p</a:t>
            </a:r>
            <a:r>
              <a:rPr i="1" lang="en-US">
                <a:solidFill>
                  <a:srgbClr val="64748B"/>
                </a:solidFill>
                <a:latin typeface="Calibri"/>
                <a:ea typeface="Calibri"/>
                <a:cs typeface="Calibri"/>
                <a:sym typeface="Calibri"/>
              </a:rPr>
              <a:t>rioritisation</a:t>
            </a:r>
            <a:r>
              <a:rPr b="0" i="1" lang="en-US" sz="1400" u="none" cap="none" strike="noStrike">
                <a:solidFill>
                  <a:srgbClr val="64748B"/>
                </a:solidFill>
                <a:latin typeface="Calibri"/>
                <a:ea typeface="Calibri"/>
                <a:cs typeface="Calibri"/>
                <a:sym typeface="Calibri"/>
              </a:rPr>
              <a:t> groups get a higher score, which rerank leads</a:t>
            </a:r>
            <a:r>
              <a:rPr i="1" lang="en-US">
                <a:solidFill>
                  <a:srgbClr val="64748B"/>
                </a:solidFill>
                <a:latin typeface="Calibri"/>
                <a:ea typeface="Calibri"/>
                <a:cs typeface="Calibri"/>
                <a:sym typeface="Calibri"/>
              </a:rPr>
              <a:t>. </a:t>
            </a:r>
            <a:r>
              <a:rPr i="1" lang="en-US">
                <a:solidFill>
                  <a:srgbClr val="64748B"/>
                </a:solidFill>
                <a:latin typeface="Calibri"/>
                <a:ea typeface="Calibri"/>
                <a:cs typeface="Calibri"/>
                <a:sym typeface="Calibri"/>
              </a:rPr>
              <a:t>Same K = 302 leads. </a:t>
            </a:r>
            <a:endParaRPr b="0" i="0" sz="1400" u="none" cap="none" strike="noStrike">
              <a:solidFill>
                <a:schemeClr val="dk1"/>
              </a:solidFill>
              <a:latin typeface="Calibri"/>
              <a:ea typeface="Calibri"/>
              <a:cs typeface="Calibri"/>
              <a:sym typeface="Calibri"/>
            </a:endParaRPr>
          </a:p>
        </p:txBody>
      </p:sp>
      <p:sp>
        <p:nvSpPr>
          <p:cNvPr id="164" name="Google Shape;164;g3f26303b58d_0_49"/>
          <p:cNvSpPr/>
          <p:nvPr/>
        </p:nvSpPr>
        <p:spPr>
          <a:xfrm>
            <a:off x="731520" y="1325880"/>
            <a:ext cx="13716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400"/>
              <a:buFont typeface="Calibri"/>
              <a:buNone/>
            </a:pPr>
            <a:r>
              <a:rPr b="1" i="0" lang="en-US" sz="1400" u="none" cap="none" strike="noStrike">
                <a:solidFill>
                  <a:srgbClr val="1E2761"/>
                </a:solidFill>
                <a:latin typeface="Calibri"/>
                <a:ea typeface="Calibri"/>
                <a:cs typeface="Calibri"/>
                <a:sym typeface="Calibri"/>
              </a:rPr>
              <a:t>System 1</a:t>
            </a:r>
            <a:endParaRPr b="0" i="0" sz="1400" u="none" cap="none" strike="noStrike">
              <a:solidFill>
                <a:schemeClr val="dk1"/>
              </a:solidFill>
              <a:latin typeface="Calibri"/>
              <a:ea typeface="Calibri"/>
              <a:cs typeface="Calibri"/>
              <a:sym typeface="Calibri"/>
            </a:endParaRPr>
          </a:p>
        </p:txBody>
      </p:sp>
      <p:sp>
        <p:nvSpPr>
          <p:cNvPr id="165" name="Google Shape;165;g3f26303b58d_0_49"/>
          <p:cNvSpPr/>
          <p:nvPr/>
        </p:nvSpPr>
        <p:spPr>
          <a:xfrm>
            <a:off x="731520" y="1645920"/>
            <a:ext cx="1371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100"/>
              <a:buFont typeface="Calibri"/>
              <a:buNone/>
            </a:pPr>
            <a:r>
              <a:rPr b="0" i="1" lang="en-US" sz="1100" u="none" cap="none" strike="noStrike">
                <a:solidFill>
                  <a:srgbClr val="64748B"/>
                </a:solidFill>
                <a:latin typeface="Calibri"/>
                <a:ea typeface="Calibri"/>
                <a:cs typeface="Calibri"/>
                <a:sym typeface="Calibri"/>
              </a:rPr>
              <a:t>ML baseline</a:t>
            </a:r>
            <a:endParaRPr b="0" i="0" sz="1100" u="none" cap="none" strike="noStrike">
              <a:solidFill>
                <a:schemeClr val="dk1"/>
              </a:solidFill>
              <a:latin typeface="Calibri"/>
              <a:ea typeface="Calibri"/>
              <a:cs typeface="Calibri"/>
              <a:sym typeface="Calibri"/>
            </a:endParaRPr>
          </a:p>
        </p:txBody>
      </p:sp>
      <p:sp>
        <p:nvSpPr>
          <p:cNvPr id="166" name="Google Shape;166;g3f26303b58d_0_49"/>
          <p:cNvSpPr/>
          <p:nvPr/>
        </p:nvSpPr>
        <p:spPr>
          <a:xfrm>
            <a:off x="2286000" y="1325880"/>
            <a:ext cx="6126600" cy="640200"/>
          </a:xfrm>
          <a:prstGeom prst="roundRect">
            <a:avLst>
              <a:gd fmla="val 11429" name="adj"/>
            </a:avLst>
          </a:prstGeom>
          <a:solidFill>
            <a:srgbClr val="D6D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g3f26303b58d_0_49"/>
          <p:cNvSpPr/>
          <p:nvPr/>
        </p:nvSpPr>
        <p:spPr>
          <a:xfrm>
            <a:off x="2286000" y="1325880"/>
            <a:ext cx="6126600" cy="640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E2761"/>
              </a:buClr>
              <a:buSzPts val="1300"/>
              <a:buFont typeface="Calibri"/>
              <a:buNone/>
            </a:pPr>
            <a:r>
              <a:rPr b="0" i="0" lang="en-US" sz="1300" u="none" cap="none" strike="noStrike">
                <a:solidFill>
                  <a:srgbClr val="1E2761"/>
                </a:solidFill>
                <a:latin typeface="Calibri"/>
                <a:ea typeface="Calibri"/>
                <a:cs typeface="Calibri"/>
                <a:sym typeface="Calibri"/>
              </a:rPr>
              <a:t>302 leads ranked by ML score only</a:t>
            </a:r>
            <a:endParaRPr b="0" i="0" sz="1300" u="none" cap="none" strike="noStrike">
              <a:solidFill>
                <a:schemeClr val="dk1"/>
              </a:solidFill>
              <a:latin typeface="Calibri"/>
              <a:ea typeface="Calibri"/>
              <a:cs typeface="Calibri"/>
              <a:sym typeface="Calibri"/>
            </a:endParaRPr>
          </a:p>
        </p:txBody>
      </p:sp>
      <p:sp>
        <p:nvSpPr>
          <p:cNvPr id="168" name="Google Shape;168;g3f26303b58d_0_49"/>
          <p:cNvSpPr/>
          <p:nvPr/>
        </p:nvSpPr>
        <p:spPr>
          <a:xfrm>
            <a:off x="6858000" y="2011680"/>
            <a:ext cx="15546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E2761"/>
              </a:buClr>
              <a:buSzPts val="1200"/>
              <a:buFont typeface="Calibri"/>
              <a:buNone/>
            </a:pPr>
            <a:r>
              <a:rPr b="1" i="0" lang="en-US" sz="1200" u="none" cap="none" strike="noStrike">
                <a:solidFill>
                  <a:srgbClr val="1E2761"/>
                </a:solidFill>
                <a:latin typeface="Calibri"/>
                <a:ea typeface="Calibri"/>
                <a:cs typeface="Calibri"/>
                <a:sym typeface="Calibri"/>
              </a:rPr>
              <a:t>265 converters</a:t>
            </a:r>
            <a:endParaRPr b="0" i="0" sz="1200" u="none" cap="none" strike="noStrike">
              <a:solidFill>
                <a:schemeClr val="dk1"/>
              </a:solidFill>
              <a:latin typeface="Calibri"/>
              <a:ea typeface="Calibri"/>
              <a:cs typeface="Calibri"/>
              <a:sym typeface="Calibri"/>
            </a:endParaRPr>
          </a:p>
        </p:txBody>
      </p:sp>
      <p:sp>
        <p:nvSpPr>
          <p:cNvPr id="169" name="Google Shape;169;g3f26303b58d_0_49"/>
          <p:cNvSpPr/>
          <p:nvPr/>
        </p:nvSpPr>
        <p:spPr>
          <a:xfrm>
            <a:off x="731458" y="2445953"/>
            <a:ext cx="13716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7D32"/>
              </a:buClr>
              <a:buSzPts val="1400"/>
              <a:buFont typeface="Calibri"/>
              <a:buNone/>
            </a:pPr>
            <a:r>
              <a:rPr b="1" i="0" lang="en-US" sz="1400" u="none" cap="none" strike="noStrike">
                <a:solidFill>
                  <a:srgbClr val="2E7D32"/>
                </a:solidFill>
                <a:latin typeface="Calibri"/>
                <a:ea typeface="Calibri"/>
                <a:cs typeface="Calibri"/>
                <a:sym typeface="Calibri"/>
              </a:rPr>
              <a:t>System 3</a:t>
            </a:r>
            <a:endParaRPr b="0" i="0" sz="1400" u="none" cap="none" strike="noStrike">
              <a:solidFill>
                <a:schemeClr val="dk1"/>
              </a:solidFill>
              <a:latin typeface="Calibri"/>
              <a:ea typeface="Calibri"/>
              <a:cs typeface="Calibri"/>
              <a:sym typeface="Calibri"/>
            </a:endParaRPr>
          </a:p>
        </p:txBody>
      </p:sp>
      <p:sp>
        <p:nvSpPr>
          <p:cNvPr id="170" name="Google Shape;170;g3f26303b58d_0_49"/>
          <p:cNvSpPr/>
          <p:nvPr/>
        </p:nvSpPr>
        <p:spPr>
          <a:xfrm>
            <a:off x="731458" y="2765993"/>
            <a:ext cx="1371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100"/>
              <a:buFont typeface="Calibri"/>
              <a:buNone/>
            </a:pPr>
            <a:r>
              <a:rPr b="0" i="1" lang="en-US" sz="1100" u="none" cap="none" strike="noStrike">
                <a:solidFill>
                  <a:srgbClr val="64748B"/>
                </a:solidFill>
                <a:latin typeface="Calibri"/>
                <a:ea typeface="Calibri"/>
                <a:cs typeface="Calibri"/>
                <a:sym typeface="Calibri"/>
              </a:rPr>
              <a:t>Calibrated blend</a:t>
            </a:r>
            <a:endParaRPr b="0" i="0" sz="1100" u="none" cap="none" strike="noStrike">
              <a:solidFill>
                <a:schemeClr val="dk1"/>
              </a:solidFill>
              <a:latin typeface="Calibri"/>
              <a:ea typeface="Calibri"/>
              <a:cs typeface="Calibri"/>
              <a:sym typeface="Calibri"/>
            </a:endParaRPr>
          </a:p>
        </p:txBody>
      </p:sp>
      <p:sp>
        <p:nvSpPr>
          <p:cNvPr id="171" name="Google Shape;171;g3f26303b58d_0_49"/>
          <p:cNvSpPr/>
          <p:nvPr/>
        </p:nvSpPr>
        <p:spPr>
          <a:xfrm>
            <a:off x="2285938" y="2445953"/>
            <a:ext cx="6126600" cy="640200"/>
          </a:xfrm>
          <a:prstGeom prst="roundRect">
            <a:avLst>
              <a:gd fmla="val 11429" name="adj"/>
            </a:avLst>
          </a:prstGeom>
          <a:solidFill>
            <a:srgbClr val="E0ED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g3f26303b58d_0_49"/>
          <p:cNvSpPr/>
          <p:nvPr/>
        </p:nvSpPr>
        <p:spPr>
          <a:xfrm>
            <a:off x="2285938" y="2445953"/>
            <a:ext cx="6126600" cy="640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E7D32"/>
              </a:buClr>
              <a:buSzPts val="1200"/>
              <a:buFont typeface="Calibri"/>
              <a:buNone/>
            </a:pPr>
            <a:r>
              <a:rPr b="0" i="0" lang="en-US" sz="1200" u="none" cap="none" strike="noStrike">
                <a:solidFill>
                  <a:srgbClr val="2E7D32"/>
                </a:solidFill>
                <a:latin typeface="Calibri"/>
                <a:ea typeface="Calibri"/>
                <a:cs typeface="Calibri"/>
                <a:sym typeface="Calibri"/>
              </a:rPr>
              <a:t>302 leads re-ranked by blended score  (0.90 × ML + 0.10 × P1/P2 </a:t>
            </a:r>
            <a:r>
              <a:rPr lang="en-US" sz="1200">
                <a:solidFill>
                  <a:srgbClr val="2E7D32"/>
                </a:solidFill>
                <a:latin typeface="Calibri"/>
                <a:ea typeface="Calibri"/>
                <a:cs typeface="Calibri"/>
                <a:sym typeface="Calibri"/>
              </a:rPr>
              <a:t>qualification score</a:t>
            </a:r>
            <a:r>
              <a:rPr b="0" i="0" lang="en-US" sz="1200" u="none" cap="none" strike="noStrike">
                <a:solidFill>
                  <a:srgbClr val="2E7D32"/>
                </a:solidFill>
                <a:latin typeface="Calibri"/>
                <a:ea typeface="Calibri"/>
                <a:cs typeface="Calibri"/>
                <a:sym typeface="Calibri"/>
              </a:rPr>
              <a:t>)</a:t>
            </a:r>
            <a:endParaRPr b="0" i="0" sz="1200" u="none" cap="none" strike="noStrike">
              <a:solidFill>
                <a:schemeClr val="dk1"/>
              </a:solidFill>
              <a:latin typeface="Calibri"/>
              <a:ea typeface="Calibri"/>
              <a:cs typeface="Calibri"/>
              <a:sym typeface="Calibri"/>
            </a:endParaRPr>
          </a:p>
        </p:txBody>
      </p:sp>
      <p:sp>
        <p:nvSpPr>
          <p:cNvPr id="173" name="Google Shape;173;g3f26303b58d_0_49"/>
          <p:cNvSpPr/>
          <p:nvPr/>
        </p:nvSpPr>
        <p:spPr>
          <a:xfrm>
            <a:off x="6857938" y="3131753"/>
            <a:ext cx="15546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E7D32"/>
              </a:buClr>
              <a:buSzPts val="1200"/>
              <a:buFont typeface="Calibri"/>
              <a:buNone/>
            </a:pPr>
            <a:r>
              <a:rPr b="1" i="0" lang="en-US" sz="1200" u="none" cap="none" strike="noStrike">
                <a:solidFill>
                  <a:srgbClr val="2E7D32"/>
                </a:solidFill>
                <a:latin typeface="Calibri"/>
                <a:ea typeface="Calibri"/>
                <a:cs typeface="Calibri"/>
                <a:sym typeface="Calibri"/>
              </a:rPr>
              <a:t>266 converters (+1)</a:t>
            </a:r>
            <a:endParaRPr b="0" i="0" sz="1200" u="none" cap="none" strike="noStrike">
              <a:solidFill>
                <a:schemeClr val="dk1"/>
              </a:solidFill>
              <a:latin typeface="Calibri"/>
              <a:ea typeface="Calibri"/>
              <a:cs typeface="Calibri"/>
              <a:sym typeface="Calibri"/>
            </a:endParaRPr>
          </a:p>
        </p:txBody>
      </p:sp>
      <p:sp>
        <p:nvSpPr>
          <p:cNvPr id="174" name="Google Shape;174;g3f26303b58d_0_49"/>
          <p:cNvSpPr/>
          <p:nvPr/>
        </p:nvSpPr>
        <p:spPr>
          <a:xfrm>
            <a:off x="4483175" y="3566050"/>
            <a:ext cx="3929400" cy="1385400"/>
          </a:xfrm>
          <a:prstGeom prst="roundRect">
            <a:avLst>
              <a:gd fmla="val 11111" name="adj"/>
            </a:avLst>
          </a:prstGeom>
          <a:solidFill>
            <a:srgbClr val="F0F8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g3f26303b58d_0_49"/>
          <p:cNvSpPr/>
          <p:nvPr/>
        </p:nvSpPr>
        <p:spPr>
          <a:xfrm>
            <a:off x="4664950" y="3822200"/>
            <a:ext cx="3564600" cy="777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1B3D"/>
              </a:buClr>
              <a:buSzPts val="1300"/>
              <a:buFont typeface="Calibri"/>
              <a:buNone/>
            </a:pPr>
            <a:r>
              <a:rPr b="0" i="0" lang="en-US" sz="1300" u="none" cap="none" strike="noStrike">
                <a:solidFill>
                  <a:srgbClr val="0F1B3D"/>
                </a:solidFill>
                <a:latin typeface="Calibri"/>
                <a:ea typeface="Calibri"/>
                <a:cs typeface="Calibri"/>
                <a:sym typeface="Calibri"/>
              </a:rPr>
              <a:t>No tiers. No reserved capacity. All leads compete in a single ranking.</a:t>
            </a:r>
            <a:endParaRPr b="0" i="0" sz="13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F1B3D"/>
              </a:buClr>
              <a:buSzPts val="1300"/>
              <a:buFont typeface="Calibri"/>
              <a:buNone/>
            </a:pPr>
            <a:r>
              <a:rPr b="0" i="0" lang="en-US" sz="1300" u="none" cap="none" strike="noStrike">
                <a:solidFill>
                  <a:srgbClr val="0F1B3D"/>
                </a:solidFill>
                <a:latin typeface="Calibri"/>
                <a:ea typeface="Calibri"/>
                <a:cs typeface="Calibri"/>
                <a:sym typeface="Calibri"/>
              </a:rPr>
              <a:t>The qualification signal gives a small boost (+0.05 per signal) but this is often</a:t>
            </a:r>
            <a:endParaRPr b="0" i="0" sz="13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F1B3D"/>
              </a:buClr>
              <a:buSzPts val="1300"/>
              <a:buFont typeface="Calibri"/>
              <a:buNone/>
            </a:pPr>
            <a:r>
              <a:rPr b="0" i="0" lang="en-US" sz="1300" u="none" cap="none" strike="noStrike">
                <a:solidFill>
                  <a:srgbClr val="0F1B3D"/>
                </a:solidFill>
                <a:latin typeface="Calibri"/>
                <a:ea typeface="Calibri"/>
                <a:cs typeface="Calibri"/>
                <a:sym typeface="Calibri"/>
              </a:rPr>
              <a:t>too small to move leads across the top-K selection boundary.</a:t>
            </a:r>
            <a:endParaRPr b="0" i="0" sz="1300" u="none" cap="none" strike="noStrike">
              <a:solidFill>
                <a:schemeClr val="dk1"/>
              </a:solidFill>
              <a:latin typeface="Calibri"/>
              <a:ea typeface="Calibri"/>
              <a:cs typeface="Calibri"/>
              <a:sym typeface="Calibri"/>
            </a:endParaRPr>
          </a:p>
        </p:txBody>
      </p:sp>
      <p:graphicFrame>
        <p:nvGraphicFramePr>
          <p:cNvPr id="176" name="Google Shape;176;g3f26303b58d_0_49"/>
          <p:cNvGraphicFramePr/>
          <p:nvPr/>
        </p:nvGraphicFramePr>
        <p:xfrm>
          <a:off x="162495" y="3672820"/>
          <a:ext cx="3000000" cy="3000000"/>
        </p:xfrm>
        <a:graphic>
          <a:graphicData uri="http://schemas.openxmlformats.org/drawingml/2006/table">
            <a:tbl>
              <a:tblPr>
                <a:noFill/>
                <a:tableStyleId>{D63AC954-7EFE-4871-A3DF-65480174A828}</a:tableStyleId>
              </a:tblPr>
              <a:tblGrid>
                <a:gridCol w="3267725"/>
                <a:gridCol w="726150"/>
              </a:tblGrid>
              <a:tr h="110825">
                <a:tc>
                  <a:txBody>
                    <a:bodyPr/>
                    <a:lstStyle/>
                    <a:p>
                      <a:pPr indent="0" lvl="0" marL="0" marR="0" rtl="0" algn="ctr">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Qualification group membership</a:t>
                      </a:r>
                      <a:endParaRPr sz="1100" u="none" cap="none" strike="noStrike">
                        <a:latin typeface="Calibri"/>
                        <a:ea typeface="Calibri"/>
                        <a:cs typeface="Calibri"/>
                        <a:sym typeface="Calibri"/>
                      </a:endParaRPr>
                    </a:p>
                  </a:txBody>
                  <a:tcPr marT="45725" marB="45725" marR="91450" marL="91450" anchor="ctr">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1E2761"/>
                    </a:solidFill>
                  </a:tcPr>
                </a:tc>
                <a:tc>
                  <a:txBody>
                    <a:bodyPr/>
                    <a:lstStyle/>
                    <a:p>
                      <a:pPr indent="0" lvl="0" marL="0" marR="0" rtl="0" algn="ctr">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Score</a:t>
                      </a:r>
                      <a:endParaRPr sz="1100" u="none" cap="none" strike="noStrike">
                        <a:latin typeface="Calibri"/>
                        <a:ea typeface="Calibri"/>
                        <a:cs typeface="Calibri"/>
                        <a:sym typeface="Calibri"/>
                      </a:endParaRPr>
                    </a:p>
                  </a:txBody>
                  <a:tcPr marT="45725" marB="45725" marR="91450" marL="91450" anchor="ctr">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1E2761"/>
                    </a:solidFill>
                  </a:tcPr>
                </a:tc>
              </a:tr>
              <a:tr h="292600">
                <a:tc>
                  <a:txBody>
                    <a:bodyPr/>
                    <a:lstStyle/>
                    <a:p>
                      <a:pPr indent="0" lvl="0" marL="0" marR="0" rtl="0" algn="ctr">
                        <a:spcBef>
                          <a:spcPts val="0"/>
                        </a:spcBef>
                        <a:spcAft>
                          <a:spcPts val="0"/>
                        </a:spcAft>
                        <a:buClr>
                          <a:srgbClr val="0F1B3D"/>
                        </a:buClr>
                        <a:buSzPts val="1100"/>
                        <a:buFont typeface="Calibri"/>
                        <a:buNone/>
                      </a:pPr>
                      <a:r>
                        <a:rPr lang="en-US" sz="1100" u="none" cap="none" strike="noStrike">
                          <a:solidFill>
                            <a:srgbClr val="0F1B3D"/>
                          </a:solidFill>
                          <a:latin typeface="Calibri"/>
                          <a:ea typeface="Calibri"/>
                          <a:cs typeface="Calibri"/>
                          <a:sym typeface="Calibri"/>
                        </a:rPr>
                        <a:t>Neither P1 nor P2</a:t>
                      </a:r>
                      <a:endParaRPr sz="1100" u="none" cap="none" strike="noStrike">
                        <a:latin typeface="Calibri"/>
                        <a:ea typeface="Calibri"/>
                        <a:cs typeface="Calibri"/>
                        <a:sym typeface="Calibri"/>
                      </a:endParaRPr>
                    </a:p>
                  </a:txBody>
                  <a:tcPr marT="45725" marB="45725" marR="91450" marL="91450" anchor="ctr">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2F4F8"/>
                    </a:solidFill>
                  </a:tcPr>
                </a:tc>
                <a:tc>
                  <a:txBody>
                    <a:bodyPr/>
                    <a:lstStyle/>
                    <a:p>
                      <a:pPr indent="0" lvl="0" marL="0" marR="0" rtl="0" algn="ctr">
                        <a:spcBef>
                          <a:spcPts val="0"/>
                        </a:spcBef>
                        <a:spcAft>
                          <a:spcPts val="0"/>
                        </a:spcAft>
                        <a:buClr>
                          <a:srgbClr val="0F1B3D"/>
                        </a:buClr>
                        <a:buSzPts val="1100"/>
                        <a:buFont typeface="Calibri"/>
                        <a:buNone/>
                      </a:pPr>
                      <a:r>
                        <a:rPr lang="en-US" sz="1100" u="none" cap="none" strike="noStrike">
                          <a:solidFill>
                            <a:srgbClr val="0F1B3D"/>
                          </a:solidFill>
                          <a:latin typeface="Calibri"/>
                          <a:ea typeface="Calibri"/>
                          <a:cs typeface="Calibri"/>
                          <a:sym typeface="Calibri"/>
                        </a:rPr>
                        <a:t>0.0</a:t>
                      </a:r>
                      <a:endParaRPr sz="1100" u="none" cap="none" strike="noStrike">
                        <a:latin typeface="Calibri"/>
                        <a:ea typeface="Calibri"/>
                        <a:cs typeface="Calibri"/>
                        <a:sym typeface="Calibri"/>
                      </a:endParaRPr>
                    </a:p>
                  </a:txBody>
                  <a:tcPr marT="45725" marB="45725" marR="91450" marL="91450" anchor="ctr">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2F4F8"/>
                    </a:solidFill>
                  </a:tcPr>
                </a:tc>
              </a:tr>
              <a:tr h="292600">
                <a:tc>
                  <a:txBody>
                    <a:bodyPr/>
                    <a:lstStyle/>
                    <a:p>
                      <a:pPr indent="0" lvl="0" marL="0" marR="0" rtl="0" algn="ctr">
                        <a:spcBef>
                          <a:spcPts val="0"/>
                        </a:spcBef>
                        <a:spcAft>
                          <a:spcPts val="0"/>
                        </a:spcAft>
                        <a:buClr>
                          <a:srgbClr val="0F1B3D"/>
                        </a:buClr>
                        <a:buSzPts val="1100"/>
                        <a:buFont typeface="Calibri"/>
                        <a:buNone/>
                      </a:pPr>
                      <a:r>
                        <a:rPr lang="en-US" sz="1100" u="none" cap="none" strike="noStrike">
                          <a:solidFill>
                            <a:srgbClr val="0F1B3D"/>
                          </a:solidFill>
                          <a:latin typeface="Calibri"/>
                          <a:ea typeface="Calibri"/>
                          <a:cs typeface="Calibri"/>
                          <a:sym typeface="Calibri"/>
                        </a:rPr>
                        <a:t>P1 only (Working Professional) or P2 only (SMS Sent)</a:t>
                      </a:r>
                      <a:endParaRPr sz="1100" u="none" cap="none" strike="noStrike">
                        <a:latin typeface="Calibri"/>
                        <a:ea typeface="Calibri"/>
                        <a:cs typeface="Calibri"/>
                        <a:sym typeface="Calibri"/>
                      </a:endParaRPr>
                    </a:p>
                  </a:txBody>
                  <a:tcPr marT="45725" marB="45725" marR="91450" marL="91450" anchor="ctr">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0F1B3D"/>
                        </a:buClr>
                        <a:buSzPts val="1100"/>
                        <a:buFont typeface="Calibri"/>
                        <a:buNone/>
                      </a:pPr>
                      <a:r>
                        <a:rPr lang="en-US" sz="1100" u="none" cap="none" strike="noStrike">
                          <a:solidFill>
                            <a:srgbClr val="0F1B3D"/>
                          </a:solidFill>
                          <a:latin typeface="Calibri"/>
                          <a:ea typeface="Calibri"/>
                          <a:cs typeface="Calibri"/>
                          <a:sym typeface="Calibri"/>
                        </a:rPr>
                        <a:t>0.5</a:t>
                      </a:r>
                      <a:endParaRPr sz="1100" u="none" cap="none" strike="noStrike">
                        <a:latin typeface="Calibri"/>
                        <a:ea typeface="Calibri"/>
                        <a:cs typeface="Calibri"/>
                        <a:sym typeface="Calibri"/>
                      </a:endParaRPr>
                    </a:p>
                  </a:txBody>
                  <a:tcPr marT="45725" marB="45725" marR="91450" marL="91450" anchor="ctr">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r>
              <a:tr h="292600">
                <a:tc>
                  <a:txBody>
                    <a:bodyPr/>
                    <a:lstStyle/>
                    <a:p>
                      <a:pPr indent="0" lvl="0" marL="0" marR="0" rtl="0" algn="ctr">
                        <a:spcBef>
                          <a:spcPts val="0"/>
                        </a:spcBef>
                        <a:spcAft>
                          <a:spcPts val="0"/>
                        </a:spcAft>
                        <a:buClr>
                          <a:srgbClr val="0F1B3D"/>
                        </a:buClr>
                        <a:buSzPts val="1100"/>
                        <a:buFont typeface="Calibri"/>
                        <a:buNone/>
                      </a:pPr>
                      <a:r>
                        <a:rPr lang="en-US" sz="1100" u="none" cap="none" strike="noStrike">
                          <a:solidFill>
                            <a:srgbClr val="0F1B3D"/>
                          </a:solidFill>
                          <a:latin typeface="Calibri"/>
                          <a:ea typeface="Calibri"/>
                          <a:cs typeface="Calibri"/>
                          <a:sym typeface="Calibri"/>
                        </a:rPr>
                        <a:t>Both P1 and P2</a:t>
                      </a:r>
                      <a:endParaRPr sz="1100" u="none" cap="none" strike="noStrike">
                        <a:latin typeface="Calibri"/>
                        <a:ea typeface="Calibri"/>
                        <a:cs typeface="Calibri"/>
                        <a:sym typeface="Calibri"/>
                      </a:endParaRPr>
                    </a:p>
                  </a:txBody>
                  <a:tcPr marT="45725" marB="45725" marR="91450" marL="91450" anchor="ctr">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2F4F8"/>
                    </a:solidFill>
                  </a:tcPr>
                </a:tc>
                <a:tc>
                  <a:txBody>
                    <a:bodyPr/>
                    <a:lstStyle/>
                    <a:p>
                      <a:pPr indent="0" lvl="0" marL="0" marR="0" rtl="0" algn="ctr">
                        <a:spcBef>
                          <a:spcPts val="0"/>
                        </a:spcBef>
                        <a:spcAft>
                          <a:spcPts val="0"/>
                        </a:spcAft>
                        <a:buClr>
                          <a:srgbClr val="0F1B3D"/>
                        </a:buClr>
                        <a:buSzPts val="1100"/>
                        <a:buFont typeface="Calibri"/>
                        <a:buNone/>
                      </a:pPr>
                      <a:r>
                        <a:rPr lang="en-US" sz="1100" u="none" cap="none" strike="noStrike">
                          <a:solidFill>
                            <a:srgbClr val="0F1B3D"/>
                          </a:solidFill>
                          <a:latin typeface="Calibri"/>
                          <a:ea typeface="Calibri"/>
                          <a:cs typeface="Calibri"/>
                          <a:sym typeface="Calibri"/>
                        </a:rPr>
                        <a:t>1.0</a:t>
                      </a:r>
                      <a:endParaRPr sz="1100" u="none" cap="none" strike="noStrike">
                        <a:latin typeface="Calibri"/>
                        <a:ea typeface="Calibri"/>
                        <a:cs typeface="Calibri"/>
                        <a:sym typeface="Calibri"/>
                      </a:endParaRPr>
                    </a:p>
                  </a:txBody>
                  <a:tcPr marT="45725" marB="45725" marR="91450" marL="91450" anchor="ctr">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2F4F8"/>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761"/>
        </a:solidFill>
      </p:bgPr>
    </p:bg>
    <p:spTree>
      <p:nvGrpSpPr>
        <p:cNvPr id="181" name="Shape 181"/>
        <p:cNvGrpSpPr/>
        <p:nvPr/>
      </p:nvGrpSpPr>
      <p:grpSpPr>
        <a:xfrm>
          <a:off x="0" y="0"/>
          <a:ext cx="0" cy="0"/>
          <a:chOff x="0" y="0"/>
          <a:chExt cx="0" cy="0"/>
        </a:xfrm>
      </p:grpSpPr>
      <p:pic>
        <p:nvPicPr>
          <p:cNvPr descr="preencoded.png" id="182" name="Google Shape;182;p9"/>
          <p:cNvPicPr preferRelativeResize="0"/>
          <p:nvPr/>
        </p:nvPicPr>
        <p:blipFill rotWithShape="1">
          <a:blip r:embed="rId3">
            <a:alphaModFix/>
          </a:blip>
          <a:srcRect b="0" l="0" r="0" t="0"/>
          <a:stretch/>
        </p:blipFill>
        <p:spPr>
          <a:xfrm>
            <a:off x="731520" y="411480"/>
            <a:ext cx="365760" cy="365760"/>
          </a:xfrm>
          <a:prstGeom prst="rect">
            <a:avLst/>
          </a:prstGeom>
          <a:noFill/>
          <a:ln>
            <a:noFill/>
          </a:ln>
        </p:spPr>
      </p:pic>
      <p:sp>
        <p:nvSpPr>
          <p:cNvPr id="183" name="Google Shape;183;p9"/>
          <p:cNvSpPr/>
          <p:nvPr/>
        </p:nvSpPr>
        <p:spPr>
          <a:xfrm>
            <a:off x="1234440" y="365760"/>
            <a:ext cx="64008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800"/>
              <a:buFont typeface="Calibri"/>
              <a:buNone/>
            </a:pPr>
            <a:r>
              <a:rPr b="1" i="0" lang="en-US" sz="2800" u="none" cap="none" strike="noStrike">
                <a:solidFill>
                  <a:srgbClr val="FFFFFF"/>
                </a:solidFill>
                <a:latin typeface="Calibri"/>
                <a:ea typeface="Calibri"/>
                <a:cs typeface="Calibri"/>
                <a:sym typeface="Calibri"/>
              </a:rPr>
              <a:t>Results: main finding</a:t>
            </a:r>
            <a:endParaRPr b="0" i="0" sz="2800" u="none" cap="none" strike="noStrike">
              <a:solidFill>
                <a:schemeClr val="dk1"/>
              </a:solidFill>
              <a:latin typeface="Calibri"/>
              <a:ea typeface="Calibri"/>
              <a:cs typeface="Calibri"/>
              <a:sym typeface="Calibri"/>
            </a:endParaRPr>
          </a:p>
        </p:txBody>
      </p:sp>
      <p:sp>
        <p:nvSpPr>
          <p:cNvPr id="184" name="Google Shape;184;p9"/>
          <p:cNvSpPr/>
          <p:nvPr/>
        </p:nvSpPr>
        <p:spPr>
          <a:xfrm>
            <a:off x="274320" y="914400"/>
            <a:ext cx="3840480" cy="91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593C"/>
              </a:buClr>
              <a:buSzPts val="5600"/>
              <a:buFont typeface="Calibri"/>
              <a:buNone/>
            </a:pPr>
            <a:r>
              <a:rPr b="1" i="0" lang="en-US" sz="5600" u="none" cap="none" strike="noStrike">
                <a:solidFill>
                  <a:srgbClr val="E8593C"/>
                </a:solidFill>
                <a:latin typeface="Calibri"/>
                <a:ea typeface="Calibri"/>
                <a:cs typeface="Calibri"/>
                <a:sym typeface="Calibri"/>
              </a:rPr>
              <a:t>265 → 270</a:t>
            </a:r>
            <a:endParaRPr b="0" i="0" sz="5600" u="none" cap="none" strike="noStrike">
              <a:solidFill>
                <a:schemeClr val="dk1"/>
              </a:solidFill>
              <a:latin typeface="Calibri"/>
              <a:ea typeface="Calibri"/>
              <a:cs typeface="Calibri"/>
              <a:sym typeface="Calibri"/>
            </a:endParaRPr>
          </a:p>
        </p:txBody>
      </p:sp>
      <p:sp>
        <p:nvSpPr>
          <p:cNvPr id="185" name="Google Shape;185;p9"/>
          <p:cNvSpPr/>
          <p:nvPr/>
        </p:nvSpPr>
        <p:spPr>
          <a:xfrm>
            <a:off x="274320" y="1737360"/>
            <a:ext cx="384048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ADCFC"/>
              </a:buClr>
              <a:buSzPts val="1800"/>
              <a:buFont typeface="Calibri"/>
              <a:buNone/>
            </a:pPr>
            <a:r>
              <a:rPr b="0" i="0" lang="en-US" sz="1800" u="none" cap="none" strike="noStrike">
                <a:solidFill>
                  <a:srgbClr val="CADCFC"/>
                </a:solidFill>
                <a:latin typeface="Calibri"/>
                <a:ea typeface="Calibri"/>
                <a:cs typeface="Calibri"/>
                <a:sym typeface="Calibri"/>
              </a:rPr>
              <a:t>converters</a:t>
            </a:r>
            <a:endParaRPr b="0" i="0" sz="1800" u="none" cap="none" strike="noStrike">
              <a:solidFill>
                <a:schemeClr val="dk1"/>
              </a:solidFill>
              <a:latin typeface="Calibri"/>
              <a:ea typeface="Calibri"/>
              <a:cs typeface="Calibri"/>
              <a:sym typeface="Calibri"/>
            </a:endParaRPr>
          </a:p>
        </p:txBody>
      </p:sp>
      <p:sp>
        <p:nvSpPr>
          <p:cNvPr id="186" name="Google Shape;186;p9"/>
          <p:cNvSpPr/>
          <p:nvPr/>
        </p:nvSpPr>
        <p:spPr>
          <a:xfrm>
            <a:off x="274320" y="2194560"/>
            <a:ext cx="384048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ADCFC"/>
              </a:buClr>
              <a:buSzPts val="1400"/>
              <a:buFont typeface="Calibri"/>
              <a:buNone/>
            </a:pPr>
            <a:r>
              <a:rPr b="0" i="0" lang="en-US" sz="1400" u="none" cap="none" strike="noStrike">
                <a:solidFill>
                  <a:srgbClr val="CADCFC"/>
                </a:solidFill>
                <a:latin typeface="Calibri"/>
                <a:ea typeface="Calibri"/>
                <a:cs typeface="Calibri"/>
                <a:sym typeface="Calibri"/>
              </a:rPr>
              <a:t>+5 additional conversions</a:t>
            </a:r>
            <a:endParaRPr b="0" i="0" sz="14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CADCFC"/>
              </a:buClr>
              <a:buSzPts val="1400"/>
              <a:buFont typeface="Calibri"/>
              <a:buNone/>
            </a:pPr>
            <a:r>
              <a:rPr b="0" i="0" lang="en-US" sz="1400" u="none" cap="none" strike="noStrike">
                <a:solidFill>
                  <a:srgbClr val="CADCFC"/>
                </a:solidFill>
                <a:latin typeface="Calibri"/>
                <a:ea typeface="Calibri"/>
                <a:cs typeface="Calibri"/>
                <a:sym typeface="Calibri"/>
              </a:rPr>
              <a:t>same sales capacity</a:t>
            </a:r>
            <a:endParaRPr b="0" i="0" sz="1400" u="none" cap="none" strike="noStrike">
              <a:solidFill>
                <a:schemeClr val="dk1"/>
              </a:solidFill>
              <a:latin typeface="Calibri"/>
              <a:ea typeface="Calibri"/>
              <a:cs typeface="Calibri"/>
              <a:sym typeface="Calibri"/>
            </a:endParaRPr>
          </a:p>
        </p:txBody>
      </p:sp>
      <p:graphicFrame>
        <p:nvGraphicFramePr>
          <p:cNvPr id="187" name="Google Shape;187;p9"/>
          <p:cNvGraphicFramePr/>
          <p:nvPr/>
        </p:nvGraphicFramePr>
        <p:xfrm>
          <a:off x="4297680" y="1097280"/>
          <a:ext cx="3000000" cy="3000000"/>
        </p:xfrm>
        <a:graphic>
          <a:graphicData uri="http://schemas.openxmlformats.org/drawingml/2006/table">
            <a:tbl>
              <a:tblPr>
                <a:noFill/>
                <a:tableStyleId>{D63AC954-7EFE-4871-A3DF-65480174A828}</a:tableStyleId>
              </a:tblPr>
              <a:tblGrid>
                <a:gridCol w="1554475"/>
                <a:gridCol w="1097275"/>
                <a:gridCol w="914400"/>
                <a:gridCol w="914400"/>
              </a:tblGrid>
              <a:tr h="347475">
                <a:tc>
                  <a:txBody>
                    <a:bodyPr/>
                    <a:lstStyle/>
                    <a:p>
                      <a:pPr indent="0" lvl="0" marL="0" marR="0" rtl="0" algn="ctr">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System</a:t>
                      </a:r>
                      <a:endParaRPr sz="1200" u="none" cap="none" strike="noStrike">
                        <a:latin typeface="Calibri"/>
                        <a:ea typeface="Calibri"/>
                        <a:cs typeface="Calibri"/>
                        <a:sym typeface="Calibri"/>
                      </a:endParaRPr>
                    </a:p>
                  </a:txBody>
                  <a:tcPr marT="45725" marB="45725" marR="91450" marL="91450" anchor="ctr">
                    <a:lnL cap="flat" cmpd="sng" w="9525">
                      <a:solidFill>
                        <a:srgbClr val="3A4580"/>
                      </a:solidFill>
                      <a:prstDash val="solid"/>
                      <a:round/>
                      <a:headEnd len="sm" w="sm" type="none"/>
                      <a:tailEnd len="sm" w="sm" type="none"/>
                    </a:lnL>
                    <a:lnR cap="flat" cmpd="sng" w="9525">
                      <a:solidFill>
                        <a:srgbClr val="3A4580"/>
                      </a:solidFill>
                      <a:prstDash val="solid"/>
                      <a:round/>
                      <a:headEnd len="sm" w="sm" type="none"/>
                      <a:tailEnd len="sm" w="sm" type="none"/>
                    </a:lnR>
                    <a:lnT cap="flat" cmpd="sng" w="9525">
                      <a:solidFill>
                        <a:srgbClr val="3A4580"/>
                      </a:solidFill>
                      <a:prstDash val="solid"/>
                      <a:round/>
                      <a:headEnd len="sm" w="sm" type="none"/>
                      <a:tailEnd len="sm" w="sm" type="none"/>
                    </a:lnT>
                    <a:lnB cap="flat" cmpd="sng" w="9525">
                      <a:solidFill>
                        <a:srgbClr val="3A4580"/>
                      </a:solidFill>
                      <a:prstDash val="solid"/>
                      <a:round/>
                      <a:headEnd len="sm" w="sm" type="none"/>
                      <a:tailEnd len="sm" w="sm" type="none"/>
                    </a:lnB>
                    <a:solidFill>
                      <a:srgbClr val="243380"/>
                    </a:solidFill>
                  </a:tcPr>
                </a:tc>
                <a:tc>
                  <a:txBody>
                    <a:bodyPr/>
                    <a:lstStyle/>
                    <a:p>
                      <a:pPr indent="0" lvl="0" marL="0" marR="0" rtl="0" algn="ctr">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Precision@K</a:t>
                      </a:r>
                      <a:endParaRPr sz="1200" u="none" cap="none" strike="noStrike">
                        <a:latin typeface="Calibri"/>
                        <a:ea typeface="Calibri"/>
                        <a:cs typeface="Calibri"/>
                        <a:sym typeface="Calibri"/>
                      </a:endParaRPr>
                    </a:p>
                  </a:txBody>
                  <a:tcPr marT="45725" marB="45725" marR="91450" marL="91450" anchor="ctr">
                    <a:lnL cap="flat" cmpd="sng" w="9525">
                      <a:solidFill>
                        <a:srgbClr val="3A4580"/>
                      </a:solidFill>
                      <a:prstDash val="solid"/>
                      <a:round/>
                      <a:headEnd len="sm" w="sm" type="none"/>
                      <a:tailEnd len="sm" w="sm" type="none"/>
                    </a:lnL>
                    <a:lnR cap="flat" cmpd="sng" w="9525">
                      <a:solidFill>
                        <a:srgbClr val="3A4580"/>
                      </a:solidFill>
                      <a:prstDash val="solid"/>
                      <a:round/>
                      <a:headEnd len="sm" w="sm" type="none"/>
                      <a:tailEnd len="sm" w="sm" type="none"/>
                    </a:lnR>
                    <a:lnT cap="flat" cmpd="sng" w="9525">
                      <a:solidFill>
                        <a:srgbClr val="3A4580"/>
                      </a:solidFill>
                      <a:prstDash val="solid"/>
                      <a:round/>
                      <a:headEnd len="sm" w="sm" type="none"/>
                      <a:tailEnd len="sm" w="sm" type="none"/>
                    </a:lnT>
                    <a:lnB cap="flat" cmpd="sng" w="9525">
                      <a:solidFill>
                        <a:srgbClr val="3A4580"/>
                      </a:solidFill>
                      <a:prstDash val="solid"/>
                      <a:round/>
                      <a:headEnd len="sm" w="sm" type="none"/>
                      <a:tailEnd len="sm" w="sm" type="none"/>
                    </a:lnB>
                    <a:solidFill>
                      <a:srgbClr val="243380"/>
                    </a:solidFill>
                  </a:tcPr>
                </a:tc>
                <a:tc>
                  <a:txBody>
                    <a:bodyPr/>
                    <a:lstStyle/>
                    <a:p>
                      <a:pPr indent="0" lvl="0" marL="0" marR="0" rtl="0" algn="ctr">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Converters</a:t>
                      </a:r>
                      <a:endParaRPr sz="1200" u="none" cap="none" strike="noStrike">
                        <a:latin typeface="Calibri"/>
                        <a:ea typeface="Calibri"/>
                        <a:cs typeface="Calibri"/>
                        <a:sym typeface="Calibri"/>
                      </a:endParaRPr>
                    </a:p>
                  </a:txBody>
                  <a:tcPr marT="45725" marB="45725" marR="91450" marL="91450" anchor="ctr">
                    <a:lnL cap="flat" cmpd="sng" w="9525">
                      <a:solidFill>
                        <a:srgbClr val="3A4580"/>
                      </a:solidFill>
                      <a:prstDash val="solid"/>
                      <a:round/>
                      <a:headEnd len="sm" w="sm" type="none"/>
                      <a:tailEnd len="sm" w="sm" type="none"/>
                    </a:lnL>
                    <a:lnR cap="flat" cmpd="sng" w="9525">
                      <a:solidFill>
                        <a:srgbClr val="3A4580"/>
                      </a:solidFill>
                      <a:prstDash val="solid"/>
                      <a:round/>
                      <a:headEnd len="sm" w="sm" type="none"/>
                      <a:tailEnd len="sm" w="sm" type="none"/>
                    </a:lnR>
                    <a:lnT cap="flat" cmpd="sng" w="9525">
                      <a:solidFill>
                        <a:srgbClr val="3A4580"/>
                      </a:solidFill>
                      <a:prstDash val="solid"/>
                      <a:round/>
                      <a:headEnd len="sm" w="sm" type="none"/>
                      <a:tailEnd len="sm" w="sm" type="none"/>
                    </a:lnT>
                    <a:lnB cap="flat" cmpd="sng" w="9525">
                      <a:solidFill>
                        <a:srgbClr val="3A4580"/>
                      </a:solidFill>
                      <a:prstDash val="solid"/>
                      <a:round/>
                      <a:headEnd len="sm" w="sm" type="none"/>
                      <a:tailEnd len="sm" w="sm" type="none"/>
                    </a:lnB>
                    <a:solidFill>
                      <a:srgbClr val="243380"/>
                    </a:solidFill>
                  </a:tcPr>
                </a:tc>
                <a:tc>
                  <a:txBody>
                    <a:bodyPr/>
                    <a:lstStyle/>
                    <a:p>
                      <a:pPr indent="0" lvl="0" marL="0" marR="0" rtl="0" algn="ctr">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vs S1</a:t>
                      </a:r>
                      <a:endParaRPr sz="1200" u="none" cap="none" strike="noStrike">
                        <a:latin typeface="Calibri"/>
                        <a:ea typeface="Calibri"/>
                        <a:cs typeface="Calibri"/>
                        <a:sym typeface="Calibri"/>
                      </a:endParaRPr>
                    </a:p>
                  </a:txBody>
                  <a:tcPr marT="45725" marB="45725" marR="91450" marL="91450" anchor="ctr">
                    <a:lnL cap="flat" cmpd="sng" w="9525">
                      <a:solidFill>
                        <a:srgbClr val="3A4580"/>
                      </a:solidFill>
                      <a:prstDash val="solid"/>
                      <a:round/>
                      <a:headEnd len="sm" w="sm" type="none"/>
                      <a:tailEnd len="sm" w="sm" type="none"/>
                    </a:lnL>
                    <a:lnR cap="flat" cmpd="sng" w="9525">
                      <a:solidFill>
                        <a:srgbClr val="3A4580"/>
                      </a:solidFill>
                      <a:prstDash val="solid"/>
                      <a:round/>
                      <a:headEnd len="sm" w="sm" type="none"/>
                      <a:tailEnd len="sm" w="sm" type="none"/>
                    </a:lnR>
                    <a:lnT cap="flat" cmpd="sng" w="9525">
                      <a:solidFill>
                        <a:srgbClr val="3A4580"/>
                      </a:solidFill>
                      <a:prstDash val="solid"/>
                      <a:round/>
                      <a:headEnd len="sm" w="sm" type="none"/>
                      <a:tailEnd len="sm" w="sm" type="none"/>
                    </a:lnT>
                    <a:lnB cap="flat" cmpd="sng" w="9525">
                      <a:solidFill>
                        <a:srgbClr val="3A4580"/>
                      </a:solidFill>
                      <a:prstDash val="solid"/>
                      <a:round/>
                      <a:headEnd len="sm" w="sm" type="none"/>
                      <a:tailEnd len="sm" w="sm" type="none"/>
                    </a:lnB>
                    <a:solidFill>
                      <a:srgbClr val="243380"/>
                    </a:solidFill>
                  </a:tcPr>
                </a:tc>
              </a:tr>
              <a:tr h="347475">
                <a:tc>
                  <a:txBody>
                    <a:bodyPr/>
                    <a:lstStyle/>
                    <a:p>
                      <a:pPr indent="0" lvl="0" marL="0" marR="0" rtl="0" algn="ctr">
                        <a:spcBef>
                          <a:spcPts val="0"/>
                        </a:spcBef>
                        <a:spcAft>
                          <a:spcPts val="0"/>
                        </a:spcAft>
                        <a:buClr>
                          <a:srgbClr val="FFFFFF"/>
                        </a:buClr>
                        <a:buSzPts val="1200"/>
                        <a:buFont typeface="Calibri"/>
                        <a:buNone/>
                      </a:pPr>
                      <a:r>
                        <a:rPr lang="en-US" sz="1200" u="none" cap="none" strike="noStrike">
                          <a:solidFill>
                            <a:srgbClr val="FFFFFF"/>
                          </a:solidFill>
                          <a:latin typeface="Calibri"/>
                          <a:ea typeface="Calibri"/>
                          <a:cs typeface="Calibri"/>
                          <a:sym typeface="Calibri"/>
                        </a:rPr>
                        <a:t>S1 </a:t>
                      </a:r>
                      <a:r>
                        <a:rPr lang="en-US" sz="1200">
                          <a:solidFill>
                            <a:srgbClr val="FFFFFF"/>
                          </a:solidFill>
                          <a:latin typeface="Calibri"/>
                          <a:ea typeface="Calibri"/>
                          <a:cs typeface="Calibri"/>
                          <a:sym typeface="Calibri"/>
                        </a:rPr>
                        <a:t>-</a:t>
                      </a:r>
                      <a:r>
                        <a:rPr lang="en-US" sz="1200" u="none" cap="none" strike="noStrike">
                          <a:solidFill>
                            <a:srgbClr val="FFFFFF"/>
                          </a:solidFill>
                          <a:latin typeface="Calibri"/>
                          <a:ea typeface="Calibri"/>
                          <a:cs typeface="Calibri"/>
                          <a:sym typeface="Calibri"/>
                        </a:rPr>
                        <a:t> ML baseline</a:t>
                      </a:r>
                      <a:endParaRPr sz="1200" u="none" cap="none" strike="noStrike">
                        <a:latin typeface="Calibri"/>
                        <a:ea typeface="Calibri"/>
                        <a:cs typeface="Calibri"/>
                        <a:sym typeface="Calibri"/>
                      </a:endParaRPr>
                    </a:p>
                  </a:txBody>
                  <a:tcPr marT="45725" marB="45725" marR="91450" marL="91450" anchor="ctr">
                    <a:lnL cap="flat" cmpd="sng" w="9525">
                      <a:solidFill>
                        <a:srgbClr val="3A4580"/>
                      </a:solidFill>
                      <a:prstDash val="solid"/>
                      <a:round/>
                      <a:headEnd len="sm" w="sm" type="none"/>
                      <a:tailEnd len="sm" w="sm" type="none"/>
                    </a:lnL>
                    <a:lnR cap="flat" cmpd="sng" w="9525">
                      <a:solidFill>
                        <a:srgbClr val="3A4580"/>
                      </a:solidFill>
                      <a:prstDash val="solid"/>
                      <a:round/>
                      <a:headEnd len="sm" w="sm" type="none"/>
                      <a:tailEnd len="sm" w="sm" type="none"/>
                    </a:lnR>
                    <a:lnT cap="flat" cmpd="sng" w="9525">
                      <a:solidFill>
                        <a:srgbClr val="3A4580"/>
                      </a:solidFill>
                      <a:prstDash val="solid"/>
                      <a:round/>
                      <a:headEnd len="sm" w="sm" type="none"/>
                      <a:tailEnd len="sm" w="sm" type="none"/>
                    </a:lnT>
                    <a:lnB cap="flat" cmpd="sng" w="9525">
                      <a:solidFill>
                        <a:srgbClr val="3A4580"/>
                      </a:solidFill>
                      <a:prstDash val="solid"/>
                      <a:round/>
                      <a:headEnd len="sm" w="sm" type="none"/>
                      <a:tailEnd len="sm" w="sm" type="none"/>
                    </a:lnB>
                    <a:solidFill>
                      <a:srgbClr val="1E2F6E"/>
                    </a:solidFill>
                  </a:tcPr>
                </a:tc>
                <a:tc>
                  <a:txBody>
                    <a:bodyPr/>
                    <a:lstStyle/>
                    <a:p>
                      <a:pPr indent="0" lvl="0" marL="0" marR="0" rtl="0" algn="ctr">
                        <a:spcBef>
                          <a:spcPts val="0"/>
                        </a:spcBef>
                        <a:spcAft>
                          <a:spcPts val="0"/>
                        </a:spcAft>
                        <a:buClr>
                          <a:srgbClr val="FFFFFF"/>
                        </a:buClr>
                        <a:buSzPts val="1200"/>
                        <a:buFont typeface="Calibri"/>
                        <a:buNone/>
                      </a:pPr>
                      <a:r>
                        <a:rPr lang="en-US" sz="1200" u="none" cap="none" strike="noStrike">
                          <a:solidFill>
                            <a:srgbClr val="FFFFFF"/>
                          </a:solidFill>
                          <a:latin typeface="Calibri"/>
                          <a:ea typeface="Calibri"/>
                          <a:cs typeface="Calibri"/>
                          <a:sym typeface="Calibri"/>
                        </a:rPr>
                        <a:t>87.7%</a:t>
                      </a:r>
                      <a:endParaRPr sz="1200" u="none" cap="none" strike="noStrike">
                        <a:latin typeface="Calibri"/>
                        <a:ea typeface="Calibri"/>
                        <a:cs typeface="Calibri"/>
                        <a:sym typeface="Calibri"/>
                      </a:endParaRPr>
                    </a:p>
                  </a:txBody>
                  <a:tcPr marT="45725" marB="45725" marR="91450" marL="91450" anchor="ctr">
                    <a:lnL cap="flat" cmpd="sng" w="9525">
                      <a:solidFill>
                        <a:srgbClr val="3A4580"/>
                      </a:solidFill>
                      <a:prstDash val="solid"/>
                      <a:round/>
                      <a:headEnd len="sm" w="sm" type="none"/>
                      <a:tailEnd len="sm" w="sm" type="none"/>
                    </a:lnL>
                    <a:lnR cap="flat" cmpd="sng" w="9525">
                      <a:solidFill>
                        <a:srgbClr val="3A4580"/>
                      </a:solidFill>
                      <a:prstDash val="solid"/>
                      <a:round/>
                      <a:headEnd len="sm" w="sm" type="none"/>
                      <a:tailEnd len="sm" w="sm" type="none"/>
                    </a:lnR>
                    <a:lnT cap="flat" cmpd="sng" w="9525">
                      <a:solidFill>
                        <a:srgbClr val="3A4580"/>
                      </a:solidFill>
                      <a:prstDash val="solid"/>
                      <a:round/>
                      <a:headEnd len="sm" w="sm" type="none"/>
                      <a:tailEnd len="sm" w="sm" type="none"/>
                    </a:lnT>
                    <a:lnB cap="flat" cmpd="sng" w="9525">
                      <a:solidFill>
                        <a:srgbClr val="3A4580"/>
                      </a:solidFill>
                      <a:prstDash val="solid"/>
                      <a:round/>
                      <a:headEnd len="sm" w="sm" type="none"/>
                      <a:tailEnd len="sm" w="sm" type="none"/>
                    </a:lnB>
                    <a:solidFill>
                      <a:srgbClr val="1E2F6E"/>
                    </a:solidFill>
                  </a:tcPr>
                </a:tc>
                <a:tc>
                  <a:txBody>
                    <a:bodyPr/>
                    <a:lstStyle/>
                    <a:p>
                      <a:pPr indent="0" lvl="0" marL="0" marR="0" rtl="0" algn="ctr">
                        <a:spcBef>
                          <a:spcPts val="0"/>
                        </a:spcBef>
                        <a:spcAft>
                          <a:spcPts val="0"/>
                        </a:spcAft>
                        <a:buClr>
                          <a:srgbClr val="FFFFFF"/>
                        </a:buClr>
                        <a:buSzPts val="1200"/>
                        <a:buFont typeface="Calibri"/>
                        <a:buNone/>
                      </a:pPr>
                      <a:r>
                        <a:rPr lang="en-US" sz="1200" u="none" cap="none" strike="noStrike">
                          <a:solidFill>
                            <a:srgbClr val="FFFFFF"/>
                          </a:solidFill>
                          <a:latin typeface="Calibri"/>
                          <a:ea typeface="Calibri"/>
                          <a:cs typeface="Calibri"/>
                          <a:sym typeface="Calibri"/>
                        </a:rPr>
                        <a:t>265</a:t>
                      </a:r>
                      <a:endParaRPr sz="1200" u="none" cap="none" strike="noStrike">
                        <a:latin typeface="Calibri"/>
                        <a:ea typeface="Calibri"/>
                        <a:cs typeface="Calibri"/>
                        <a:sym typeface="Calibri"/>
                      </a:endParaRPr>
                    </a:p>
                  </a:txBody>
                  <a:tcPr marT="45725" marB="45725" marR="91450" marL="91450" anchor="ctr">
                    <a:lnL cap="flat" cmpd="sng" w="9525">
                      <a:solidFill>
                        <a:srgbClr val="3A4580"/>
                      </a:solidFill>
                      <a:prstDash val="solid"/>
                      <a:round/>
                      <a:headEnd len="sm" w="sm" type="none"/>
                      <a:tailEnd len="sm" w="sm" type="none"/>
                    </a:lnL>
                    <a:lnR cap="flat" cmpd="sng" w="9525">
                      <a:solidFill>
                        <a:srgbClr val="3A4580"/>
                      </a:solidFill>
                      <a:prstDash val="solid"/>
                      <a:round/>
                      <a:headEnd len="sm" w="sm" type="none"/>
                      <a:tailEnd len="sm" w="sm" type="none"/>
                    </a:lnR>
                    <a:lnT cap="flat" cmpd="sng" w="9525">
                      <a:solidFill>
                        <a:srgbClr val="3A4580"/>
                      </a:solidFill>
                      <a:prstDash val="solid"/>
                      <a:round/>
                      <a:headEnd len="sm" w="sm" type="none"/>
                      <a:tailEnd len="sm" w="sm" type="none"/>
                    </a:lnT>
                    <a:lnB cap="flat" cmpd="sng" w="9525">
                      <a:solidFill>
                        <a:srgbClr val="3A4580"/>
                      </a:solidFill>
                      <a:prstDash val="solid"/>
                      <a:round/>
                      <a:headEnd len="sm" w="sm" type="none"/>
                      <a:tailEnd len="sm" w="sm" type="none"/>
                    </a:lnB>
                    <a:solidFill>
                      <a:srgbClr val="1E2F6E"/>
                    </a:solidFill>
                  </a:tcPr>
                </a:tc>
                <a:tc>
                  <a:txBody>
                    <a:bodyPr/>
                    <a:lstStyle/>
                    <a:p>
                      <a:pPr indent="0" lvl="0" marL="0" marR="0" rtl="0" algn="ctr">
                        <a:spcBef>
                          <a:spcPts val="0"/>
                        </a:spcBef>
                        <a:spcAft>
                          <a:spcPts val="0"/>
                        </a:spcAft>
                        <a:buClr>
                          <a:srgbClr val="FFFFFF"/>
                        </a:buClr>
                        <a:buSzPts val="1200"/>
                        <a:buFont typeface="Calibri"/>
                        <a:buNone/>
                      </a:pPr>
                      <a:r>
                        <a:rPr lang="en-US" sz="1200" u="none" cap="none" strike="noStrike">
                          <a:solidFill>
                            <a:srgbClr val="FFFFFF"/>
                          </a:solidFill>
                          <a:latin typeface="Calibri"/>
                          <a:ea typeface="Calibri"/>
                          <a:cs typeface="Calibri"/>
                          <a:sym typeface="Calibri"/>
                        </a:rPr>
                        <a:t>—</a:t>
                      </a:r>
                      <a:endParaRPr sz="1200" u="none" cap="none" strike="noStrike">
                        <a:latin typeface="Calibri"/>
                        <a:ea typeface="Calibri"/>
                        <a:cs typeface="Calibri"/>
                        <a:sym typeface="Calibri"/>
                      </a:endParaRPr>
                    </a:p>
                  </a:txBody>
                  <a:tcPr marT="45725" marB="45725" marR="91450" marL="91450" anchor="ctr">
                    <a:lnL cap="flat" cmpd="sng" w="9525">
                      <a:solidFill>
                        <a:srgbClr val="3A4580"/>
                      </a:solidFill>
                      <a:prstDash val="solid"/>
                      <a:round/>
                      <a:headEnd len="sm" w="sm" type="none"/>
                      <a:tailEnd len="sm" w="sm" type="none"/>
                    </a:lnL>
                    <a:lnR cap="flat" cmpd="sng" w="9525">
                      <a:solidFill>
                        <a:srgbClr val="3A4580"/>
                      </a:solidFill>
                      <a:prstDash val="solid"/>
                      <a:round/>
                      <a:headEnd len="sm" w="sm" type="none"/>
                      <a:tailEnd len="sm" w="sm" type="none"/>
                    </a:lnR>
                    <a:lnT cap="flat" cmpd="sng" w="9525">
                      <a:solidFill>
                        <a:srgbClr val="3A4580"/>
                      </a:solidFill>
                      <a:prstDash val="solid"/>
                      <a:round/>
                      <a:headEnd len="sm" w="sm" type="none"/>
                      <a:tailEnd len="sm" w="sm" type="none"/>
                    </a:lnT>
                    <a:lnB cap="flat" cmpd="sng" w="9525">
                      <a:solidFill>
                        <a:srgbClr val="3A4580"/>
                      </a:solidFill>
                      <a:prstDash val="solid"/>
                      <a:round/>
                      <a:headEnd len="sm" w="sm" type="none"/>
                      <a:tailEnd len="sm" w="sm" type="none"/>
                    </a:lnB>
                    <a:solidFill>
                      <a:srgbClr val="1E2F6E"/>
                    </a:solidFill>
                  </a:tcPr>
                </a:tc>
              </a:tr>
              <a:tr h="384050">
                <a:tc>
                  <a:txBody>
                    <a:bodyPr/>
                    <a:lstStyle/>
                    <a:p>
                      <a:pPr indent="0" lvl="0" marL="0" marR="0" rtl="0" algn="ctr">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S2 </a:t>
                      </a:r>
                      <a:r>
                        <a:rPr b="1" lang="en-US" sz="1200">
                          <a:solidFill>
                            <a:srgbClr val="FFFFFF"/>
                          </a:solidFill>
                          <a:latin typeface="Calibri"/>
                          <a:ea typeface="Calibri"/>
                          <a:cs typeface="Calibri"/>
                          <a:sym typeface="Calibri"/>
                        </a:rPr>
                        <a:t>-</a:t>
                      </a:r>
                      <a:r>
                        <a:rPr b="1" lang="en-US" sz="1200" u="none" cap="none" strike="noStrike">
                          <a:solidFill>
                            <a:srgbClr val="FFFFFF"/>
                          </a:solidFill>
                          <a:latin typeface="Calibri"/>
                          <a:ea typeface="Calibri"/>
                          <a:cs typeface="Calibri"/>
                          <a:sym typeface="Calibri"/>
                        </a:rPr>
                        <a:t> Tier </a:t>
                      </a:r>
                      <a:r>
                        <a:rPr b="1" lang="en-US" sz="1200">
                          <a:solidFill>
                            <a:srgbClr val="FFFFFF"/>
                          </a:solidFill>
                          <a:latin typeface="Calibri"/>
                          <a:ea typeface="Calibri"/>
                          <a:cs typeface="Calibri"/>
                          <a:sym typeface="Calibri"/>
                        </a:rPr>
                        <a:t>qualification</a:t>
                      </a:r>
                      <a:endParaRPr sz="1200" u="none" cap="none" strike="noStrike">
                        <a:latin typeface="Calibri"/>
                        <a:ea typeface="Calibri"/>
                        <a:cs typeface="Calibri"/>
                        <a:sym typeface="Calibri"/>
                      </a:endParaRPr>
                    </a:p>
                  </a:txBody>
                  <a:tcPr marT="45725" marB="45725" marR="91450" marL="91450" anchor="ctr">
                    <a:lnL cap="flat" cmpd="sng" w="9525">
                      <a:solidFill>
                        <a:srgbClr val="3A4580"/>
                      </a:solidFill>
                      <a:prstDash val="solid"/>
                      <a:round/>
                      <a:headEnd len="sm" w="sm" type="none"/>
                      <a:tailEnd len="sm" w="sm" type="none"/>
                    </a:lnL>
                    <a:lnR cap="flat" cmpd="sng" w="9525">
                      <a:solidFill>
                        <a:srgbClr val="3A4580"/>
                      </a:solidFill>
                      <a:prstDash val="solid"/>
                      <a:round/>
                      <a:headEnd len="sm" w="sm" type="none"/>
                      <a:tailEnd len="sm" w="sm" type="none"/>
                    </a:lnR>
                    <a:lnT cap="flat" cmpd="sng" w="9525">
                      <a:solidFill>
                        <a:srgbClr val="3A4580"/>
                      </a:solidFill>
                      <a:prstDash val="solid"/>
                      <a:round/>
                      <a:headEnd len="sm" w="sm" type="none"/>
                      <a:tailEnd len="sm" w="sm" type="none"/>
                    </a:lnT>
                    <a:lnB cap="flat" cmpd="sng" w="9525">
                      <a:solidFill>
                        <a:srgbClr val="3A4580"/>
                      </a:solidFill>
                      <a:prstDash val="solid"/>
                      <a:round/>
                      <a:headEnd len="sm" w="sm" type="none"/>
                      <a:tailEnd len="sm" w="sm" type="none"/>
                    </a:lnB>
                    <a:solidFill>
                      <a:srgbClr val="3A1A0A"/>
                    </a:solidFill>
                  </a:tcPr>
                </a:tc>
                <a:tc>
                  <a:txBody>
                    <a:bodyPr/>
                    <a:lstStyle/>
                    <a:p>
                      <a:pPr indent="0" lvl="0" marL="0" marR="0" rtl="0" algn="ctr">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89.4%</a:t>
                      </a:r>
                      <a:endParaRPr sz="1200" u="none" cap="none" strike="noStrike">
                        <a:latin typeface="Calibri"/>
                        <a:ea typeface="Calibri"/>
                        <a:cs typeface="Calibri"/>
                        <a:sym typeface="Calibri"/>
                      </a:endParaRPr>
                    </a:p>
                  </a:txBody>
                  <a:tcPr marT="45725" marB="45725" marR="91450" marL="91450" anchor="ctr">
                    <a:lnL cap="flat" cmpd="sng" w="9525">
                      <a:solidFill>
                        <a:srgbClr val="3A4580"/>
                      </a:solidFill>
                      <a:prstDash val="solid"/>
                      <a:round/>
                      <a:headEnd len="sm" w="sm" type="none"/>
                      <a:tailEnd len="sm" w="sm" type="none"/>
                    </a:lnL>
                    <a:lnR cap="flat" cmpd="sng" w="9525">
                      <a:solidFill>
                        <a:srgbClr val="3A4580"/>
                      </a:solidFill>
                      <a:prstDash val="solid"/>
                      <a:round/>
                      <a:headEnd len="sm" w="sm" type="none"/>
                      <a:tailEnd len="sm" w="sm" type="none"/>
                    </a:lnR>
                    <a:lnT cap="flat" cmpd="sng" w="9525">
                      <a:solidFill>
                        <a:srgbClr val="3A4580"/>
                      </a:solidFill>
                      <a:prstDash val="solid"/>
                      <a:round/>
                      <a:headEnd len="sm" w="sm" type="none"/>
                      <a:tailEnd len="sm" w="sm" type="none"/>
                    </a:lnT>
                    <a:lnB cap="flat" cmpd="sng" w="9525">
                      <a:solidFill>
                        <a:srgbClr val="3A4580"/>
                      </a:solidFill>
                      <a:prstDash val="solid"/>
                      <a:round/>
                      <a:headEnd len="sm" w="sm" type="none"/>
                      <a:tailEnd len="sm" w="sm" type="none"/>
                    </a:lnB>
                    <a:solidFill>
                      <a:srgbClr val="3A1A0A"/>
                    </a:solidFill>
                  </a:tcPr>
                </a:tc>
                <a:tc>
                  <a:txBody>
                    <a:bodyPr/>
                    <a:lstStyle/>
                    <a:p>
                      <a:pPr indent="0" lvl="0" marL="0" marR="0" rtl="0" algn="ctr">
                        <a:spcBef>
                          <a:spcPts val="0"/>
                        </a:spcBef>
                        <a:spcAft>
                          <a:spcPts val="0"/>
                        </a:spcAft>
                        <a:buClr>
                          <a:srgbClr val="E8593C"/>
                        </a:buClr>
                        <a:buSzPts val="1200"/>
                        <a:buFont typeface="Calibri"/>
                        <a:buNone/>
                      </a:pPr>
                      <a:r>
                        <a:rPr b="1" lang="en-US" sz="1200" u="none" cap="none" strike="noStrike">
                          <a:solidFill>
                            <a:srgbClr val="E8593C"/>
                          </a:solidFill>
                          <a:latin typeface="Calibri"/>
                          <a:ea typeface="Calibri"/>
                          <a:cs typeface="Calibri"/>
                          <a:sym typeface="Calibri"/>
                        </a:rPr>
                        <a:t>270</a:t>
                      </a:r>
                      <a:endParaRPr sz="1200" u="none" cap="none" strike="noStrike">
                        <a:latin typeface="Calibri"/>
                        <a:ea typeface="Calibri"/>
                        <a:cs typeface="Calibri"/>
                        <a:sym typeface="Calibri"/>
                      </a:endParaRPr>
                    </a:p>
                  </a:txBody>
                  <a:tcPr marT="45725" marB="45725" marR="91450" marL="91450" anchor="ctr">
                    <a:lnL cap="flat" cmpd="sng" w="9525">
                      <a:solidFill>
                        <a:srgbClr val="3A4580"/>
                      </a:solidFill>
                      <a:prstDash val="solid"/>
                      <a:round/>
                      <a:headEnd len="sm" w="sm" type="none"/>
                      <a:tailEnd len="sm" w="sm" type="none"/>
                    </a:lnL>
                    <a:lnR cap="flat" cmpd="sng" w="9525">
                      <a:solidFill>
                        <a:srgbClr val="3A4580"/>
                      </a:solidFill>
                      <a:prstDash val="solid"/>
                      <a:round/>
                      <a:headEnd len="sm" w="sm" type="none"/>
                      <a:tailEnd len="sm" w="sm" type="none"/>
                    </a:lnR>
                    <a:lnT cap="flat" cmpd="sng" w="9525">
                      <a:solidFill>
                        <a:srgbClr val="3A4580"/>
                      </a:solidFill>
                      <a:prstDash val="solid"/>
                      <a:round/>
                      <a:headEnd len="sm" w="sm" type="none"/>
                      <a:tailEnd len="sm" w="sm" type="none"/>
                    </a:lnT>
                    <a:lnB cap="flat" cmpd="sng" w="9525">
                      <a:solidFill>
                        <a:srgbClr val="3A4580"/>
                      </a:solidFill>
                      <a:prstDash val="solid"/>
                      <a:round/>
                      <a:headEnd len="sm" w="sm" type="none"/>
                      <a:tailEnd len="sm" w="sm" type="none"/>
                    </a:lnB>
                    <a:solidFill>
                      <a:srgbClr val="3A1A0A"/>
                    </a:solidFill>
                  </a:tcPr>
                </a:tc>
                <a:tc>
                  <a:txBody>
                    <a:bodyPr/>
                    <a:lstStyle/>
                    <a:p>
                      <a:pPr indent="0" lvl="0" marL="0" marR="0" rtl="0" algn="ctr">
                        <a:spcBef>
                          <a:spcPts val="0"/>
                        </a:spcBef>
                        <a:spcAft>
                          <a:spcPts val="0"/>
                        </a:spcAft>
                        <a:buClr>
                          <a:srgbClr val="E8593C"/>
                        </a:buClr>
                        <a:buSzPts val="1200"/>
                        <a:buFont typeface="Calibri"/>
                        <a:buNone/>
                      </a:pPr>
                      <a:r>
                        <a:rPr b="1" lang="en-US" sz="1200" u="none" cap="none" strike="noStrike">
                          <a:solidFill>
                            <a:srgbClr val="E8593C"/>
                          </a:solidFill>
                          <a:latin typeface="Calibri"/>
                          <a:ea typeface="Calibri"/>
                          <a:cs typeface="Calibri"/>
                          <a:sym typeface="Calibri"/>
                        </a:rPr>
                        <a:t>+1.7 pp</a:t>
                      </a:r>
                      <a:endParaRPr sz="1200" u="none" cap="none" strike="noStrike">
                        <a:latin typeface="Calibri"/>
                        <a:ea typeface="Calibri"/>
                        <a:cs typeface="Calibri"/>
                        <a:sym typeface="Calibri"/>
                      </a:endParaRPr>
                    </a:p>
                  </a:txBody>
                  <a:tcPr marT="45725" marB="45725" marR="91450" marL="91450" anchor="ctr">
                    <a:lnL cap="flat" cmpd="sng" w="9525">
                      <a:solidFill>
                        <a:srgbClr val="3A4580"/>
                      </a:solidFill>
                      <a:prstDash val="solid"/>
                      <a:round/>
                      <a:headEnd len="sm" w="sm" type="none"/>
                      <a:tailEnd len="sm" w="sm" type="none"/>
                    </a:lnL>
                    <a:lnR cap="flat" cmpd="sng" w="9525">
                      <a:solidFill>
                        <a:srgbClr val="3A4580"/>
                      </a:solidFill>
                      <a:prstDash val="solid"/>
                      <a:round/>
                      <a:headEnd len="sm" w="sm" type="none"/>
                      <a:tailEnd len="sm" w="sm" type="none"/>
                    </a:lnR>
                    <a:lnT cap="flat" cmpd="sng" w="9525">
                      <a:solidFill>
                        <a:srgbClr val="3A4580"/>
                      </a:solidFill>
                      <a:prstDash val="solid"/>
                      <a:round/>
                      <a:headEnd len="sm" w="sm" type="none"/>
                      <a:tailEnd len="sm" w="sm" type="none"/>
                    </a:lnT>
                    <a:lnB cap="flat" cmpd="sng" w="9525">
                      <a:solidFill>
                        <a:srgbClr val="3A4580"/>
                      </a:solidFill>
                      <a:prstDash val="solid"/>
                      <a:round/>
                      <a:headEnd len="sm" w="sm" type="none"/>
                      <a:tailEnd len="sm" w="sm" type="none"/>
                    </a:lnB>
                    <a:solidFill>
                      <a:srgbClr val="3A1A0A"/>
                    </a:solidFill>
                  </a:tcPr>
                </a:tc>
              </a:tr>
              <a:tr h="347475">
                <a:tc>
                  <a:txBody>
                    <a:bodyPr/>
                    <a:lstStyle/>
                    <a:p>
                      <a:pPr indent="0" lvl="0" marL="0" marR="0" rtl="0" algn="ctr">
                        <a:spcBef>
                          <a:spcPts val="0"/>
                        </a:spcBef>
                        <a:spcAft>
                          <a:spcPts val="0"/>
                        </a:spcAft>
                        <a:buClr>
                          <a:srgbClr val="FFFFFF"/>
                        </a:buClr>
                        <a:buSzPts val="1200"/>
                        <a:buFont typeface="Calibri"/>
                        <a:buNone/>
                      </a:pPr>
                      <a:r>
                        <a:rPr lang="en-US" sz="1200" u="none" cap="none" strike="noStrike">
                          <a:solidFill>
                            <a:srgbClr val="FFFFFF"/>
                          </a:solidFill>
                          <a:latin typeface="Calibri"/>
                          <a:ea typeface="Calibri"/>
                          <a:cs typeface="Calibri"/>
                          <a:sym typeface="Calibri"/>
                        </a:rPr>
                        <a:t>S3 </a:t>
                      </a:r>
                      <a:r>
                        <a:rPr lang="en-US" sz="1200">
                          <a:solidFill>
                            <a:srgbClr val="FFFFFF"/>
                          </a:solidFill>
                          <a:latin typeface="Calibri"/>
                          <a:ea typeface="Calibri"/>
                          <a:cs typeface="Calibri"/>
                          <a:sym typeface="Calibri"/>
                        </a:rPr>
                        <a:t>-</a:t>
                      </a:r>
                      <a:r>
                        <a:rPr lang="en-US" sz="1200" u="none" cap="none" strike="noStrike">
                          <a:solidFill>
                            <a:srgbClr val="FFFFFF"/>
                          </a:solidFill>
                          <a:latin typeface="Calibri"/>
                          <a:ea typeface="Calibri"/>
                          <a:cs typeface="Calibri"/>
                          <a:sym typeface="Calibri"/>
                        </a:rPr>
                        <a:t> Blend</a:t>
                      </a:r>
                      <a:endParaRPr sz="1200" u="none" cap="none" strike="noStrike">
                        <a:latin typeface="Calibri"/>
                        <a:ea typeface="Calibri"/>
                        <a:cs typeface="Calibri"/>
                        <a:sym typeface="Calibri"/>
                      </a:endParaRPr>
                    </a:p>
                  </a:txBody>
                  <a:tcPr marT="45725" marB="45725" marR="91450" marL="91450" anchor="ctr">
                    <a:lnL cap="flat" cmpd="sng" w="9525">
                      <a:solidFill>
                        <a:srgbClr val="3A4580"/>
                      </a:solidFill>
                      <a:prstDash val="solid"/>
                      <a:round/>
                      <a:headEnd len="sm" w="sm" type="none"/>
                      <a:tailEnd len="sm" w="sm" type="none"/>
                    </a:lnL>
                    <a:lnR cap="flat" cmpd="sng" w="9525">
                      <a:solidFill>
                        <a:srgbClr val="3A4580"/>
                      </a:solidFill>
                      <a:prstDash val="solid"/>
                      <a:round/>
                      <a:headEnd len="sm" w="sm" type="none"/>
                      <a:tailEnd len="sm" w="sm" type="none"/>
                    </a:lnR>
                    <a:lnT cap="flat" cmpd="sng" w="9525">
                      <a:solidFill>
                        <a:srgbClr val="3A4580"/>
                      </a:solidFill>
                      <a:prstDash val="solid"/>
                      <a:round/>
                      <a:headEnd len="sm" w="sm" type="none"/>
                      <a:tailEnd len="sm" w="sm" type="none"/>
                    </a:lnT>
                    <a:lnB cap="flat" cmpd="sng" w="9525">
                      <a:solidFill>
                        <a:srgbClr val="3A4580"/>
                      </a:solidFill>
                      <a:prstDash val="solid"/>
                      <a:round/>
                      <a:headEnd len="sm" w="sm" type="none"/>
                      <a:tailEnd len="sm" w="sm" type="none"/>
                    </a:lnB>
                    <a:solidFill>
                      <a:srgbClr val="1A3A1A"/>
                    </a:solidFill>
                  </a:tcPr>
                </a:tc>
                <a:tc>
                  <a:txBody>
                    <a:bodyPr/>
                    <a:lstStyle/>
                    <a:p>
                      <a:pPr indent="0" lvl="0" marL="0" marR="0" rtl="0" algn="ctr">
                        <a:spcBef>
                          <a:spcPts val="0"/>
                        </a:spcBef>
                        <a:spcAft>
                          <a:spcPts val="0"/>
                        </a:spcAft>
                        <a:buClr>
                          <a:srgbClr val="FFFFFF"/>
                        </a:buClr>
                        <a:buSzPts val="1200"/>
                        <a:buFont typeface="Calibri"/>
                        <a:buNone/>
                      </a:pPr>
                      <a:r>
                        <a:rPr lang="en-US" sz="1200" u="none" cap="none" strike="noStrike">
                          <a:solidFill>
                            <a:srgbClr val="FFFFFF"/>
                          </a:solidFill>
                          <a:latin typeface="Calibri"/>
                          <a:ea typeface="Calibri"/>
                          <a:cs typeface="Calibri"/>
                          <a:sym typeface="Calibri"/>
                        </a:rPr>
                        <a:t>88.1%</a:t>
                      </a:r>
                      <a:endParaRPr sz="1200" u="none" cap="none" strike="noStrike">
                        <a:latin typeface="Calibri"/>
                        <a:ea typeface="Calibri"/>
                        <a:cs typeface="Calibri"/>
                        <a:sym typeface="Calibri"/>
                      </a:endParaRPr>
                    </a:p>
                  </a:txBody>
                  <a:tcPr marT="45725" marB="45725" marR="91450" marL="91450" anchor="ctr">
                    <a:lnL cap="flat" cmpd="sng" w="9525">
                      <a:solidFill>
                        <a:srgbClr val="3A4580"/>
                      </a:solidFill>
                      <a:prstDash val="solid"/>
                      <a:round/>
                      <a:headEnd len="sm" w="sm" type="none"/>
                      <a:tailEnd len="sm" w="sm" type="none"/>
                    </a:lnL>
                    <a:lnR cap="flat" cmpd="sng" w="9525">
                      <a:solidFill>
                        <a:srgbClr val="3A4580"/>
                      </a:solidFill>
                      <a:prstDash val="solid"/>
                      <a:round/>
                      <a:headEnd len="sm" w="sm" type="none"/>
                      <a:tailEnd len="sm" w="sm" type="none"/>
                    </a:lnR>
                    <a:lnT cap="flat" cmpd="sng" w="9525">
                      <a:solidFill>
                        <a:srgbClr val="3A4580"/>
                      </a:solidFill>
                      <a:prstDash val="solid"/>
                      <a:round/>
                      <a:headEnd len="sm" w="sm" type="none"/>
                      <a:tailEnd len="sm" w="sm" type="none"/>
                    </a:lnT>
                    <a:lnB cap="flat" cmpd="sng" w="9525">
                      <a:solidFill>
                        <a:srgbClr val="3A4580"/>
                      </a:solidFill>
                      <a:prstDash val="solid"/>
                      <a:round/>
                      <a:headEnd len="sm" w="sm" type="none"/>
                      <a:tailEnd len="sm" w="sm" type="none"/>
                    </a:lnB>
                    <a:solidFill>
                      <a:srgbClr val="1A3A1A"/>
                    </a:solidFill>
                  </a:tcPr>
                </a:tc>
                <a:tc>
                  <a:txBody>
                    <a:bodyPr/>
                    <a:lstStyle/>
                    <a:p>
                      <a:pPr indent="0" lvl="0" marL="0" marR="0" rtl="0" algn="ctr">
                        <a:spcBef>
                          <a:spcPts val="0"/>
                        </a:spcBef>
                        <a:spcAft>
                          <a:spcPts val="0"/>
                        </a:spcAft>
                        <a:buClr>
                          <a:srgbClr val="4CAF50"/>
                        </a:buClr>
                        <a:buSzPts val="1200"/>
                        <a:buFont typeface="Calibri"/>
                        <a:buNone/>
                      </a:pPr>
                      <a:r>
                        <a:rPr lang="en-US" sz="1200" u="none" cap="none" strike="noStrike">
                          <a:solidFill>
                            <a:srgbClr val="4CAF50"/>
                          </a:solidFill>
                          <a:latin typeface="Calibri"/>
                          <a:ea typeface="Calibri"/>
                          <a:cs typeface="Calibri"/>
                          <a:sym typeface="Calibri"/>
                        </a:rPr>
                        <a:t>266</a:t>
                      </a:r>
                      <a:endParaRPr sz="1200" u="none" cap="none" strike="noStrike">
                        <a:latin typeface="Calibri"/>
                        <a:ea typeface="Calibri"/>
                        <a:cs typeface="Calibri"/>
                        <a:sym typeface="Calibri"/>
                      </a:endParaRPr>
                    </a:p>
                  </a:txBody>
                  <a:tcPr marT="45725" marB="45725" marR="91450" marL="91450" anchor="ctr">
                    <a:lnL cap="flat" cmpd="sng" w="9525">
                      <a:solidFill>
                        <a:srgbClr val="3A4580"/>
                      </a:solidFill>
                      <a:prstDash val="solid"/>
                      <a:round/>
                      <a:headEnd len="sm" w="sm" type="none"/>
                      <a:tailEnd len="sm" w="sm" type="none"/>
                    </a:lnL>
                    <a:lnR cap="flat" cmpd="sng" w="9525">
                      <a:solidFill>
                        <a:srgbClr val="3A4580"/>
                      </a:solidFill>
                      <a:prstDash val="solid"/>
                      <a:round/>
                      <a:headEnd len="sm" w="sm" type="none"/>
                      <a:tailEnd len="sm" w="sm" type="none"/>
                    </a:lnR>
                    <a:lnT cap="flat" cmpd="sng" w="9525">
                      <a:solidFill>
                        <a:srgbClr val="3A4580"/>
                      </a:solidFill>
                      <a:prstDash val="solid"/>
                      <a:round/>
                      <a:headEnd len="sm" w="sm" type="none"/>
                      <a:tailEnd len="sm" w="sm" type="none"/>
                    </a:lnT>
                    <a:lnB cap="flat" cmpd="sng" w="9525">
                      <a:solidFill>
                        <a:srgbClr val="3A4580"/>
                      </a:solidFill>
                      <a:prstDash val="solid"/>
                      <a:round/>
                      <a:headEnd len="sm" w="sm" type="none"/>
                      <a:tailEnd len="sm" w="sm" type="none"/>
                    </a:lnB>
                    <a:solidFill>
                      <a:srgbClr val="1A3A1A"/>
                    </a:solidFill>
                  </a:tcPr>
                </a:tc>
                <a:tc>
                  <a:txBody>
                    <a:bodyPr/>
                    <a:lstStyle/>
                    <a:p>
                      <a:pPr indent="0" lvl="0" marL="0" marR="0" rtl="0" algn="ctr">
                        <a:spcBef>
                          <a:spcPts val="0"/>
                        </a:spcBef>
                        <a:spcAft>
                          <a:spcPts val="0"/>
                        </a:spcAft>
                        <a:buClr>
                          <a:srgbClr val="4CAF50"/>
                        </a:buClr>
                        <a:buSzPts val="1200"/>
                        <a:buFont typeface="Calibri"/>
                        <a:buNone/>
                      </a:pPr>
                      <a:r>
                        <a:rPr lang="en-US" sz="1200" u="none" cap="none" strike="noStrike">
                          <a:solidFill>
                            <a:srgbClr val="4CAF50"/>
                          </a:solidFill>
                          <a:latin typeface="Calibri"/>
                          <a:ea typeface="Calibri"/>
                          <a:cs typeface="Calibri"/>
                          <a:sym typeface="Calibri"/>
                        </a:rPr>
                        <a:t>+0.3 pp</a:t>
                      </a:r>
                      <a:endParaRPr sz="1200" u="none" cap="none" strike="noStrike">
                        <a:latin typeface="Calibri"/>
                        <a:ea typeface="Calibri"/>
                        <a:cs typeface="Calibri"/>
                        <a:sym typeface="Calibri"/>
                      </a:endParaRPr>
                    </a:p>
                  </a:txBody>
                  <a:tcPr marT="45725" marB="45725" marR="91450" marL="91450" anchor="ctr">
                    <a:lnL cap="flat" cmpd="sng" w="9525">
                      <a:solidFill>
                        <a:srgbClr val="3A4580"/>
                      </a:solidFill>
                      <a:prstDash val="solid"/>
                      <a:round/>
                      <a:headEnd len="sm" w="sm" type="none"/>
                      <a:tailEnd len="sm" w="sm" type="none"/>
                    </a:lnL>
                    <a:lnR cap="flat" cmpd="sng" w="9525">
                      <a:solidFill>
                        <a:srgbClr val="3A4580"/>
                      </a:solidFill>
                      <a:prstDash val="solid"/>
                      <a:round/>
                      <a:headEnd len="sm" w="sm" type="none"/>
                      <a:tailEnd len="sm" w="sm" type="none"/>
                    </a:lnR>
                    <a:lnT cap="flat" cmpd="sng" w="9525">
                      <a:solidFill>
                        <a:srgbClr val="3A4580"/>
                      </a:solidFill>
                      <a:prstDash val="solid"/>
                      <a:round/>
                      <a:headEnd len="sm" w="sm" type="none"/>
                      <a:tailEnd len="sm" w="sm" type="none"/>
                    </a:lnT>
                    <a:lnB cap="flat" cmpd="sng" w="9525">
                      <a:solidFill>
                        <a:srgbClr val="3A4580"/>
                      </a:solidFill>
                      <a:prstDash val="solid"/>
                      <a:round/>
                      <a:headEnd len="sm" w="sm" type="none"/>
                      <a:tailEnd len="sm" w="sm" type="none"/>
                    </a:lnB>
                    <a:solidFill>
                      <a:srgbClr val="1A3A1A"/>
                    </a:solidFill>
                  </a:tcPr>
                </a:tc>
              </a:tr>
            </a:tbl>
          </a:graphicData>
        </a:graphic>
      </p:graphicFrame>
      <p:sp>
        <p:nvSpPr>
          <p:cNvPr id="188" name="Google Shape;188;p9"/>
          <p:cNvSpPr/>
          <p:nvPr/>
        </p:nvSpPr>
        <p:spPr>
          <a:xfrm>
            <a:off x="731520" y="3200400"/>
            <a:ext cx="768096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ADCFC"/>
              </a:buClr>
              <a:buSzPts val="1300"/>
              <a:buFont typeface="Calibri"/>
              <a:buNone/>
            </a:pPr>
            <a:r>
              <a:rPr b="0" i="0" lang="en-US" sz="1300" u="none" cap="none" strike="noStrike">
                <a:solidFill>
                  <a:srgbClr val="CADCFC"/>
                </a:solidFill>
                <a:latin typeface="Calibri"/>
                <a:ea typeface="Calibri"/>
                <a:cs typeface="Calibri"/>
                <a:sym typeface="Calibri"/>
              </a:rPr>
              <a:t>S3 also improved (+0.3 pp) — the qualification signal itself has value.</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CADCFC"/>
              </a:buClr>
              <a:buSzPts val="1300"/>
              <a:buFont typeface="Calibri"/>
              <a:buNone/>
            </a:pPr>
            <a:r>
              <a:rPr b="0" i="0" lang="en-US" sz="1300" u="none" cap="none" strike="noStrike">
                <a:solidFill>
                  <a:srgbClr val="CADCFC"/>
                </a:solidFill>
                <a:latin typeface="Calibri"/>
                <a:ea typeface="Calibri"/>
                <a:cs typeface="Calibri"/>
                <a:sym typeface="Calibri"/>
              </a:rPr>
              <a:t>But S2's larger gain (+1.7 pp) shows allocation matters more than score adjustment.</a:t>
            </a:r>
            <a:endParaRPr b="0" i="0" sz="1300" u="none" cap="none" strike="noStrike">
              <a:solidFill>
                <a:schemeClr val="dk1"/>
              </a:solidFill>
              <a:latin typeface="Calibri"/>
              <a:ea typeface="Calibri"/>
              <a:cs typeface="Calibri"/>
              <a:sym typeface="Calibri"/>
            </a:endParaRPr>
          </a:p>
        </p:txBody>
      </p:sp>
      <p:sp>
        <p:nvSpPr>
          <p:cNvPr id="189" name="Google Shape;189;p9"/>
          <p:cNvSpPr/>
          <p:nvPr/>
        </p:nvSpPr>
        <p:spPr>
          <a:xfrm>
            <a:off x="731520" y="3931920"/>
            <a:ext cx="768096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1200"/>
              <a:buFont typeface="Calibri"/>
              <a:buNone/>
            </a:pPr>
            <a:r>
              <a:rPr b="0" i="1" lang="en-US" sz="1200" u="none" cap="none" strike="noStrike">
                <a:solidFill>
                  <a:srgbClr val="64748B"/>
                </a:solidFill>
                <a:latin typeface="Calibri"/>
                <a:ea typeface="Calibri"/>
                <a:cs typeface="Calibri"/>
                <a:sym typeface="Calibri"/>
              </a:rPr>
              <a:t>Directional finding: bootstrap CIs overlap. Consistent across all K values.</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4" name="Shape 194"/>
        <p:cNvGrpSpPr/>
        <p:nvPr/>
      </p:nvGrpSpPr>
      <p:grpSpPr>
        <a:xfrm>
          <a:off x="0" y="0"/>
          <a:ext cx="0" cy="0"/>
          <a:chOff x="0" y="0"/>
          <a:chExt cx="0" cy="0"/>
        </a:xfrm>
      </p:grpSpPr>
      <p:pic>
        <p:nvPicPr>
          <p:cNvPr descr="preencoded.png" id="195" name="Google Shape;195;p10"/>
          <p:cNvPicPr preferRelativeResize="0"/>
          <p:nvPr/>
        </p:nvPicPr>
        <p:blipFill rotWithShape="1">
          <a:blip r:embed="rId3">
            <a:alphaModFix/>
          </a:blip>
          <a:srcRect b="0" l="0" r="0" t="0"/>
          <a:stretch/>
        </p:blipFill>
        <p:spPr>
          <a:xfrm>
            <a:off x="731520" y="320040"/>
            <a:ext cx="365760" cy="365760"/>
          </a:xfrm>
          <a:prstGeom prst="rect">
            <a:avLst/>
          </a:prstGeom>
          <a:noFill/>
          <a:ln>
            <a:noFill/>
          </a:ln>
        </p:spPr>
      </p:pic>
      <p:sp>
        <p:nvSpPr>
          <p:cNvPr id="196" name="Google Shape;196;p10"/>
          <p:cNvSpPr/>
          <p:nvPr/>
        </p:nvSpPr>
        <p:spPr>
          <a:xfrm>
            <a:off x="1234440" y="274320"/>
            <a:ext cx="64008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2800"/>
              <a:buFont typeface="Calibri"/>
              <a:buNone/>
            </a:pPr>
            <a:r>
              <a:rPr b="1" i="0" lang="en-US" sz="2800" u="none" cap="none" strike="noStrike">
                <a:solidFill>
                  <a:srgbClr val="1E2761"/>
                </a:solidFill>
                <a:latin typeface="Calibri"/>
                <a:ea typeface="Calibri"/>
                <a:cs typeface="Calibri"/>
                <a:sym typeface="Calibri"/>
              </a:rPr>
              <a:t>Secondary metrics</a:t>
            </a:r>
            <a:endParaRPr b="0" i="0" sz="2800" u="none" cap="none" strike="noStrike">
              <a:solidFill>
                <a:schemeClr val="dk1"/>
              </a:solidFill>
              <a:latin typeface="Calibri"/>
              <a:ea typeface="Calibri"/>
              <a:cs typeface="Calibri"/>
              <a:sym typeface="Calibri"/>
            </a:endParaRPr>
          </a:p>
        </p:txBody>
      </p:sp>
      <p:sp>
        <p:nvSpPr>
          <p:cNvPr id="197" name="Google Shape;197;p10"/>
          <p:cNvSpPr/>
          <p:nvPr/>
        </p:nvSpPr>
        <p:spPr>
          <a:xfrm>
            <a:off x="731520" y="777240"/>
            <a:ext cx="768096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1300"/>
              <a:buFont typeface="Calibri"/>
              <a:buNone/>
            </a:pPr>
            <a:r>
              <a:rPr b="0" i="1" lang="en-US" sz="1300" u="none" cap="none" strike="noStrike">
                <a:solidFill>
                  <a:srgbClr val="64748B"/>
                </a:solidFill>
                <a:latin typeface="Calibri"/>
                <a:ea typeface="Calibri"/>
                <a:cs typeface="Calibri"/>
                <a:sym typeface="Calibri"/>
              </a:rPr>
              <a:t>All metrics measured at K = 20% (302 leads)</a:t>
            </a:r>
            <a:endParaRPr b="0" i="0" sz="1300" u="none" cap="none" strike="noStrike">
              <a:solidFill>
                <a:schemeClr val="dk1"/>
              </a:solidFill>
              <a:latin typeface="Calibri"/>
              <a:ea typeface="Calibri"/>
              <a:cs typeface="Calibri"/>
              <a:sym typeface="Calibri"/>
            </a:endParaRPr>
          </a:p>
        </p:txBody>
      </p:sp>
      <p:graphicFrame>
        <p:nvGraphicFramePr>
          <p:cNvPr id="198" name="Google Shape;198;p10"/>
          <p:cNvGraphicFramePr/>
          <p:nvPr/>
        </p:nvGraphicFramePr>
        <p:xfrm>
          <a:off x="731520" y="1280160"/>
          <a:ext cx="3000000" cy="3000000"/>
        </p:xfrm>
        <a:graphic>
          <a:graphicData uri="http://schemas.openxmlformats.org/drawingml/2006/table">
            <a:tbl>
              <a:tblPr>
                <a:noFill/>
                <a:tableStyleId>{D63AC954-7EFE-4871-A3DF-65480174A828}</a:tableStyleId>
              </a:tblPr>
              <a:tblGrid>
                <a:gridCol w="1828800"/>
                <a:gridCol w="1280150"/>
                <a:gridCol w="1188725"/>
                <a:gridCol w="1097275"/>
                <a:gridCol w="1371600"/>
              </a:tblGrid>
              <a:tr h="365750">
                <a:tc>
                  <a:txBody>
                    <a:bodyPr/>
                    <a:lstStyle/>
                    <a:p>
                      <a:pPr indent="0" lvl="0" marL="0" marR="0" rtl="0" algn="ctr">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System</a:t>
                      </a:r>
                      <a:endParaRPr sz="12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1E2761"/>
                    </a:solidFill>
                  </a:tcPr>
                </a:tc>
                <a:tc>
                  <a:txBody>
                    <a:bodyPr/>
                    <a:lstStyle/>
                    <a:p>
                      <a:pPr indent="0" lvl="0" marL="0" marR="0" rtl="0" algn="ctr">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Precision@K</a:t>
                      </a:r>
                      <a:endParaRPr sz="12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1E2761"/>
                    </a:solidFill>
                  </a:tcPr>
                </a:tc>
                <a:tc>
                  <a:txBody>
                    <a:bodyPr/>
                    <a:lstStyle/>
                    <a:p>
                      <a:pPr indent="0" lvl="0" marL="0" marR="0" rtl="0" algn="ctr">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Recall@K</a:t>
                      </a:r>
                      <a:endParaRPr sz="12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1E2761"/>
                    </a:solidFill>
                  </a:tcPr>
                </a:tc>
                <a:tc>
                  <a:txBody>
                    <a:bodyPr/>
                    <a:lstStyle/>
                    <a:p>
                      <a:pPr indent="0" lvl="0" marL="0" marR="0" rtl="0" algn="ctr">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Lift@K</a:t>
                      </a:r>
                      <a:endParaRPr sz="12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1E2761"/>
                    </a:solidFill>
                  </a:tcPr>
                </a:tc>
                <a:tc>
                  <a:txBody>
                    <a:bodyPr/>
                    <a:lstStyle/>
                    <a:p>
                      <a:pPr indent="0" lvl="0" marL="0" marR="0" rtl="0" algn="ctr">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Wasted Effort</a:t>
                      </a:r>
                      <a:endParaRPr sz="12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1E2761"/>
                    </a:solidFill>
                  </a:tcPr>
                </a:tc>
              </a:tr>
              <a:tr h="365750">
                <a:tc>
                  <a:txBody>
                    <a:bodyPr/>
                    <a:lstStyle/>
                    <a:p>
                      <a:pPr indent="0" lvl="0" marL="0" marR="0" rtl="0" algn="ctr">
                        <a:spcBef>
                          <a:spcPts val="0"/>
                        </a:spcBef>
                        <a:spcAft>
                          <a:spcPts val="0"/>
                        </a:spcAft>
                        <a:buClr>
                          <a:srgbClr val="0F1B3D"/>
                        </a:buClr>
                        <a:buSzPts val="1200"/>
                        <a:buFont typeface="Calibri"/>
                        <a:buNone/>
                      </a:pPr>
                      <a:r>
                        <a:rPr lang="en-US" sz="1200" u="none" cap="none" strike="noStrike">
                          <a:solidFill>
                            <a:srgbClr val="0F1B3D"/>
                          </a:solidFill>
                          <a:latin typeface="Calibri"/>
                          <a:ea typeface="Calibri"/>
                          <a:cs typeface="Calibri"/>
                          <a:sym typeface="Calibri"/>
                        </a:rPr>
                        <a:t>S1</a:t>
                      </a:r>
                      <a:r>
                        <a:rPr lang="en-US" sz="1200">
                          <a:solidFill>
                            <a:srgbClr val="0F1B3D"/>
                          </a:solidFill>
                          <a:latin typeface="Calibri"/>
                          <a:ea typeface="Calibri"/>
                          <a:cs typeface="Calibri"/>
                          <a:sym typeface="Calibri"/>
                        </a:rPr>
                        <a:t>:</a:t>
                      </a:r>
                      <a:r>
                        <a:rPr lang="en-US" sz="1200" u="none" cap="none" strike="noStrike">
                          <a:solidFill>
                            <a:srgbClr val="0F1B3D"/>
                          </a:solidFill>
                          <a:latin typeface="Calibri"/>
                          <a:ea typeface="Calibri"/>
                          <a:cs typeface="Calibri"/>
                          <a:sym typeface="Calibri"/>
                        </a:rPr>
                        <a:t> ML baseline</a:t>
                      </a:r>
                      <a:endParaRPr sz="12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4F8"/>
                    </a:solidFill>
                  </a:tcPr>
                </a:tc>
                <a:tc>
                  <a:txBody>
                    <a:bodyPr/>
                    <a:lstStyle/>
                    <a:p>
                      <a:pPr indent="0" lvl="0" marL="0" marR="0" rtl="0" algn="ctr">
                        <a:spcBef>
                          <a:spcPts val="0"/>
                        </a:spcBef>
                        <a:spcAft>
                          <a:spcPts val="0"/>
                        </a:spcAft>
                        <a:buClr>
                          <a:srgbClr val="0F1B3D"/>
                        </a:buClr>
                        <a:buSzPts val="1200"/>
                        <a:buFont typeface="Calibri"/>
                        <a:buNone/>
                      </a:pPr>
                      <a:r>
                        <a:rPr lang="en-US" sz="1200" u="none" cap="none" strike="noStrike">
                          <a:solidFill>
                            <a:srgbClr val="0F1B3D"/>
                          </a:solidFill>
                          <a:latin typeface="Calibri"/>
                          <a:ea typeface="Calibri"/>
                          <a:cs typeface="Calibri"/>
                          <a:sym typeface="Calibri"/>
                        </a:rPr>
                        <a:t>87.7%</a:t>
                      </a:r>
                      <a:endParaRPr sz="12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4F8"/>
                    </a:solidFill>
                  </a:tcPr>
                </a:tc>
                <a:tc>
                  <a:txBody>
                    <a:bodyPr/>
                    <a:lstStyle/>
                    <a:p>
                      <a:pPr indent="0" lvl="0" marL="0" marR="0" rtl="0" algn="ctr">
                        <a:spcBef>
                          <a:spcPts val="0"/>
                        </a:spcBef>
                        <a:spcAft>
                          <a:spcPts val="0"/>
                        </a:spcAft>
                        <a:buClr>
                          <a:srgbClr val="0F1B3D"/>
                        </a:buClr>
                        <a:buSzPts val="1200"/>
                        <a:buFont typeface="Calibri"/>
                        <a:buNone/>
                      </a:pPr>
                      <a:r>
                        <a:rPr lang="en-US" sz="1200" u="none" cap="none" strike="noStrike">
                          <a:solidFill>
                            <a:srgbClr val="0F1B3D"/>
                          </a:solidFill>
                          <a:latin typeface="Calibri"/>
                          <a:ea typeface="Calibri"/>
                          <a:cs typeface="Calibri"/>
                          <a:sym typeface="Calibri"/>
                        </a:rPr>
                        <a:t>44.1%</a:t>
                      </a:r>
                      <a:endParaRPr sz="12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4F8"/>
                    </a:solidFill>
                  </a:tcPr>
                </a:tc>
                <a:tc>
                  <a:txBody>
                    <a:bodyPr/>
                    <a:lstStyle/>
                    <a:p>
                      <a:pPr indent="0" lvl="0" marL="0" marR="0" rtl="0" algn="ctr">
                        <a:spcBef>
                          <a:spcPts val="0"/>
                        </a:spcBef>
                        <a:spcAft>
                          <a:spcPts val="0"/>
                        </a:spcAft>
                        <a:buClr>
                          <a:srgbClr val="0F1B3D"/>
                        </a:buClr>
                        <a:buSzPts val="1200"/>
                        <a:buFont typeface="Calibri"/>
                        <a:buNone/>
                      </a:pPr>
                      <a:r>
                        <a:rPr lang="en-US" sz="1200" u="none" cap="none" strike="noStrike">
                          <a:solidFill>
                            <a:srgbClr val="0F1B3D"/>
                          </a:solidFill>
                          <a:latin typeface="Calibri"/>
                          <a:ea typeface="Calibri"/>
                          <a:cs typeface="Calibri"/>
                          <a:sym typeface="Calibri"/>
                        </a:rPr>
                        <a:t>2.206</a:t>
                      </a:r>
                      <a:endParaRPr sz="12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4F8"/>
                    </a:solidFill>
                  </a:tcPr>
                </a:tc>
                <a:tc>
                  <a:txBody>
                    <a:bodyPr/>
                    <a:lstStyle/>
                    <a:p>
                      <a:pPr indent="0" lvl="0" marL="0" marR="0" rtl="0" algn="ctr">
                        <a:spcBef>
                          <a:spcPts val="0"/>
                        </a:spcBef>
                        <a:spcAft>
                          <a:spcPts val="0"/>
                        </a:spcAft>
                        <a:buClr>
                          <a:srgbClr val="0F1B3D"/>
                        </a:buClr>
                        <a:buSzPts val="1200"/>
                        <a:buFont typeface="Calibri"/>
                        <a:buNone/>
                      </a:pPr>
                      <a:r>
                        <a:rPr lang="en-US" sz="1200" u="none" cap="none" strike="noStrike">
                          <a:solidFill>
                            <a:srgbClr val="0F1B3D"/>
                          </a:solidFill>
                          <a:latin typeface="Calibri"/>
                          <a:ea typeface="Calibri"/>
                          <a:cs typeface="Calibri"/>
                          <a:sym typeface="Calibri"/>
                        </a:rPr>
                        <a:t>12.3%</a:t>
                      </a:r>
                      <a:endParaRPr sz="12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4F8"/>
                    </a:solidFill>
                  </a:tcPr>
                </a:tc>
              </a:tr>
              <a:tr h="411475">
                <a:tc>
                  <a:txBody>
                    <a:bodyPr/>
                    <a:lstStyle/>
                    <a:p>
                      <a:pPr indent="0" lvl="0" marL="0" marR="0" rtl="0" algn="ctr">
                        <a:spcBef>
                          <a:spcPts val="0"/>
                        </a:spcBef>
                        <a:spcAft>
                          <a:spcPts val="0"/>
                        </a:spcAft>
                        <a:buClr>
                          <a:srgbClr val="0F1B3D"/>
                        </a:buClr>
                        <a:buSzPts val="1200"/>
                        <a:buFont typeface="Calibri"/>
                        <a:buNone/>
                      </a:pPr>
                      <a:r>
                        <a:rPr b="1" lang="en-US" sz="1200" u="none" cap="none" strike="noStrike">
                          <a:solidFill>
                            <a:srgbClr val="0F1B3D"/>
                          </a:solidFill>
                          <a:latin typeface="Calibri"/>
                          <a:ea typeface="Calibri"/>
                          <a:cs typeface="Calibri"/>
                          <a:sym typeface="Calibri"/>
                        </a:rPr>
                        <a:t>S2</a:t>
                      </a:r>
                      <a:r>
                        <a:rPr b="1" lang="en-US" sz="1200">
                          <a:solidFill>
                            <a:srgbClr val="0F1B3D"/>
                          </a:solidFill>
                          <a:latin typeface="Calibri"/>
                          <a:ea typeface="Calibri"/>
                          <a:cs typeface="Calibri"/>
                          <a:sym typeface="Calibri"/>
                        </a:rPr>
                        <a:t>:</a:t>
                      </a:r>
                      <a:r>
                        <a:rPr b="1" lang="en-US" sz="1200" u="none" cap="none" strike="noStrike">
                          <a:solidFill>
                            <a:srgbClr val="0F1B3D"/>
                          </a:solidFill>
                          <a:latin typeface="Calibri"/>
                          <a:ea typeface="Calibri"/>
                          <a:cs typeface="Calibri"/>
                          <a:sym typeface="Calibri"/>
                        </a:rPr>
                        <a:t> Tier qual</a:t>
                      </a:r>
                      <a:r>
                        <a:rPr b="1" lang="en-US" sz="1200">
                          <a:solidFill>
                            <a:srgbClr val="0F1B3D"/>
                          </a:solidFill>
                          <a:latin typeface="Calibri"/>
                          <a:ea typeface="Calibri"/>
                          <a:cs typeface="Calibri"/>
                          <a:sym typeface="Calibri"/>
                        </a:rPr>
                        <a:t>ification</a:t>
                      </a:r>
                      <a:endParaRPr sz="12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0EB"/>
                    </a:solidFill>
                  </a:tcPr>
                </a:tc>
                <a:tc>
                  <a:txBody>
                    <a:bodyPr/>
                    <a:lstStyle/>
                    <a:p>
                      <a:pPr indent="0" lvl="0" marL="0" marR="0" rtl="0" algn="ctr">
                        <a:spcBef>
                          <a:spcPts val="0"/>
                        </a:spcBef>
                        <a:spcAft>
                          <a:spcPts val="0"/>
                        </a:spcAft>
                        <a:buClr>
                          <a:srgbClr val="0F1B3D"/>
                        </a:buClr>
                        <a:buSzPts val="1200"/>
                        <a:buFont typeface="Calibri"/>
                        <a:buNone/>
                      </a:pPr>
                      <a:r>
                        <a:rPr b="1" lang="en-US" sz="1200" u="none" cap="none" strike="noStrike">
                          <a:solidFill>
                            <a:srgbClr val="0F1B3D"/>
                          </a:solidFill>
                          <a:latin typeface="Calibri"/>
                          <a:ea typeface="Calibri"/>
                          <a:cs typeface="Calibri"/>
                          <a:sym typeface="Calibri"/>
                        </a:rPr>
                        <a:t>89.4%</a:t>
                      </a:r>
                      <a:endParaRPr sz="12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0EB"/>
                    </a:solidFill>
                  </a:tcPr>
                </a:tc>
                <a:tc>
                  <a:txBody>
                    <a:bodyPr/>
                    <a:lstStyle/>
                    <a:p>
                      <a:pPr indent="0" lvl="0" marL="0" marR="0" rtl="0" algn="ctr">
                        <a:spcBef>
                          <a:spcPts val="0"/>
                        </a:spcBef>
                        <a:spcAft>
                          <a:spcPts val="0"/>
                        </a:spcAft>
                        <a:buClr>
                          <a:srgbClr val="0F1B3D"/>
                        </a:buClr>
                        <a:buSzPts val="1200"/>
                        <a:buFont typeface="Calibri"/>
                        <a:buNone/>
                      </a:pPr>
                      <a:r>
                        <a:rPr b="1" lang="en-US" sz="1200" u="none" cap="none" strike="noStrike">
                          <a:solidFill>
                            <a:srgbClr val="0F1B3D"/>
                          </a:solidFill>
                          <a:latin typeface="Calibri"/>
                          <a:ea typeface="Calibri"/>
                          <a:cs typeface="Calibri"/>
                          <a:sym typeface="Calibri"/>
                        </a:rPr>
                        <a:t>44.9%</a:t>
                      </a:r>
                      <a:endParaRPr sz="12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0EB"/>
                    </a:solidFill>
                  </a:tcPr>
                </a:tc>
                <a:tc>
                  <a:txBody>
                    <a:bodyPr/>
                    <a:lstStyle/>
                    <a:p>
                      <a:pPr indent="0" lvl="0" marL="0" marR="0" rtl="0" algn="ctr">
                        <a:spcBef>
                          <a:spcPts val="0"/>
                        </a:spcBef>
                        <a:spcAft>
                          <a:spcPts val="0"/>
                        </a:spcAft>
                        <a:buClr>
                          <a:srgbClr val="0F1B3D"/>
                        </a:buClr>
                        <a:buSzPts val="1200"/>
                        <a:buFont typeface="Calibri"/>
                        <a:buNone/>
                      </a:pPr>
                      <a:r>
                        <a:rPr b="1" lang="en-US" sz="1200" u="none" cap="none" strike="noStrike">
                          <a:solidFill>
                            <a:srgbClr val="0F1B3D"/>
                          </a:solidFill>
                          <a:latin typeface="Calibri"/>
                          <a:ea typeface="Calibri"/>
                          <a:cs typeface="Calibri"/>
                          <a:sym typeface="Calibri"/>
                        </a:rPr>
                        <a:t>2.248</a:t>
                      </a:r>
                      <a:endParaRPr sz="12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0EB"/>
                    </a:solidFill>
                  </a:tcPr>
                </a:tc>
                <a:tc>
                  <a:txBody>
                    <a:bodyPr/>
                    <a:lstStyle/>
                    <a:p>
                      <a:pPr indent="0" lvl="0" marL="0" marR="0" rtl="0" algn="ctr">
                        <a:spcBef>
                          <a:spcPts val="0"/>
                        </a:spcBef>
                        <a:spcAft>
                          <a:spcPts val="0"/>
                        </a:spcAft>
                        <a:buClr>
                          <a:srgbClr val="E8593C"/>
                        </a:buClr>
                        <a:buSzPts val="1200"/>
                        <a:buFont typeface="Calibri"/>
                        <a:buNone/>
                      </a:pPr>
                      <a:r>
                        <a:rPr b="1" lang="en-US" sz="1200" u="none" cap="none" strike="noStrike">
                          <a:solidFill>
                            <a:srgbClr val="E8593C"/>
                          </a:solidFill>
                          <a:latin typeface="Calibri"/>
                          <a:ea typeface="Calibri"/>
                          <a:cs typeface="Calibri"/>
                          <a:sym typeface="Calibri"/>
                        </a:rPr>
                        <a:t>10.6%</a:t>
                      </a:r>
                      <a:endParaRPr sz="12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0EB"/>
                    </a:solidFill>
                  </a:tcPr>
                </a:tc>
              </a:tr>
              <a:tr h="365750">
                <a:tc>
                  <a:txBody>
                    <a:bodyPr/>
                    <a:lstStyle/>
                    <a:p>
                      <a:pPr indent="0" lvl="0" marL="0" marR="0" rtl="0" algn="ctr">
                        <a:spcBef>
                          <a:spcPts val="0"/>
                        </a:spcBef>
                        <a:spcAft>
                          <a:spcPts val="0"/>
                        </a:spcAft>
                        <a:buClr>
                          <a:srgbClr val="0F1B3D"/>
                        </a:buClr>
                        <a:buSzPts val="1200"/>
                        <a:buFont typeface="Calibri"/>
                        <a:buNone/>
                      </a:pPr>
                      <a:r>
                        <a:rPr lang="en-US" sz="1200" u="none" cap="none" strike="noStrike">
                          <a:solidFill>
                            <a:srgbClr val="0F1B3D"/>
                          </a:solidFill>
                          <a:latin typeface="Calibri"/>
                          <a:ea typeface="Calibri"/>
                          <a:cs typeface="Calibri"/>
                          <a:sym typeface="Calibri"/>
                        </a:rPr>
                        <a:t>S3</a:t>
                      </a:r>
                      <a:r>
                        <a:rPr lang="en-US" sz="1200">
                          <a:solidFill>
                            <a:srgbClr val="0F1B3D"/>
                          </a:solidFill>
                          <a:latin typeface="Calibri"/>
                          <a:ea typeface="Calibri"/>
                          <a:cs typeface="Calibri"/>
                          <a:sym typeface="Calibri"/>
                        </a:rPr>
                        <a:t>:</a:t>
                      </a:r>
                      <a:r>
                        <a:rPr lang="en-US" sz="1200" u="none" cap="none" strike="noStrike">
                          <a:solidFill>
                            <a:srgbClr val="0F1B3D"/>
                          </a:solidFill>
                          <a:latin typeface="Calibri"/>
                          <a:ea typeface="Calibri"/>
                          <a:cs typeface="Calibri"/>
                          <a:sym typeface="Calibri"/>
                        </a:rPr>
                        <a:t> Blended score</a:t>
                      </a:r>
                      <a:endParaRPr sz="12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0F5F0"/>
                    </a:solidFill>
                  </a:tcPr>
                </a:tc>
                <a:tc>
                  <a:txBody>
                    <a:bodyPr/>
                    <a:lstStyle/>
                    <a:p>
                      <a:pPr indent="0" lvl="0" marL="0" marR="0" rtl="0" algn="ctr">
                        <a:spcBef>
                          <a:spcPts val="0"/>
                        </a:spcBef>
                        <a:spcAft>
                          <a:spcPts val="0"/>
                        </a:spcAft>
                        <a:buClr>
                          <a:srgbClr val="0F1B3D"/>
                        </a:buClr>
                        <a:buSzPts val="1200"/>
                        <a:buFont typeface="Calibri"/>
                        <a:buNone/>
                      </a:pPr>
                      <a:r>
                        <a:rPr lang="en-US" sz="1200" u="none" cap="none" strike="noStrike">
                          <a:solidFill>
                            <a:srgbClr val="0F1B3D"/>
                          </a:solidFill>
                          <a:latin typeface="Calibri"/>
                          <a:ea typeface="Calibri"/>
                          <a:cs typeface="Calibri"/>
                          <a:sym typeface="Calibri"/>
                        </a:rPr>
                        <a:t>88.1%</a:t>
                      </a:r>
                      <a:endParaRPr sz="12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0F5F0"/>
                    </a:solidFill>
                  </a:tcPr>
                </a:tc>
                <a:tc>
                  <a:txBody>
                    <a:bodyPr/>
                    <a:lstStyle/>
                    <a:p>
                      <a:pPr indent="0" lvl="0" marL="0" marR="0" rtl="0" algn="ctr">
                        <a:spcBef>
                          <a:spcPts val="0"/>
                        </a:spcBef>
                        <a:spcAft>
                          <a:spcPts val="0"/>
                        </a:spcAft>
                        <a:buClr>
                          <a:srgbClr val="0F1B3D"/>
                        </a:buClr>
                        <a:buSzPts val="1200"/>
                        <a:buFont typeface="Calibri"/>
                        <a:buNone/>
                      </a:pPr>
                      <a:r>
                        <a:rPr lang="en-US" sz="1200" u="none" cap="none" strike="noStrike">
                          <a:solidFill>
                            <a:srgbClr val="0F1B3D"/>
                          </a:solidFill>
                          <a:latin typeface="Calibri"/>
                          <a:ea typeface="Calibri"/>
                          <a:cs typeface="Calibri"/>
                          <a:sym typeface="Calibri"/>
                        </a:rPr>
                        <a:t>44.3%</a:t>
                      </a:r>
                      <a:endParaRPr sz="12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0F5F0"/>
                    </a:solidFill>
                  </a:tcPr>
                </a:tc>
                <a:tc>
                  <a:txBody>
                    <a:bodyPr/>
                    <a:lstStyle/>
                    <a:p>
                      <a:pPr indent="0" lvl="0" marL="0" marR="0" rtl="0" algn="ctr">
                        <a:spcBef>
                          <a:spcPts val="0"/>
                        </a:spcBef>
                        <a:spcAft>
                          <a:spcPts val="0"/>
                        </a:spcAft>
                        <a:buClr>
                          <a:srgbClr val="0F1B3D"/>
                        </a:buClr>
                        <a:buSzPts val="1200"/>
                        <a:buFont typeface="Calibri"/>
                        <a:buNone/>
                      </a:pPr>
                      <a:r>
                        <a:rPr lang="en-US" sz="1200" u="none" cap="none" strike="noStrike">
                          <a:solidFill>
                            <a:srgbClr val="0F1B3D"/>
                          </a:solidFill>
                          <a:latin typeface="Calibri"/>
                          <a:ea typeface="Calibri"/>
                          <a:cs typeface="Calibri"/>
                          <a:sym typeface="Calibri"/>
                        </a:rPr>
                        <a:t>2.214</a:t>
                      </a:r>
                      <a:endParaRPr sz="12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0F5F0"/>
                    </a:solidFill>
                  </a:tcPr>
                </a:tc>
                <a:tc>
                  <a:txBody>
                    <a:bodyPr/>
                    <a:lstStyle/>
                    <a:p>
                      <a:pPr indent="0" lvl="0" marL="0" marR="0" rtl="0" algn="ctr">
                        <a:spcBef>
                          <a:spcPts val="0"/>
                        </a:spcBef>
                        <a:spcAft>
                          <a:spcPts val="0"/>
                        </a:spcAft>
                        <a:buClr>
                          <a:srgbClr val="0F1B3D"/>
                        </a:buClr>
                        <a:buSzPts val="1200"/>
                        <a:buFont typeface="Calibri"/>
                        <a:buNone/>
                      </a:pPr>
                      <a:r>
                        <a:rPr lang="en-US" sz="1200" u="none" cap="none" strike="noStrike">
                          <a:solidFill>
                            <a:srgbClr val="0F1B3D"/>
                          </a:solidFill>
                          <a:latin typeface="Calibri"/>
                          <a:ea typeface="Calibri"/>
                          <a:cs typeface="Calibri"/>
                          <a:sym typeface="Calibri"/>
                        </a:rPr>
                        <a:t>11.9%</a:t>
                      </a:r>
                      <a:endParaRPr sz="12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0F5F0"/>
                    </a:solidFill>
                  </a:tcPr>
                </a:tc>
              </a:tr>
            </a:tbl>
          </a:graphicData>
        </a:graphic>
      </p:graphicFrame>
      <p:sp>
        <p:nvSpPr>
          <p:cNvPr id="199" name="Google Shape;199;p10"/>
          <p:cNvSpPr/>
          <p:nvPr/>
        </p:nvSpPr>
        <p:spPr>
          <a:xfrm>
            <a:off x="731520" y="3017520"/>
            <a:ext cx="768096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1B3D"/>
              </a:buClr>
              <a:buSzPts val="1300"/>
              <a:buFont typeface="Calibri"/>
              <a:buNone/>
            </a:pPr>
            <a:r>
              <a:rPr b="0" i="0" lang="en-US" sz="1300" u="none" cap="none" strike="noStrike">
                <a:solidFill>
                  <a:srgbClr val="0F1B3D"/>
                </a:solidFill>
                <a:latin typeface="Calibri"/>
                <a:ea typeface="Calibri"/>
                <a:cs typeface="Calibri"/>
                <a:sym typeface="Calibri"/>
              </a:rPr>
              <a:t>System 2 leads on every metric. Wasted effort reduced from 12.3% to 10.6% </a:t>
            </a:r>
            <a:r>
              <a:rPr lang="en-US" sz="1300">
                <a:solidFill>
                  <a:srgbClr val="0F1B3D"/>
                </a:solidFill>
                <a:latin typeface="Calibri"/>
                <a:ea typeface="Calibri"/>
                <a:cs typeface="Calibri"/>
                <a:sym typeface="Calibri"/>
              </a:rPr>
              <a:t>with</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F1B3D"/>
              </a:buClr>
              <a:buSzPts val="1300"/>
              <a:buFont typeface="Calibri"/>
              <a:buNone/>
            </a:pPr>
            <a:r>
              <a:rPr b="0" i="0" lang="en-US" sz="1300" u="none" cap="none" strike="noStrike">
                <a:solidFill>
                  <a:srgbClr val="0F1B3D"/>
                </a:solidFill>
                <a:latin typeface="Calibri"/>
                <a:ea typeface="Calibri"/>
                <a:cs typeface="Calibri"/>
                <a:sym typeface="Calibri"/>
              </a:rPr>
              <a:t>fewer sales resources spent pursuing leads that did not convert.</a:t>
            </a:r>
            <a:endParaRPr b="0" i="0" sz="1300" u="none" cap="none" strike="noStrike">
              <a:solidFill>
                <a:schemeClr val="dk1"/>
              </a:solidFill>
              <a:latin typeface="Calibri"/>
              <a:ea typeface="Calibri"/>
              <a:cs typeface="Calibri"/>
              <a:sym typeface="Calibri"/>
            </a:endParaRPr>
          </a:p>
        </p:txBody>
      </p:sp>
      <p:sp>
        <p:nvSpPr>
          <p:cNvPr id="200" name="Google Shape;200;p10"/>
          <p:cNvSpPr/>
          <p:nvPr/>
        </p:nvSpPr>
        <p:spPr>
          <a:xfrm>
            <a:off x="731520" y="3749040"/>
            <a:ext cx="768096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1200"/>
              <a:buFont typeface="Calibri"/>
              <a:buNone/>
            </a:pPr>
            <a:r>
              <a:rPr b="0" i="1" lang="en-US" sz="1200" u="none" cap="none" strike="noStrike">
                <a:solidFill>
                  <a:srgbClr val="64748B"/>
                </a:solidFill>
                <a:latin typeface="Calibri"/>
                <a:ea typeface="Calibri"/>
                <a:cs typeface="Calibri"/>
                <a:sym typeface="Calibri"/>
              </a:rPr>
              <a:t>System 3 also improved slightly on all metrics, confirming the qualification signal</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4748B"/>
              </a:buClr>
              <a:buSzPts val="1200"/>
              <a:buFont typeface="Calibri"/>
              <a:buNone/>
            </a:pPr>
            <a:r>
              <a:rPr b="0" i="1" lang="en-US" sz="1200" u="none" cap="none" strike="noStrike">
                <a:solidFill>
                  <a:srgbClr val="64748B"/>
                </a:solidFill>
                <a:latin typeface="Calibri"/>
                <a:ea typeface="Calibri"/>
                <a:cs typeface="Calibri"/>
                <a:sym typeface="Calibri"/>
              </a:rPr>
              <a:t>itself carries value — but the allocation mechanism produces the larger operational gain.</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761"/>
        </a:solidFill>
      </p:bgPr>
    </p:bg>
    <p:spTree>
      <p:nvGrpSpPr>
        <p:cNvPr id="205" name="Shape 205"/>
        <p:cNvGrpSpPr/>
        <p:nvPr/>
      </p:nvGrpSpPr>
      <p:grpSpPr>
        <a:xfrm>
          <a:off x="0" y="0"/>
          <a:ext cx="0" cy="0"/>
          <a:chOff x="0" y="0"/>
          <a:chExt cx="0" cy="0"/>
        </a:xfrm>
      </p:grpSpPr>
      <p:sp>
        <p:nvSpPr>
          <p:cNvPr id="206" name="Google Shape;206;p11"/>
          <p:cNvSpPr/>
          <p:nvPr/>
        </p:nvSpPr>
        <p:spPr>
          <a:xfrm>
            <a:off x="731520" y="365760"/>
            <a:ext cx="768096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800"/>
              <a:buFont typeface="Calibri"/>
              <a:buNone/>
            </a:pPr>
            <a:r>
              <a:rPr b="1" i="0" lang="en-US" sz="2800" u="none" cap="none" strike="noStrike">
                <a:solidFill>
                  <a:srgbClr val="FFFFFF"/>
                </a:solidFill>
                <a:latin typeface="Calibri"/>
                <a:ea typeface="Calibri"/>
                <a:cs typeface="Calibri"/>
                <a:sym typeface="Calibri"/>
              </a:rPr>
              <a:t>Bootstrap confidence intervals</a:t>
            </a:r>
            <a:endParaRPr b="0" i="0" sz="2800" u="none" cap="none" strike="noStrike">
              <a:solidFill>
                <a:schemeClr val="dk1"/>
              </a:solidFill>
              <a:latin typeface="Calibri"/>
              <a:ea typeface="Calibri"/>
              <a:cs typeface="Calibri"/>
              <a:sym typeface="Calibri"/>
            </a:endParaRPr>
          </a:p>
        </p:txBody>
      </p:sp>
      <p:sp>
        <p:nvSpPr>
          <p:cNvPr id="207" name="Google Shape;207;p11"/>
          <p:cNvSpPr/>
          <p:nvPr/>
        </p:nvSpPr>
        <p:spPr>
          <a:xfrm>
            <a:off x="731520" y="868680"/>
            <a:ext cx="768096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ADCFC"/>
              </a:buClr>
              <a:buSzPts val="1300"/>
              <a:buFont typeface="Calibri"/>
              <a:buNone/>
            </a:pPr>
            <a:r>
              <a:rPr b="0" i="1" lang="en-US" sz="1300" u="none" cap="none" strike="noStrike">
                <a:solidFill>
                  <a:srgbClr val="CADCFC"/>
                </a:solidFill>
                <a:latin typeface="Calibri"/>
                <a:ea typeface="Calibri"/>
                <a:cs typeface="Calibri"/>
                <a:sym typeface="Calibri"/>
              </a:rPr>
              <a:t>1,000 iterations — 95% confidence intervals for Precision@K at K = 20%</a:t>
            </a:r>
            <a:endParaRPr b="0" i="0" sz="1300" u="none" cap="none" strike="noStrike">
              <a:solidFill>
                <a:schemeClr val="dk1"/>
              </a:solidFill>
              <a:latin typeface="Calibri"/>
              <a:ea typeface="Calibri"/>
              <a:cs typeface="Calibri"/>
              <a:sym typeface="Calibri"/>
            </a:endParaRPr>
          </a:p>
        </p:txBody>
      </p:sp>
      <p:graphicFrame>
        <p:nvGraphicFramePr>
          <p:cNvPr id="208" name="Google Shape;208;p11"/>
          <p:cNvGraphicFramePr/>
          <p:nvPr/>
        </p:nvGraphicFramePr>
        <p:xfrm>
          <a:off x="1371600" y="1463040"/>
          <a:ext cx="3000000" cy="3000000"/>
        </p:xfrm>
        <a:graphic>
          <a:graphicData uri="http://schemas.openxmlformats.org/drawingml/2006/table">
            <a:tbl>
              <a:tblPr>
                <a:noFill/>
                <a:tableStyleId>{D63AC954-7EFE-4871-A3DF-65480174A828}</a:tableStyleId>
              </a:tblPr>
              <a:tblGrid>
                <a:gridCol w="1828800"/>
                <a:gridCol w="1188725"/>
                <a:gridCol w="1188725"/>
                <a:gridCol w="1280150"/>
              </a:tblGrid>
              <a:tr h="365750">
                <a:tc>
                  <a:txBody>
                    <a:bodyPr/>
                    <a:lstStyle/>
                    <a:p>
                      <a:pPr indent="0" lvl="0" marL="0" marR="0" rtl="0" algn="ctr">
                        <a:spcBef>
                          <a:spcPts val="0"/>
                        </a:spcBef>
                        <a:spcAft>
                          <a:spcPts val="0"/>
                        </a:spcAft>
                        <a:buClr>
                          <a:srgbClr val="FFFFFF"/>
                        </a:buClr>
                        <a:buSzPts val="1300"/>
                        <a:buFont typeface="Calibri"/>
                        <a:buNone/>
                      </a:pPr>
                      <a:r>
                        <a:rPr b="1" lang="en-US" sz="1300" u="none" cap="none" strike="noStrike">
                          <a:solidFill>
                            <a:srgbClr val="FFFFFF"/>
                          </a:solidFill>
                          <a:latin typeface="Calibri"/>
                          <a:ea typeface="Calibri"/>
                          <a:cs typeface="Calibri"/>
                          <a:sym typeface="Calibri"/>
                        </a:rPr>
                        <a:t>System</a:t>
                      </a:r>
                      <a:endParaRPr sz="1300" u="none" cap="none" strike="noStrike">
                        <a:latin typeface="Calibri"/>
                        <a:ea typeface="Calibri"/>
                        <a:cs typeface="Calibri"/>
                        <a:sym typeface="Calibri"/>
                      </a:endParaRPr>
                    </a:p>
                  </a:txBody>
                  <a:tcPr marT="45725" marB="45725" marR="91450" marL="91450" anchor="ctr">
                    <a:lnL cap="flat" cmpd="sng" w="9525">
                      <a:solidFill>
                        <a:srgbClr val="3A4580"/>
                      </a:solidFill>
                      <a:prstDash val="solid"/>
                      <a:round/>
                      <a:headEnd len="sm" w="sm" type="none"/>
                      <a:tailEnd len="sm" w="sm" type="none"/>
                    </a:lnL>
                    <a:lnR cap="flat" cmpd="sng" w="9525">
                      <a:solidFill>
                        <a:srgbClr val="3A4580"/>
                      </a:solidFill>
                      <a:prstDash val="solid"/>
                      <a:round/>
                      <a:headEnd len="sm" w="sm" type="none"/>
                      <a:tailEnd len="sm" w="sm" type="none"/>
                    </a:lnR>
                    <a:lnT cap="flat" cmpd="sng" w="9525">
                      <a:solidFill>
                        <a:srgbClr val="3A4580"/>
                      </a:solidFill>
                      <a:prstDash val="solid"/>
                      <a:round/>
                      <a:headEnd len="sm" w="sm" type="none"/>
                      <a:tailEnd len="sm" w="sm" type="none"/>
                    </a:lnT>
                    <a:lnB cap="flat" cmpd="sng" w="9525">
                      <a:solidFill>
                        <a:srgbClr val="3A4580"/>
                      </a:solidFill>
                      <a:prstDash val="solid"/>
                      <a:round/>
                      <a:headEnd len="sm" w="sm" type="none"/>
                      <a:tailEnd len="sm" w="sm" type="none"/>
                    </a:lnB>
                    <a:solidFill>
                      <a:srgbClr val="243380"/>
                    </a:solidFill>
                  </a:tcPr>
                </a:tc>
                <a:tc>
                  <a:txBody>
                    <a:bodyPr/>
                    <a:lstStyle/>
                    <a:p>
                      <a:pPr indent="0" lvl="0" marL="0" marR="0" rtl="0" algn="ctr">
                        <a:spcBef>
                          <a:spcPts val="0"/>
                        </a:spcBef>
                        <a:spcAft>
                          <a:spcPts val="0"/>
                        </a:spcAft>
                        <a:buClr>
                          <a:srgbClr val="FFFFFF"/>
                        </a:buClr>
                        <a:buSzPts val="1300"/>
                        <a:buFont typeface="Calibri"/>
                        <a:buNone/>
                      </a:pPr>
                      <a:r>
                        <a:rPr b="1" lang="en-US" sz="1300" u="none" cap="none" strike="noStrike">
                          <a:solidFill>
                            <a:srgbClr val="FFFFFF"/>
                          </a:solidFill>
                          <a:latin typeface="Calibri"/>
                          <a:ea typeface="Calibri"/>
                          <a:cs typeface="Calibri"/>
                          <a:sym typeface="Calibri"/>
                        </a:rPr>
                        <a:t>2.5th pct</a:t>
                      </a:r>
                      <a:endParaRPr sz="1300" u="none" cap="none" strike="noStrike">
                        <a:latin typeface="Calibri"/>
                        <a:ea typeface="Calibri"/>
                        <a:cs typeface="Calibri"/>
                        <a:sym typeface="Calibri"/>
                      </a:endParaRPr>
                    </a:p>
                  </a:txBody>
                  <a:tcPr marT="45725" marB="45725" marR="91450" marL="91450" anchor="ctr">
                    <a:lnL cap="flat" cmpd="sng" w="9525">
                      <a:solidFill>
                        <a:srgbClr val="3A4580"/>
                      </a:solidFill>
                      <a:prstDash val="solid"/>
                      <a:round/>
                      <a:headEnd len="sm" w="sm" type="none"/>
                      <a:tailEnd len="sm" w="sm" type="none"/>
                    </a:lnL>
                    <a:lnR cap="flat" cmpd="sng" w="9525">
                      <a:solidFill>
                        <a:srgbClr val="3A4580"/>
                      </a:solidFill>
                      <a:prstDash val="solid"/>
                      <a:round/>
                      <a:headEnd len="sm" w="sm" type="none"/>
                      <a:tailEnd len="sm" w="sm" type="none"/>
                    </a:lnR>
                    <a:lnT cap="flat" cmpd="sng" w="9525">
                      <a:solidFill>
                        <a:srgbClr val="3A4580"/>
                      </a:solidFill>
                      <a:prstDash val="solid"/>
                      <a:round/>
                      <a:headEnd len="sm" w="sm" type="none"/>
                      <a:tailEnd len="sm" w="sm" type="none"/>
                    </a:lnT>
                    <a:lnB cap="flat" cmpd="sng" w="9525">
                      <a:solidFill>
                        <a:srgbClr val="3A4580"/>
                      </a:solidFill>
                      <a:prstDash val="solid"/>
                      <a:round/>
                      <a:headEnd len="sm" w="sm" type="none"/>
                      <a:tailEnd len="sm" w="sm" type="none"/>
                    </a:lnB>
                    <a:solidFill>
                      <a:srgbClr val="243380"/>
                    </a:solidFill>
                  </a:tcPr>
                </a:tc>
                <a:tc>
                  <a:txBody>
                    <a:bodyPr/>
                    <a:lstStyle/>
                    <a:p>
                      <a:pPr indent="0" lvl="0" marL="0" marR="0" rtl="0" algn="ctr">
                        <a:spcBef>
                          <a:spcPts val="0"/>
                        </a:spcBef>
                        <a:spcAft>
                          <a:spcPts val="0"/>
                        </a:spcAft>
                        <a:buClr>
                          <a:srgbClr val="FFFFFF"/>
                        </a:buClr>
                        <a:buSzPts val="1300"/>
                        <a:buFont typeface="Calibri"/>
                        <a:buNone/>
                      </a:pPr>
                      <a:r>
                        <a:rPr b="1" lang="en-US" sz="1300" u="none" cap="none" strike="noStrike">
                          <a:solidFill>
                            <a:srgbClr val="FFFFFF"/>
                          </a:solidFill>
                          <a:latin typeface="Calibri"/>
                          <a:ea typeface="Calibri"/>
                          <a:cs typeface="Calibri"/>
                          <a:sym typeface="Calibri"/>
                        </a:rPr>
                        <a:t>Median</a:t>
                      </a:r>
                      <a:endParaRPr sz="1300" u="none" cap="none" strike="noStrike">
                        <a:latin typeface="Calibri"/>
                        <a:ea typeface="Calibri"/>
                        <a:cs typeface="Calibri"/>
                        <a:sym typeface="Calibri"/>
                      </a:endParaRPr>
                    </a:p>
                  </a:txBody>
                  <a:tcPr marT="45725" marB="45725" marR="91450" marL="91450" anchor="ctr">
                    <a:lnL cap="flat" cmpd="sng" w="9525">
                      <a:solidFill>
                        <a:srgbClr val="3A4580"/>
                      </a:solidFill>
                      <a:prstDash val="solid"/>
                      <a:round/>
                      <a:headEnd len="sm" w="sm" type="none"/>
                      <a:tailEnd len="sm" w="sm" type="none"/>
                    </a:lnL>
                    <a:lnR cap="flat" cmpd="sng" w="9525">
                      <a:solidFill>
                        <a:srgbClr val="3A4580"/>
                      </a:solidFill>
                      <a:prstDash val="solid"/>
                      <a:round/>
                      <a:headEnd len="sm" w="sm" type="none"/>
                      <a:tailEnd len="sm" w="sm" type="none"/>
                    </a:lnR>
                    <a:lnT cap="flat" cmpd="sng" w="9525">
                      <a:solidFill>
                        <a:srgbClr val="3A4580"/>
                      </a:solidFill>
                      <a:prstDash val="solid"/>
                      <a:round/>
                      <a:headEnd len="sm" w="sm" type="none"/>
                      <a:tailEnd len="sm" w="sm" type="none"/>
                    </a:lnT>
                    <a:lnB cap="flat" cmpd="sng" w="9525">
                      <a:solidFill>
                        <a:srgbClr val="3A4580"/>
                      </a:solidFill>
                      <a:prstDash val="solid"/>
                      <a:round/>
                      <a:headEnd len="sm" w="sm" type="none"/>
                      <a:tailEnd len="sm" w="sm" type="none"/>
                    </a:lnB>
                    <a:solidFill>
                      <a:srgbClr val="243380"/>
                    </a:solidFill>
                  </a:tcPr>
                </a:tc>
                <a:tc>
                  <a:txBody>
                    <a:bodyPr/>
                    <a:lstStyle/>
                    <a:p>
                      <a:pPr indent="0" lvl="0" marL="0" marR="0" rtl="0" algn="ctr">
                        <a:spcBef>
                          <a:spcPts val="0"/>
                        </a:spcBef>
                        <a:spcAft>
                          <a:spcPts val="0"/>
                        </a:spcAft>
                        <a:buClr>
                          <a:srgbClr val="FFFFFF"/>
                        </a:buClr>
                        <a:buSzPts val="1300"/>
                        <a:buFont typeface="Calibri"/>
                        <a:buNone/>
                      </a:pPr>
                      <a:r>
                        <a:rPr b="1" lang="en-US" sz="1300" u="none" cap="none" strike="noStrike">
                          <a:solidFill>
                            <a:srgbClr val="FFFFFF"/>
                          </a:solidFill>
                          <a:latin typeface="Calibri"/>
                          <a:ea typeface="Calibri"/>
                          <a:cs typeface="Calibri"/>
                          <a:sym typeface="Calibri"/>
                        </a:rPr>
                        <a:t>97.5th pct</a:t>
                      </a:r>
                      <a:endParaRPr sz="1300" u="none" cap="none" strike="noStrike">
                        <a:latin typeface="Calibri"/>
                        <a:ea typeface="Calibri"/>
                        <a:cs typeface="Calibri"/>
                        <a:sym typeface="Calibri"/>
                      </a:endParaRPr>
                    </a:p>
                  </a:txBody>
                  <a:tcPr marT="45725" marB="45725" marR="91450" marL="91450" anchor="ctr">
                    <a:lnL cap="flat" cmpd="sng" w="9525">
                      <a:solidFill>
                        <a:srgbClr val="3A4580"/>
                      </a:solidFill>
                      <a:prstDash val="solid"/>
                      <a:round/>
                      <a:headEnd len="sm" w="sm" type="none"/>
                      <a:tailEnd len="sm" w="sm" type="none"/>
                    </a:lnL>
                    <a:lnR cap="flat" cmpd="sng" w="9525">
                      <a:solidFill>
                        <a:srgbClr val="3A4580"/>
                      </a:solidFill>
                      <a:prstDash val="solid"/>
                      <a:round/>
                      <a:headEnd len="sm" w="sm" type="none"/>
                      <a:tailEnd len="sm" w="sm" type="none"/>
                    </a:lnR>
                    <a:lnT cap="flat" cmpd="sng" w="9525">
                      <a:solidFill>
                        <a:srgbClr val="3A4580"/>
                      </a:solidFill>
                      <a:prstDash val="solid"/>
                      <a:round/>
                      <a:headEnd len="sm" w="sm" type="none"/>
                      <a:tailEnd len="sm" w="sm" type="none"/>
                    </a:lnT>
                    <a:lnB cap="flat" cmpd="sng" w="9525">
                      <a:solidFill>
                        <a:srgbClr val="3A4580"/>
                      </a:solidFill>
                      <a:prstDash val="solid"/>
                      <a:round/>
                      <a:headEnd len="sm" w="sm" type="none"/>
                      <a:tailEnd len="sm" w="sm" type="none"/>
                    </a:lnB>
                    <a:solidFill>
                      <a:srgbClr val="243380"/>
                    </a:solidFill>
                  </a:tcPr>
                </a:tc>
              </a:tr>
              <a:tr h="365750">
                <a:tc>
                  <a:txBody>
                    <a:bodyPr/>
                    <a:lstStyle/>
                    <a:p>
                      <a:pPr indent="0" lvl="0" marL="0" marR="0" rtl="0" algn="ctr">
                        <a:spcBef>
                          <a:spcPts val="0"/>
                        </a:spcBef>
                        <a:spcAft>
                          <a:spcPts val="0"/>
                        </a:spcAft>
                        <a:buClr>
                          <a:srgbClr val="FFFFFF"/>
                        </a:buClr>
                        <a:buSzPts val="1300"/>
                        <a:buFont typeface="Calibri"/>
                        <a:buNone/>
                      </a:pPr>
                      <a:r>
                        <a:rPr lang="en-US" sz="1300" u="none" cap="none" strike="noStrike">
                          <a:solidFill>
                            <a:srgbClr val="FFFFFF"/>
                          </a:solidFill>
                          <a:latin typeface="Calibri"/>
                          <a:ea typeface="Calibri"/>
                          <a:cs typeface="Calibri"/>
                          <a:sym typeface="Calibri"/>
                        </a:rPr>
                        <a:t>S1</a:t>
                      </a:r>
                      <a:r>
                        <a:rPr lang="en-US" sz="1300">
                          <a:solidFill>
                            <a:srgbClr val="FFFFFF"/>
                          </a:solidFill>
                          <a:latin typeface="Calibri"/>
                          <a:ea typeface="Calibri"/>
                          <a:cs typeface="Calibri"/>
                          <a:sym typeface="Calibri"/>
                        </a:rPr>
                        <a:t>:</a:t>
                      </a:r>
                      <a:r>
                        <a:rPr lang="en-US" sz="1300" u="none" cap="none" strike="noStrike">
                          <a:solidFill>
                            <a:srgbClr val="FFFFFF"/>
                          </a:solidFill>
                          <a:latin typeface="Calibri"/>
                          <a:ea typeface="Calibri"/>
                          <a:cs typeface="Calibri"/>
                          <a:sym typeface="Calibri"/>
                        </a:rPr>
                        <a:t> ML baseline</a:t>
                      </a:r>
                      <a:endParaRPr sz="1300" u="none" cap="none" strike="noStrike">
                        <a:latin typeface="Calibri"/>
                        <a:ea typeface="Calibri"/>
                        <a:cs typeface="Calibri"/>
                        <a:sym typeface="Calibri"/>
                      </a:endParaRPr>
                    </a:p>
                  </a:txBody>
                  <a:tcPr marT="45725" marB="45725" marR="91450" marL="91450" anchor="ctr">
                    <a:lnL cap="flat" cmpd="sng" w="9525">
                      <a:solidFill>
                        <a:srgbClr val="3A4580"/>
                      </a:solidFill>
                      <a:prstDash val="solid"/>
                      <a:round/>
                      <a:headEnd len="sm" w="sm" type="none"/>
                      <a:tailEnd len="sm" w="sm" type="none"/>
                    </a:lnL>
                    <a:lnR cap="flat" cmpd="sng" w="9525">
                      <a:solidFill>
                        <a:srgbClr val="3A4580"/>
                      </a:solidFill>
                      <a:prstDash val="solid"/>
                      <a:round/>
                      <a:headEnd len="sm" w="sm" type="none"/>
                      <a:tailEnd len="sm" w="sm" type="none"/>
                    </a:lnR>
                    <a:lnT cap="flat" cmpd="sng" w="9525">
                      <a:solidFill>
                        <a:srgbClr val="3A4580"/>
                      </a:solidFill>
                      <a:prstDash val="solid"/>
                      <a:round/>
                      <a:headEnd len="sm" w="sm" type="none"/>
                      <a:tailEnd len="sm" w="sm" type="none"/>
                    </a:lnT>
                    <a:lnB cap="flat" cmpd="sng" w="9525">
                      <a:solidFill>
                        <a:srgbClr val="3A4580"/>
                      </a:solidFill>
                      <a:prstDash val="solid"/>
                      <a:round/>
                      <a:headEnd len="sm" w="sm" type="none"/>
                      <a:tailEnd len="sm" w="sm" type="none"/>
                    </a:lnB>
                    <a:solidFill>
                      <a:srgbClr val="1E2F6E"/>
                    </a:solidFill>
                  </a:tcPr>
                </a:tc>
                <a:tc>
                  <a:txBody>
                    <a:bodyPr/>
                    <a:lstStyle/>
                    <a:p>
                      <a:pPr indent="0" lvl="0" marL="0" marR="0" rtl="0" algn="ctr">
                        <a:spcBef>
                          <a:spcPts val="0"/>
                        </a:spcBef>
                        <a:spcAft>
                          <a:spcPts val="0"/>
                        </a:spcAft>
                        <a:buClr>
                          <a:srgbClr val="FFFFFF"/>
                        </a:buClr>
                        <a:buSzPts val="1300"/>
                        <a:buFont typeface="Calibri"/>
                        <a:buNone/>
                      </a:pPr>
                      <a:r>
                        <a:rPr lang="en-US" sz="1300" u="none" cap="none" strike="noStrike">
                          <a:solidFill>
                            <a:srgbClr val="FFFFFF"/>
                          </a:solidFill>
                          <a:latin typeface="Calibri"/>
                          <a:ea typeface="Calibri"/>
                          <a:cs typeface="Calibri"/>
                          <a:sym typeface="Calibri"/>
                        </a:rPr>
                        <a:t>0.834</a:t>
                      </a:r>
                      <a:endParaRPr sz="1300" u="none" cap="none" strike="noStrike">
                        <a:latin typeface="Calibri"/>
                        <a:ea typeface="Calibri"/>
                        <a:cs typeface="Calibri"/>
                        <a:sym typeface="Calibri"/>
                      </a:endParaRPr>
                    </a:p>
                  </a:txBody>
                  <a:tcPr marT="45725" marB="45725" marR="91450" marL="91450" anchor="ctr">
                    <a:lnL cap="flat" cmpd="sng" w="9525">
                      <a:solidFill>
                        <a:srgbClr val="3A4580"/>
                      </a:solidFill>
                      <a:prstDash val="solid"/>
                      <a:round/>
                      <a:headEnd len="sm" w="sm" type="none"/>
                      <a:tailEnd len="sm" w="sm" type="none"/>
                    </a:lnL>
                    <a:lnR cap="flat" cmpd="sng" w="9525">
                      <a:solidFill>
                        <a:srgbClr val="3A4580"/>
                      </a:solidFill>
                      <a:prstDash val="solid"/>
                      <a:round/>
                      <a:headEnd len="sm" w="sm" type="none"/>
                      <a:tailEnd len="sm" w="sm" type="none"/>
                    </a:lnR>
                    <a:lnT cap="flat" cmpd="sng" w="9525">
                      <a:solidFill>
                        <a:srgbClr val="3A4580"/>
                      </a:solidFill>
                      <a:prstDash val="solid"/>
                      <a:round/>
                      <a:headEnd len="sm" w="sm" type="none"/>
                      <a:tailEnd len="sm" w="sm" type="none"/>
                    </a:lnT>
                    <a:lnB cap="flat" cmpd="sng" w="9525">
                      <a:solidFill>
                        <a:srgbClr val="3A4580"/>
                      </a:solidFill>
                      <a:prstDash val="solid"/>
                      <a:round/>
                      <a:headEnd len="sm" w="sm" type="none"/>
                      <a:tailEnd len="sm" w="sm" type="none"/>
                    </a:lnB>
                    <a:solidFill>
                      <a:srgbClr val="1E2F6E"/>
                    </a:solidFill>
                  </a:tcPr>
                </a:tc>
                <a:tc>
                  <a:txBody>
                    <a:bodyPr/>
                    <a:lstStyle/>
                    <a:p>
                      <a:pPr indent="0" lvl="0" marL="0" marR="0" rtl="0" algn="ctr">
                        <a:spcBef>
                          <a:spcPts val="0"/>
                        </a:spcBef>
                        <a:spcAft>
                          <a:spcPts val="0"/>
                        </a:spcAft>
                        <a:buClr>
                          <a:srgbClr val="FFFFFF"/>
                        </a:buClr>
                        <a:buSzPts val="1300"/>
                        <a:buFont typeface="Calibri"/>
                        <a:buNone/>
                      </a:pPr>
                      <a:r>
                        <a:rPr lang="en-US" sz="1300" u="none" cap="none" strike="noStrike">
                          <a:solidFill>
                            <a:srgbClr val="FFFFFF"/>
                          </a:solidFill>
                          <a:latin typeface="Calibri"/>
                          <a:ea typeface="Calibri"/>
                          <a:cs typeface="Calibri"/>
                          <a:sym typeface="Calibri"/>
                        </a:rPr>
                        <a:t>0.878</a:t>
                      </a:r>
                      <a:endParaRPr sz="1300" u="none" cap="none" strike="noStrike">
                        <a:latin typeface="Calibri"/>
                        <a:ea typeface="Calibri"/>
                        <a:cs typeface="Calibri"/>
                        <a:sym typeface="Calibri"/>
                      </a:endParaRPr>
                    </a:p>
                  </a:txBody>
                  <a:tcPr marT="45725" marB="45725" marR="91450" marL="91450" anchor="ctr">
                    <a:lnL cap="flat" cmpd="sng" w="9525">
                      <a:solidFill>
                        <a:srgbClr val="3A4580"/>
                      </a:solidFill>
                      <a:prstDash val="solid"/>
                      <a:round/>
                      <a:headEnd len="sm" w="sm" type="none"/>
                      <a:tailEnd len="sm" w="sm" type="none"/>
                    </a:lnL>
                    <a:lnR cap="flat" cmpd="sng" w="9525">
                      <a:solidFill>
                        <a:srgbClr val="3A4580"/>
                      </a:solidFill>
                      <a:prstDash val="solid"/>
                      <a:round/>
                      <a:headEnd len="sm" w="sm" type="none"/>
                      <a:tailEnd len="sm" w="sm" type="none"/>
                    </a:lnR>
                    <a:lnT cap="flat" cmpd="sng" w="9525">
                      <a:solidFill>
                        <a:srgbClr val="3A4580"/>
                      </a:solidFill>
                      <a:prstDash val="solid"/>
                      <a:round/>
                      <a:headEnd len="sm" w="sm" type="none"/>
                      <a:tailEnd len="sm" w="sm" type="none"/>
                    </a:lnT>
                    <a:lnB cap="flat" cmpd="sng" w="9525">
                      <a:solidFill>
                        <a:srgbClr val="3A4580"/>
                      </a:solidFill>
                      <a:prstDash val="solid"/>
                      <a:round/>
                      <a:headEnd len="sm" w="sm" type="none"/>
                      <a:tailEnd len="sm" w="sm" type="none"/>
                    </a:lnB>
                    <a:solidFill>
                      <a:srgbClr val="1E2F6E"/>
                    </a:solidFill>
                  </a:tcPr>
                </a:tc>
                <a:tc>
                  <a:txBody>
                    <a:bodyPr/>
                    <a:lstStyle/>
                    <a:p>
                      <a:pPr indent="0" lvl="0" marL="0" marR="0" rtl="0" algn="ctr">
                        <a:spcBef>
                          <a:spcPts val="0"/>
                        </a:spcBef>
                        <a:spcAft>
                          <a:spcPts val="0"/>
                        </a:spcAft>
                        <a:buClr>
                          <a:srgbClr val="FFFFFF"/>
                        </a:buClr>
                        <a:buSzPts val="1300"/>
                        <a:buFont typeface="Calibri"/>
                        <a:buNone/>
                      </a:pPr>
                      <a:r>
                        <a:rPr lang="en-US" sz="1300" u="none" cap="none" strike="noStrike">
                          <a:solidFill>
                            <a:srgbClr val="FFFFFF"/>
                          </a:solidFill>
                          <a:latin typeface="Calibri"/>
                          <a:ea typeface="Calibri"/>
                          <a:cs typeface="Calibri"/>
                          <a:sym typeface="Calibri"/>
                        </a:rPr>
                        <a:t>0.914</a:t>
                      </a:r>
                      <a:endParaRPr sz="1300" u="none" cap="none" strike="noStrike">
                        <a:latin typeface="Calibri"/>
                        <a:ea typeface="Calibri"/>
                        <a:cs typeface="Calibri"/>
                        <a:sym typeface="Calibri"/>
                      </a:endParaRPr>
                    </a:p>
                  </a:txBody>
                  <a:tcPr marT="45725" marB="45725" marR="91450" marL="91450" anchor="ctr">
                    <a:lnL cap="flat" cmpd="sng" w="9525">
                      <a:solidFill>
                        <a:srgbClr val="3A4580"/>
                      </a:solidFill>
                      <a:prstDash val="solid"/>
                      <a:round/>
                      <a:headEnd len="sm" w="sm" type="none"/>
                      <a:tailEnd len="sm" w="sm" type="none"/>
                    </a:lnL>
                    <a:lnR cap="flat" cmpd="sng" w="9525">
                      <a:solidFill>
                        <a:srgbClr val="3A4580"/>
                      </a:solidFill>
                      <a:prstDash val="solid"/>
                      <a:round/>
                      <a:headEnd len="sm" w="sm" type="none"/>
                      <a:tailEnd len="sm" w="sm" type="none"/>
                    </a:lnR>
                    <a:lnT cap="flat" cmpd="sng" w="9525">
                      <a:solidFill>
                        <a:srgbClr val="3A4580"/>
                      </a:solidFill>
                      <a:prstDash val="solid"/>
                      <a:round/>
                      <a:headEnd len="sm" w="sm" type="none"/>
                      <a:tailEnd len="sm" w="sm" type="none"/>
                    </a:lnT>
                    <a:lnB cap="flat" cmpd="sng" w="9525">
                      <a:solidFill>
                        <a:srgbClr val="3A4580"/>
                      </a:solidFill>
                      <a:prstDash val="solid"/>
                      <a:round/>
                      <a:headEnd len="sm" w="sm" type="none"/>
                      <a:tailEnd len="sm" w="sm" type="none"/>
                    </a:lnB>
                    <a:solidFill>
                      <a:srgbClr val="1E2F6E"/>
                    </a:solidFill>
                  </a:tcPr>
                </a:tc>
              </a:tr>
              <a:tr h="411475">
                <a:tc>
                  <a:txBody>
                    <a:bodyPr/>
                    <a:lstStyle/>
                    <a:p>
                      <a:pPr indent="0" lvl="0" marL="0" marR="0" rtl="0" algn="ctr">
                        <a:spcBef>
                          <a:spcPts val="0"/>
                        </a:spcBef>
                        <a:spcAft>
                          <a:spcPts val="0"/>
                        </a:spcAft>
                        <a:buClr>
                          <a:srgbClr val="FFFFFF"/>
                        </a:buClr>
                        <a:buSzPts val="1300"/>
                        <a:buFont typeface="Calibri"/>
                        <a:buNone/>
                      </a:pPr>
                      <a:r>
                        <a:rPr b="1" lang="en-US" sz="1300" u="none" cap="none" strike="noStrike">
                          <a:solidFill>
                            <a:srgbClr val="FFFFFF"/>
                          </a:solidFill>
                          <a:latin typeface="Calibri"/>
                          <a:ea typeface="Calibri"/>
                          <a:cs typeface="Calibri"/>
                          <a:sym typeface="Calibri"/>
                        </a:rPr>
                        <a:t>S2</a:t>
                      </a:r>
                      <a:r>
                        <a:rPr b="1" lang="en-US" sz="1300">
                          <a:solidFill>
                            <a:srgbClr val="FFFFFF"/>
                          </a:solidFill>
                          <a:latin typeface="Calibri"/>
                          <a:ea typeface="Calibri"/>
                          <a:cs typeface="Calibri"/>
                          <a:sym typeface="Calibri"/>
                        </a:rPr>
                        <a:t>:</a:t>
                      </a:r>
                      <a:r>
                        <a:rPr b="1" lang="en-US" sz="1300" u="none" cap="none" strike="noStrike">
                          <a:solidFill>
                            <a:srgbClr val="FFFFFF"/>
                          </a:solidFill>
                          <a:latin typeface="Calibri"/>
                          <a:ea typeface="Calibri"/>
                          <a:cs typeface="Calibri"/>
                          <a:sym typeface="Calibri"/>
                        </a:rPr>
                        <a:t> Tier qual</a:t>
                      </a:r>
                      <a:r>
                        <a:rPr b="1" lang="en-US" sz="1300">
                          <a:solidFill>
                            <a:srgbClr val="FFFFFF"/>
                          </a:solidFill>
                          <a:latin typeface="Calibri"/>
                          <a:ea typeface="Calibri"/>
                          <a:cs typeface="Calibri"/>
                          <a:sym typeface="Calibri"/>
                        </a:rPr>
                        <a:t>ification</a:t>
                      </a:r>
                      <a:endParaRPr sz="1300" u="none" cap="none" strike="noStrike">
                        <a:latin typeface="Calibri"/>
                        <a:ea typeface="Calibri"/>
                        <a:cs typeface="Calibri"/>
                        <a:sym typeface="Calibri"/>
                      </a:endParaRPr>
                    </a:p>
                  </a:txBody>
                  <a:tcPr marT="45725" marB="45725" marR="91450" marL="91450" anchor="ctr">
                    <a:lnL cap="flat" cmpd="sng" w="9525">
                      <a:solidFill>
                        <a:srgbClr val="3A4580"/>
                      </a:solidFill>
                      <a:prstDash val="solid"/>
                      <a:round/>
                      <a:headEnd len="sm" w="sm" type="none"/>
                      <a:tailEnd len="sm" w="sm" type="none"/>
                    </a:lnL>
                    <a:lnR cap="flat" cmpd="sng" w="9525">
                      <a:solidFill>
                        <a:srgbClr val="3A4580"/>
                      </a:solidFill>
                      <a:prstDash val="solid"/>
                      <a:round/>
                      <a:headEnd len="sm" w="sm" type="none"/>
                      <a:tailEnd len="sm" w="sm" type="none"/>
                    </a:lnR>
                    <a:lnT cap="flat" cmpd="sng" w="9525">
                      <a:solidFill>
                        <a:srgbClr val="3A4580"/>
                      </a:solidFill>
                      <a:prstDash val="solid"/>
                      <a:round/>
                      <a:headEnd len="sm" w="sm" type="none"/>
                      <a:tailEnd len="sm" w="sm" type="none"/>
                    </a:lnT>
                    <a:lnB cap="flat" cmpd="sng" w="9525">
                      <a:solidFill>
                        <a:srgbClr val="3A4580"/>
                      </a:solidFill>
                      <a:prstDash val="solid"/>
                      <a:round/>
                      <a:headEnd len="sm" w="sm" type="none"/>
                      <a:tailEnd len="sm" w="sm" type="none"/>
                    </a:lnB>
                    <a:solidFill>
                      <a:srgbClr val="3A1A0A"/>
                    </a:solidFill>
                  </a:tcPr>
                </a:tc>
                <a:tc>
                  <a:txBody>
                    <a:bodyPr/>
                    <a:lstStyle/>
                    <a:p>
                      <a:pPr indent="0" lvl="0" marL="0" marR="0" rtl="0" algn="ctr">
                        <a:spcBef>
                          <a:spcPts val="0"/>
                        </a:spcBef>
                        <a:spcAft>
                          <a:spcPts val="0"/>
                        </a:spcAft>
                        <a:buClr>
                          <a:srgbClr val="FFFFFF"/>
                        </a:buClr>
                        <a:buSzPts val="1300"/>
                        <a:buFont typeface="Calibri"/>
                        <a:buNone/>
                      </a:pPr>
                      <a:r>
                        <a:rPr b="1" lang="en-US" sz="1300" u="none" cap="none" strike="noStrike">
                          <a:solidFill>
                            <a:srgbClr val="FFFFFF"/>
                          </a:solidFill>
                          <a:latin typeface="Calibri"/>
                          <a:ea typeface="Calibri"/>
                          <a:cs typeface="Calibri"/>
                          <a:sym typeface="Calibri"/>
                        </a:rPr>
                        <a:t>0.854</a:t>
                      </a:r>
                      <a:endParaRPr sz="1300" u="none" cap="none" strike="noStrike">
                        <a:latin typeface="Calibri"/>
                        <a:ea typeface="Calibri"/>
                        <a:cs typeface="Calibri"/>
                        <a:sym typeface="Calibri"/>
                      </a:endParaRPr>
                    </a:p>
                  </a:txBody>
                  <a:tcPr marT="45725" marB="45725" marR="91450" marL="91450" anchor="ctr">
                    <a:lnL cap="flat" cmpd="sng" w="9525">
                      <a:solidFill>
                        <a:srgbClr val="3A4580"/>
                      </a:solidFill>
                      <a:prstDash val="solid"/>
                      <a:round/>
                      <a:headEnd len="sm" w="sm" type="none"/>
                      <a:tailEnd len="sm" w="sm" type="none"/>
                    </a:lnL>
                    <a:lnR cap="flat" cmpd="sng" w="9525">
                      <a:solidFill>
                        <a:srgbClr val="3A4580"/>
                      </a:solidFill>
                      <a:prstDash val="solid"/>
                      <a:round/>
                      <a:headEnd len="sm" w="sm" type="none"/>
                      <a:tailEnd len="sm" w="sm" type="none"/>
                    </a:lnR>
                    <a:lnT cap="flat" cmpd="sng" w="9525">
                      <a:solidFill>
                        <a:srgbClr val="3A4580"/>
                      </a:solidFill>
                      <a:prstDash val="solid"/>
                      <a:round/>
                      <a:headEnd len="sm" w="sm" type="none"/>
                      <a:tailEnd len="sm" w="sm" type="none"/>
                    </a:lnT>
                    <a:lnB cap="flat" cmpd="sng" w="9525">
                      <a:solidFill>
                        <a:srgbClr val="3A4580"/>
                      </a:solidFill>
                      <a:prstDash val="solid"/>
                      <a:round/>
                      <a:headEnd len="sm" w="sm" type="none"/>
                      <a:tailEnd len="sm" w="sm" type="none"/>
                    </a:lnB>
                    <a:solidFill>
                      <a:srgbClr val="3A1A0A"/>
                    </a:solidFill>
                  </a:tcPr>
                </a:tc>
                <a:tc>
                  <a:txBody>
                    <a:bodyPr/>
                    <a:lstStyle/>
                    <a:p>
                      <a:pPr indent="0" lvl="0" marL="0" marR="0" rtl="0" algn="ctr">
                        <a:spcBef>
                          <a:spcPts val="0"/>
                        </a:spcBef>
                        <a:spcAft>
                          <a:spcPts val="0"/>
                        </a:spcAft>
                        <a:buClr>
                          <a:srgbClr val="FFFFFF"/>
                        </a:buClr>
                        <a:buSzPts val="1300"/>
                        <a:buFont typeface="Calibri"/>
                        <a:buNone/>
                      </a:pPr>
                      <a:r>
                        <a:rPr b="1" lang="en-US" sz="1300" u="none" cap="none" strike="noStrike">
                          <a:solidFill>
                            <a:srgbClr val="FFFFFF"/>
                          </a:solidFill>
                          <a:latin typeface="Calibri"/>
                          <a:ea typeface="Calibri"/>
                          <a:cs typeface="Calibri"/>
                          <a:sym typeface="Calibri"/>
                        </a:rPr>
                        <a:t>0.894</a:t>
                      </a:r>
                      <a:endParaRPr sz="1300" u="none" cap="none" strike="noStrike">
                        <a:latin typeface="Calibri"/>
                        <a:ea typeface="Calibri"/>
                        <a:cs typeface="Calibri"/>
                        <a:sym typeface="Calibri"/>
                      </a:endParaRPr>
                    </a:p>
                  </a:txBody>
                  <a:tcPr marT="45725" marB="45725" marR="91450" marL="91450" anchor="ctr">
                    <a:lnL cap="flat" cmpd="sng" w="9525">
                      <a:solidFill>
                        <a:srgbClr val="3A4580"/>
                      </a:solidFill>
                      <a:prstDash val="solid"/>
                      <a:round/>
                      <a:headEnd len="sm" w="sm" type="none"/>
                      <a:tailEnd len="sm" w="sm" type="none"/>
                    </a:lnL>
                    <a:lnR cap="flat" cmpd="sng" w="9525">
                      <a:solidFill>
                        <a:srgbClr val="3A4580"/>
                      </a:solidFill>
                      <a:prstDash val="solid"/>
                      <a:round/>
                      <a:headEnd len="sm" w="sm" type="none"/>
                      <a:tailEnd len="sm" w="sm" type="none"/>
                    </a:lnR>
                    <a:lnT cap="flat" cmpd="sng" w="9525">
                      <a:solidFill>
                        <a:srgbClr val="3A4580"/>
                      </a:solidFill>
                      <a:prstDash val="solid"/>
                      <a:round/>
                      <a:headEnd len="sm" w="sm" type="none"/>
                      <a:tailEnd len="sm" w="sm" type="none"/>
                    </a:lnT>
                    <a:lnB cap="flat" cmpd="sng" w="9525">
                      <a:solidFill>
                        <a:srgbClr val="3A4580"/>
                      </a:solidFill>
                      <a:prstDash val="solid"/>
                      <a:round/>
                      <a:headEnd len="sm" w="sm" type="none"/>
                      <a:tailEnd len="sm" w="sm" type="none"/>
                    </a:lnB>
                    <a:solidFill>
                      <a:srgbClr val="3A1A0A"/>
                    </a:solidFill>
                  </a:tcPr>
                </a:tc>
                <a:tc>
                  <a:txBody>
                    <a:bodyPr/>
                    <a:lstStyle/>
                    <a:p>
                      <a:pPr indent="0" lvl="0" marL="0" marR="0" rtl="0" algn="ctr">
                        <a:spcBef>
                          <a:spcPts val="0"/>
                        </a:spcBef>
                        <a:spcAft>
                          <a:spcPts val="0"/>
                        </a:spcAft>
                        <a:buClr>
                          <a:srgbClr val="FFFFFF"/>
                        </a:buClr>
                        <a:buSzPts val="1300"/>
                        <a:buFont typeface="Calibri"/>
                        <a:buNone/>
                      </a:pPr>
                      <a:r>
                        <a:rPr b="1" lang="en-US" sz="1300" u="none" cap="none" strike="noStrike">
                          <a:solidFill>
                            <a:srgbClr val="FFFFFF"/>
                          </a:solidFill>
                          <a:latin typeface="Calibri"/>
                          <a:ea typeface="Calibri"/>
                          <a:cs typeface="Calibri"/>
                          <a:sym typeface="Calibri"/>
                        </a:rPr>
                        <a:t>0.931</a:t>
                      </a:r>
                      <a:endParaRPr sz="1300" u="none" cap="none" strike="noStrike">
                        <a:latin typeface="Calibri"/>
                        <a:ea typeface="Calibri"/>
                        <a:cs typeface="Calibri"/>
                        <a:sym typeface="Calibri"/>
                      </a:endParaRPr>
                    </a:p>
                  </a:txBody>
                  <a:tcPr marT="45725" marB="45725" marR="91450" marL="91450" anchor="ctr">
                    <a:lnL cap="flat" cmpd="sng" w="9525">
                      <a:solidFill>
                        <a:srgbClr val="3A4580"/>
                      </a:solidFill>
                      <a:prstDash val="solid"/>
                      <a:round/>
                      <a:headEnd len="sm" w="sm" type="none"/>
                      <a:tailEnd len="sm" w="sm" type="none"/>
                    </a:lnL>
                    <a:lnR cap="flat" cmpd="sng" w="9525">
                      <a:solidFill>
                        <a:srgbClr val="3A4580"/>
                      </a:solidFill>
                      <a:prstDash val="solid"/>
                      <a:round/>
                      <a:headEnd len="sm" w="sm" type="none"/>
                      <a:tailEnd len="sm" w="sm" type="none"/>
                    </a:lnR>
                    <a:lnT cap="flat" cmpd="sng" w="9525">
                      <a:solidFill>
                        <a:srgbClr val="3A4580"/>
                      </a:solidFill>
                      <a:prstDash val="solid"/>
                      <a:round/>
                      <a:headEnd len="sm" w="sm" type="none"/>
                      <a:tailEnd len="sm" w="sm" type="none"/>
                    </a:lnT>
                    <a:lnB cap="flat" cmpd="sng" w="9525">
                      <a:solidFill>
                        <a:srgbClr val="3A4580"/>
                      </a:solidFill>
                      <a:prstDash val="solid"/>
                      <a:round/>
                      <a:headEnd len="sm" w="sm" type="none"/>
                      <a:tailEnd len="sm" w="sm" type="none"/>
                    </a:lnB>
                    <a:solidFill>
                      <a:srgbClr val="3A1A0A"/>
                    </a:solidFill>
                  </a:tcPr>
                </a:tc>
              </a:tr>
              <a:tr h="365750">
                <a:tc>
                  <a:txBody>
                    <a:bodyPr/>
                    <a:lstStyle/>
                    <a:p>
                      <a:pPr indent="0" lvl="0" marL="0" marR="0" rtl="0" algn="ctr">
                        <a:spcBef>
                          <a:spcPts val="0"/>
                        </a:spcBef>
                        <a:spcAft>
                          <a:spcPts val="0"/>
                        </a:spcAft>
                        <a:buClr>
                          <a:srgbClr val="FFFFFF"/>
                        </a:buClr>
                        <a:buSzPts val="1300"/>
                        <a:buFont typeface="Calibri"/>
                        <a:buNone/>
                      </a:pPr>
                      <a:r>
                        <a:rPr lang="en-US" sz="1300" u="none" cap="none" strike="noStrike">
                          <a:solidFill>
                            <a:srgbClr val="FFFFFF"/>
                          </a:solidFill>
                          <a:latin typeface="Calibri"/>
                          <a:ea typeface="Calibri"/>
                          <a:cs typeface="Calibri"/>
                          <a:sym typeface="Calibri"/>
                        </a:rPr>
                        <a:t>S3</a:t>
                      </a:r>
                      <a:r>
                        <a:rPr lang="en-US" sz="1300">
                          <a:solidFill>
                            <a:srgbClr val="FFFFFF"/>
                          </a:solidFill>
                          <a:latin typeface="Calibri"/>
                          <a:ea typeface="Calibri"/>
                          <a:cs typeface="Calibri"/>
                          <a:sym typeface="Calibri"/>
                        </a:rPr>
                        <a:t>:</a:t>
                      </a:r>
                      <a:r>
                        <a:rPr lang="en-US" sz="1300" u="none" cap="none" strike="noStrike">
                          <a:solidFill>
                            <a:srgbClr val="FFFFFF"/>
                          </a:solidFill>
                          <a:latin typeface="Calibri"/>
                          <a:ea typeface="Calibri"/>
                          <a:cs typeface="Calibri"/>
                          <a:sym typeface="Calibri"/>
                        </a:rPr>
                        <a:t> Blend</a:t>
                      </a:r>
                      <a:endParaRPr sz="1300" u="none" cap="none" strike="noStrike">
                        <a:latin typeface="Calibri"/>
                        <a:ea typeface="Calibri"/>
                        <a:cs typeface="Calibri"/>
                        <a:sym typeface="Calibri"/>
                      </a:endParaRPr>
                    </a:p>
                  </a:txBody>
                  <a:tcPr marT="45725" marB="45725" marR="91450" marL="91450" anchor="ctr">
                    <a:lnL cap="flat" cmpd="sng" w="9525">
                      <a:solidFill>
                        <a:srgbClr val="3A4580"/>
                      </a:solidFill>
                      <a:prstDash val="solid"/>
                      <a:round/>
                      <a:headEnd len="sm" w="sm" type="none"/>
                      <a:tailEnd len="sm" w="sm" type="none"/>
                    </a:lnL>
                    <a:lnR cap="flat" cmpd="sng" w="9525">
                      <a:solidFill>
                        <a:srgbClr val="3A4580"/>
                      </a:solidFill>
                      <a:prstDash val="solid"/>
                      <a:round/>
                      <a:headEnd len="sm" w="sm" type="none"/>
                      <a:tailEnd len="sm" w="sm" type="none"/>
                    </a:lnR>
                    <a:lnT cap="flat" cmpd="sng" w="9525">
                      <a:solidFill>
                        <a:srgbClr val="3A4580"/>
                      </a:solidFill>
                      <a:prstDash val="solid"/>
                      <a:round/>
                      <a:headEnd len="sm" w="sm" type="none"/>
                      <a:tailEnd len="sm" w="sm" type="none"/>
                    </a:lnT>
                    <a:lnB cap="flat" cmpd="sng" w="9525">
                      <a:solidFill>
                        <a:srgbClr val="3A4580"/>
                      </a:solidFill>
                      <a:prstDash val="solid"/>
                      <a:round/>
                      <a:headEnd len="sm" w="sm" type="none"/>
                      <a:tailEnd len="sm" w="sm" type="none"/>
                    </a:lnB>
                    <a:solidFill>
                      <a:srgbClr val="1A3A1A"/>
                    </a:solidFill>
                  </a:tcPr>
                </a:tc>
                <a:tc>
                  <a:txBody>
                    <a:bodyPr/>
                    <a:lstStyle/>
                    <a:p>
                      <a:pPr indent="0" lvl="0" marL="0" marR="0" rtl="0" algn="ctr">
                        <a:spcBef>
                          <a:spcPts val="0"/>
                        </a:spcBef>
                        <a:spcAft>
                          <a:spcPts val="0"/>
                        </a:spcAft>
                        <a:buClr>
                          <a:srgbClr val="FFFFFF"/>
                        </a:buClr>
                        <a:buSzPts val="1300"/>
                        <a:buFont typeface="Calibri"/>
                        <a:buNone/>
                      </a:pPr>
                      <a:r>
                        <a:rPr lang="en-US" sz="1300" u="none" cap="none" strike="noStrike">
                          <a:solidFill>
                            <a:srgbClr val="FFFFFF"/>
                          </a:solidFill>
                          <a:latin typeface="Calibri"/>
                          <a:ea typeface="Calibri"/>
                          <a:cs typeface="Calibri"/>
                          <a:sym typeface="Calibri"/>
                        </a:rPr>
                        <a:t>0.838</a:t>
                      </a:r>
                      <a:endParaRPr sz="1300" u="none" cap="none" strike="noStrike">
                        <a:latin typeface="Calibri"/>
                        <a:ea typeface="Calibri"/>
                        <a:cs typeface="Calibri"/>
                        <a:sym typeface="Calibri"/>
                      </a:endParaRPr>
                    </a:p>
                  </a:txBody>
                  <a:tcPr marT="45725" marB="45725" marR="91450" marL="91450" anchor="ctr">
                    <a:lnL cap="flat" cmpd="sng" w="9525">
                      <a:solidFill>
                        <a:srgbClr val="3A4580"/>
                      </a:solidFill>
                      <a:prstDash val="solid"/>
                      <a:round/>
                      <a:headEnd len="sm" w="sm" type="none"/>
                      <a:tailEnd len="sm" w="sm" type="none"/>
                    </a:lnL>
                    <a:lnR cap="flat" cmpd="sng" w="9525">
                      <a:solidFill>
                        <a:srgbClr val="3A4580"/>
                      </a:solidFill>
                      <a:prstDash val="solid"/>
                      <a:round/>
                      <a:headEnd len="sm" w="sm" type="none"/>
                      <a:tailEnd len="sm" w="sm" type="none"/>
                    </a:lnR>
                    <a:lnT cap="flat" cmpd="sng" w="9525">
                      <a:solidFill>
                        <a:srgbClr val="3A4580"/>
                      </a:solidFill>
                      <a:prstDash val="solid"/>
                      <a:round/>
                      <a:headEnd len="sm" w="sm" type="none"/>
                      <a:tailEnd len="sm" w="sm" type="none"/>
                    </a:lnT>
                    <a:lnB cap="flat" cmpd="sng" w="9525">
                      <a:solidFill>
                        <a:srgbClr val="3A4580"/>
                      </a:solidFill>
                      <a:prstDash val="solid"/>
                      <a:round/>
                      <a:headEnd len="sm" w="sm" type="none"/>
                      <a:tailEnd len="sm" w="sm" type="none"/>
                    </a:lnB>
                    <a:solidFill>
                      <a:srgbClr val="1A3A1A"/>
                    </a:solidFill>
                  </a:tcPr>
                </a:tc>
                <a:tc>
                  <a:txBody>
                    <a:bodyPr/>
                    <a:lstStyle/>
                    <a:p>
                      <a:pPr indent="0" lvl="0" marL="0" marR="0" rtl="0" algn="ctr">
                        <a:spcBef>
                          <a:spcPts val="0"/>
                        </a:spcBef>
                        <a:spcAft>
                          <a:spcPts val="0"/>
                        </a:spcAft>
                        <a:buClr>
                          <a:srgbClr val="FFFFFF"/>
                        </a:buClr>
                        <a:buSzPts val="1300"/>
                        <a:buFont typeface="Calibri"/>
                        <a:buNone/>
                      </a:pPr>
                      <a:r>
                        <a:rPr lang="en-US" sz="1300" u="none" cap="none" strike="noStrike">
                          <a:solidFill>
                            <a:srgbClr val="FFFFFF"/>
                          </a:solidFill>
                          <a:latin typeface="Calibri"/>
                          <a:ea typeface="Calibri"/>
                          <a:cs typeface="Calibri"/>
                          <a:sym typeface="Calibri"/>
                        </a:rPr>
                        <a:t>0.881</a:t>
                      </a:r>
                      <a:endParaRPr sz="1300" u="none" cap="none" strike="noStrike">
                        <a:latin typeface="Calibri"/>
                        <a:ea typeface="Calibri"/>
                        <a:cs typeface="Calibri"/>
                        <a:sym typeface="Calibri"/>
                      </a:endParaRPr>
                    </a:p>
                  </a:txBody>
                  <a:tcPr marT="45725" marB="45725" marR="91450" marL="91450" anchor="ctr">
                    <a:lnL cap="flat" cmpd="sng" w="9525">
                      <a:solidFill>
                        <a:srgbClr val="3A4580"/>
                      </a:solidFill>
                      <a:prstDash val="solid"/>
                      <a:round/>
                      <a:headEnd len="sm" w="sm" type="none"/>
                      <a:tailEnd len="sm" w="sm" type="none"/>
                    </a:lnL>
                    <a:lnR cap="flat" cmpd="sng" w="9525">
                      <a:solidFill>
                        <a:srgbClr val="3A4580"/>
                      </a:solidFill>
                      <a:prstDash val="solid"/>
                      <a:round/>
                      <a:headEnd len="sm" w="sm" type="none"/>
                      <a:tailEnd len="sm" w="sm" type="none"/>
                    </a:lnR>
                    <a:lnT cap="flat" cmpd="sng" w="9525">
                      <a:solidFill>
                        <a:srgbClr val="3A4580"/>
                      </a:solidFill>
                      <a:prstDash val="solid"/>
                      <a:round/>
                      <a:headEnd len="sm" w="sm" type="none"/>
                      <a:tailEnd len="sm" w="sm" type="none"/>
                    </a:lnT>
                    <a:lnB cap="flat" cmpd="sng" w="9525">
                      <a:solidFill>
                        <a:srgbClr val="3A4580"/>
                      </a:solidFill>
                      <a:prstDash val="solid"/>
                      <a:round/>
                      <a:headEnd len="sm" w="sm" type="none"/>
                      <a:tailEnd len="sm" w="sm" type="none"/>
                    </a:lnB>
                    <a:solidFill>
                      <a:srgbClr val="1A3A1A"/>
                    </a:solidFill>
                  </a:tcPr>
                </a:tc>
                <a:tc>
                  <a:txBody>
                    <a:bodyPr/>
                    <a:lstStyle/>
                    <a:p>
                      <a:pPr indent="0" lvl="0" marL="0" marR="0" rtl="0" algn="ctr">
                        <a:spcBef>
                          <a:spcPts val="0"/>
                        </a:spcBef>
                        <a:spcAft>
                          <a:spcPts val="0"/>
                        </a:spcAft>
                        <a:buClr>
                          <a:srgbClr val="FFFFFF"/>
                        </a:buClr>
                        <a:buSzPts val="1300"/>
                        <a:buFont typeface="Calibri"/>
                        <a:buNone/>
                      </a:pPr>
                      <a:r>
                        <a:rPr lang="en-US" sz="1300" u="none" cap="none" strike="noStrike">
                          <a:solidFill>
                            <a:srgbClr val="FFFFFF"/>
                          </a:solidFill>
                          <a:latin typeface="Calibri"/>
                          <a:ea typeface="Calibri"/>
                          <a:cs typeface="Calibri"/>
                          <a:sym typeface="Calibri"/>
                        </a:rPr>
                        <a:t>0.914</a:t>
                      </a:r>
                      <a:endParaRPr sz="1300" u="none" cap="none" strike="noStrike">
                        <a:latin typeface="Calibri"/>
                        <a:ea typeface="Calibri"/>
                        <a:cs typeface="Calibri"/>
                        <a:sym typeface="Calibri"/>
                      </a:endParaRPr>
                    </a:p>
                  </a:txBody>
                  <a:tcPr marT="45725" marB="45725" marR="91450" marL="91450" anchor="ctr">
                    <a:lnL cap="flat" cmpd="sng" w="9525">
                      <a:solidFill>
                        <a:srgbClr val="3A4580"/>
                      </a:solidFill>
                      <a:prstDash val="solid"/>
                      <a:round/>
                      <a:headEnd len="sm" w="sm" type="none"/>
                      <a:tailEnd len="sm" w="sm" type="none"/>
                    </a:lnL>
                    <a:lnR cap="flat" cmpd="sng" w="9525">
                      <a:solidFill>
                        <a:srgbClr val="3A4580"/>
                      </a:solidFill>
                      <a:prstDash val="solid"/>
                      <a:round/>
                      <a:headEnd len="sm" w="sm" type="none"/>
                      <a:tailEnd len="sm" w="sm" type="none"/>
                    </a:lnR>
                    <a:lnT cap="flat" cmpd="sng" w="9525">
                      <a:solidFill>
                        <a:srgbClr val="3A4580"/>
                      </a:solidFill>
                      <a:prstDash val="solid"/>
                      <a:round/>
                      <a:headEnd len="sm" w="sm" type="none"/>
                      <a:tailEnd len="sm" w="sm" type="none"/>
                    </a:lnT>
                    <a:lnB cap="flat" cmpd="sng" w="9525">
                      <a:solidFill>
                        <a:srgbClr val="3A4580"/>
                      </a:solidFill>
                      <a:prstDash val="solid"/>
                      <a:round/>
                      <a:headEnd len="sm" w="sm" type="none"/>
                      <a:tailEnd len="sm" w="sm" type="none"/>
                    </a:lnB>
                    <a:solidFill>
                      <a:srgbClr val="1A3A1A"/>
                    </a:solidFill>
                  </a:tcPr>
                </a:tc>
              </a:tr>
            </a:tbl>
          </a:graphicData>
        </a:graphic>
      </p:graphicFrame>
      <p:sp>
        <p:nvSpPr>
          <p:cNvPr id="209" name="Google Shape;209;p11"/>
          <p:cNvSpPr/>
          <p:nvPr/>
        </p:nvSpPr>
        <p:spPr>
          <a:xfrm>
            <a:off x="731520" y="3291840"/>
            <a:ext cx="768096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ADCFC"/>
              </a:buClr>
              <a:buSzPts val="1300"/>
              <a:buFont typeface="Calibri"/>
              <a:buNone/>
            </a:pPr>
            <a:r>
              <a:rPr b="0" i="0" lang="en-US" sz="1300" u="none" cap="none" strike="noStrike">
                <a:solidFill>
                  <a:srgbClr val="CADCFC"/>
                </a:solidFill>
                <a:latin typeface="Calibri"/>
                <a:ea typeface="Calibri"/>
                <a:cs typeface="Calibri"/>
                <a:sym typeface="Calibri"/>
              </a:rPr>
              <a:t>S2 median exceeds both alternatives. However, 95% CIs overlap.</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CADCFC"/>
              </a:buClr>
              <a:buSzPts val="1300"/>
              <a:buFont typeface="Calibri"/>
              <a:buNone/>
            </a:pPr>
            <a:r>
              <a:rPr b="0" i="0" lang="en-US" sz="1300" u="none" cap="none" strike="noStrike">
                <a:solidFill>
                  <a:srgbClr val="CADCFC"/>
                </a:solidFill>
                <a:latin typeface="Calibri"/>
                <a:ea typeface="Calibri"/>
                <a:cs typeface="Calibri"/>
                <a:sym typeface="Calibri"/>
              </a:rPr>
              <a:t>The result is directional: a consistent positive signal, not a proven superiority claim.</a:t>
            </a:r>
            <a:endParaRPr b="0" i="0" sz="1300" u="none" cap="none" strike="noStrike">
              <a:solidFill>
                <a:schemeClr val="dk1"/>
              </a:solidFill>
              <a:latin typeface="Calibri"/>
              <a:ea typeface="Calibri"/>
              <a:cs typeface="Calibri"/>
              <a:sym typeface="Calibri"/>
            </a:endParaRPr>
          </a:p>
        </p:txBody>
      </p:sp>
      <p:sp>
        <p:nvSpPr>
          <p:cNvPr id="210" name="Google Shape;210;p11"/>
          <p:cNvSpPr/>
          <p:nvPr/>
        </p:nvSpPr>
        <p:spPr>
          <a:xfrm>
            <a:off x="731520" y="4114800"/>
            <a:ext cx="768096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1200"/>
              <a:buFont typeface="Calibri"/>
              <a:buNone/>
            </a:pPr>
            <a:r>
              <a:rPr b="0" i="1" lang="en-US" sz="1200" u="none" cap="none" strike="noStrike">
                <a:solidFill>
                  <a:srgbClr val="64748B"/>
                </a:solidFill>
                <a:latin typeface="Calibri"/>
                <a:ea typeface="Calibri"/>
                <a:cs typeface="Calibri"/>
                <a:sym typeface="Calibri"/>
              </a:rPr>
              <a:t>S2 consistently matched or exceeded the baseline across all sensitivity tests.</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5" name="Shape 215"/>
        <p:cNvGrpSpPr/>
        <p:nvPr/>
      </p:nvGrpSpPr>
      <p:grpSpPr>
        <a:xfrm>
          <a:off x="0" y="0"/>
          <a:ext cx="0" cy="0"/>
          <a:chOff x="0" y="0"/>
          <a:chExt cx="0" cy="0"/>
        </a:xfrm>
      </p:grpSpPr>
      <p:sp>
        <p:nvSpPr>
          <p:cNvPr id="216" name="Google Shape;216;p12"/>
          <p:cNvSpPr/>
          <p:nvPr/>
        </p:nvSpPr>
        <p:spPr>
          <a:xfrm>
            <a:off x="731520" y="274320"/>
            <a:ext cx="768096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2800"/>
              <a:buFont typeface="Calibri"/>
              <a:buNone/>
            </a:pPr>
            <a:r>
              <a:rPr b="1" i="0" lang="en-US" sz="2800" u="none" cap="none" strike="noStrike">
                <a:solidFill>
                  <a:srgbClr val="1E2761"/>
                </a:solidFill>
                <a:latin typeface="Calibri"/>
                <a:ea typeface="Calibri"/>
                <a:cs typeface="Calibri"/>
                <a:sym typeface="Calibri"/>
              </a:rPr>
              <a:t>Sensitivity: capacity (K) and tier cap</a:t>
            </a:r>
            <a:endParaRPr b="0" i="0" sz="2800" u="none" cap="none" strike="noStrike">
              <a:solidFill>
                <a:schemeClr val="dk1"/>
              </a:solidFill>
              <a:latin typeface="Calibri"/>
              <a:ea typeface="Calibri"/>
              <a:cs typeface="Calibri"/>
              <a:sym typeface="Calibri"/>
            </a:endParaRPr>
          </a:p>
        </p:txBody>
      </p:sp>
      <p:sp>
        <p:nvSpPr>
          <p:cNvPr id="217" name="Google Shape;217;p12"/>
          <p:cNvSpPr/>
          <p:nvPr/>
        </p:nvSpPr>
        <p:spPr>
          <a:xfrm>
            <a:off x="731520" y="822960"/>
            <a:ext cx="36576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1400"/>
              <a:buFont typeface="Calibri"/>
              <a:buNone/>
            </a:pPr>
            <a:r>
              <a:rPr b="1" i="0" lang="en-US" sz="1400" u="none" cap="none" strike="noStrike">
                <a:solidFill>
                  <a:srgbClr val="1E2761"/>
                </a:solidFill>
                <a:latin typeface="Calibri"/>
                <a:ea typeface="Calibri"/>
                <a:cs typeface="Calibri"/>
                <a:sym typeface="Calibri"/>
              </a:rPr>
              <a:t>Capacity constraint (K)</a:t>
            </a:r>
            <a:endParaRPr b="0" i="0" sz="1400" u="none" cap="none" strike="noStrike">
              <a:solidFill>
                <a:schemeClr val="dk1"/>
              </a:solidFill>
              <a:latin typeface="Calibri"/>
              <a:ea typeface="Calibri"/>
              <a:cs typeface="Calibri"/>
              <a:sym typeface="Calibri"/>
            </a:endParaRPr>
          </a:p>
        </p:txBody>
      </p:sp>
      <p:graphicFrame>
        <p:nvGraphicFramePr>
          <p:cNvPr id="218" name="Google Shape;218;p12"/>
          <p:cNvGraphicFramePr/>
          <p:nvPr/>
        </p:nvGraphicFramePr>
        <p:xfrm>
          <a:off x="457200" y="1188720"/>
          <a:ext cx="3000000" cy="3000000"/>
        </p:xfrm>
        <a:graphic>
          <a:graphicData uri="http://schemas.openxmlformats.org/drawingml/2006/table">
            <a:tbl>
              <a:tblPr>
                <a:noFill/>
                <a:tableStyleId>{D63AC954-7EFE-4871-A3DF-65480174A828}</a:tableStyleId>
              </a:tblPr>
              <a:tblGrid>
                <a:gridCol w="640075"/>
                <a:gridCol w="914400"/>
                <a:gridCol w="914400"/>
                <a:gridCol w="914400"/>
              </a:tblGrid>
              <a:tr h="320050">
                <a:tc>
                  <a:txBody>
                    <a:bodyPr/>
                    <a:lstStyle/>
                    <a:p>
                      <a:pPr indent="0" lvl="0" marL="0" marR="0" rtl="0" algn="ctr">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K</a:t>
                      </a:r>
                      <a:endParaRPr sz="11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1E2761"/>
                    </a:solidFill>
                  </a:tcPr>
                </a:tc>
                <a:tc>
                  <a:txBody>
                    <a:bodyPr/>
                    <a:lstStyle/>
                    <a:p>
                      <a:pPr indent="0" lvl="0" marL="0" marR="0" rtl="0" algn="ctr">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S1</a:t>
                      </a:r>
                      <a:endParaRPr sz="11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1E2761"/>
                    </a:solidFill>
                  </a:tcPr>
                </a:tc>
                <a:tc>
                  <a:txBody>
                    <a:bodyPr/>
                    <a:lstStyle/>
                    <a:p>
                      <a:pPr indent="0" lvl="0" marL="0" marR="0" rtl="0" algn="ctr">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S2</a:t>
                      </a:r>
                      <a:endParaRPr sz="11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1E2761"/>
                    </a:solidFill>
                  </a:tcPr>
                </a:tc>
                <a:tc>
                  <a:txBody>
                    <a:bodyPr/>
                    <a:lstStyle/>
                    <a:p>
                      <a:pPr indent="0" lvl="0" marL="0" marR="0" rtl="0" algn="ctr">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S3</a:t>
                      </a:r>
                      <a:endParaRPr sz="11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1E2761"/>
                    </a:solidFill>
                  </a:tcPr>
                </a:tc>
              </a:tr>
              <a:tr h="320050">
                <a:tc>
                  <a:txBody>
                    <a:bodyPr/>
                    <a:lstStyle/>
                    <a:p>
                      <a:pPr indent="0" lvl="0" marL="0" marR="0" rtl="0" algn="ctr">
                        <a:spcBef>
                          <a:spcPts val="0"/>
                        </a:spcBef>
                        <a:spcAft>
                          <a:spcPts val="0"/>
                        </a:spcAft>
                        <a:buClr>
                          <a:srgbClr val="0F1B3D"/>
                        </a:buClr>
                        <a:buSzPts val="1100"/>
                        <a:buFont typeface="Calibri"/>
                        <a:buNone/>
                      </a:pPr>
                      <a:r>
                        <a:rPr lang="en-US" sz="1100" u="none" cap="none" strike="noStrike">
                          <a:solidFill>
                            <a:srgbClr val="0F1B3D"/>
                          </a:solidFill>
                          <a:latin typeface="Calibri"/>
                          <a:ea typeface="Calibri"/>
                          <a:cs typeface="Calibri"/>
                          <a:sym typeface="Calibri"/>
                        </a:rPr>
                        <a:t>10%</a:t>
                      </a:r>
                      <a:endParaRPr sz="11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4F8"/>
                    </a:solidFill>
                  </a:tcPr>
                </a:tc>
                <a:tc>
                  <a:txBody>
                    <a:bodyPr/>
                    <a:lstStyle/>
                    <a:p>
                      <a:pPr indent="0" lvl="0" marL="0" marR="0" rtl="0" algn="ctr">
                        <a:spcBef>
                          <a:spcPts val="0"/>
                        </a:spcBef>
                        <a:spcAft>
                          <a:spcPts val="0"/>
                        </a:spcAft>
                        <a:buClr>
                          <a:srgbClr val="0F1B3D"/>
                        </a:buClr>
                        <a:buSzPts val="1100"/>
                        <a:buFont typeface="Calibri"/>
                        <a:buNone/>
                      </a:pPr>
                      <a:r>
                        <a:rPr lang="en-US" sz="1100" u="none" cap="none" strike="noStrike">
                          <a:solidFill>
                            <a:srgbClr val="0F1B3D"/>
                          </a:solidFill>
                          <a:latin typeface="Calibri"/>
                          <a:ea typeface="Calibri"/>
                          <a:cs typeface="Calibri"/>
                          <a:sym typeface="Calibri"/>
                        </a:rPr>
                        <a:t>92.1%</a:t>
                      </a:r>
                      <a:endParaRPr sz="11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4F8"/>
                    </a:solidFill>
                  </a:tcPr>
                </a:tc>
                <a:tc>
                  <a:txBody>
                    <a:bodyPr/>
                    <a:lstStyle/>
                    <a:p>
                      <a:pPr indent="0" lvl="0" marL="0" marR="0" rtl="0" algn="ctr">
                        <a:spcBef>
                          <a:spcPts val="0"/>
                        </a:spcBef>
                        <a:spcAft>
                          <a:spcPts val="0"/>
                        </a:spcAft>
                        <a:buClr>
                          <a:srgbClr val="0F1B3D"/>
                        </a:buClr>
                        <a:buSzPts val="1100"/>
                        <a:buFont typeface="Calibri"/>
                        <a:buNone/>
                      </a:pPr>
                      <a:r>
                        <a:rPr b="1" lang="en-US" sz="1100" u="none" cap="none" strike="noStrike">
                          <a:solidFill>
                            <a:srgbClr val="0F1B3D"/>
                          </a:solidFill>
                          <a:latin typeface="Calibri"/>
                          <a:ea typeface="Calibri"/>
                          <a:cs typeface="Calibri"/>
                          <a:sym typeface="Calibri"/>
                        </a:rPr>
                        <a:t>94.7%</a:t>
                      </a:r>
                      <a:endParaRPr sz="11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4F8"/>
                    </a:solidFill>
                  </a:tcPr>
                </a:tc>
                <a:tc>
                  <a:txBody>
                    <a:bodyPr/>
                    <a:lstStyle/>
                    <a:p>
                      <a:pPr indent="0" lvl="0" marL="0" marR="0" rtl="0" algn="ctr">
                        <a:spcBef>
                          <a:spcPts val="0"/>
                        </a:spcBef>
                        <a:spcAft>
                          <a:spcPts val="0"/>
                        </a:spcAft>
                        <a:buClr>
                          <a:srgbClr val="0F1B3D"/>
                        </a:buClr>
                        <a:buSzPts val="1100"/>
                        <a:buFont typeface="Calibri"/>
                        <a:buNone/>
                      </a:pPr>
                      <a:r>
                        <a:rPr lang="en-US" sz="1100" u="none" cap="none" strike="noStrike">
                          <a:solidFill>
                            <a:srgbClr val="0F1B3D"/>
                          </a:solidFill>
                          <a:latin typeface="Calibri"/>
                          <a:ea typeface="Calibri"/>
                          <a:cs typeface="Calibri"/>
                          <a:sym typeface="Calibri"/>
                        </a:rPr>
                        <a:t>90.7%</a:t>
                      </a:r>
                      <a:endParaRPr sz="11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4F8"/>
                    </a:solidFill>
                  </a:tcPr>
                </a:tc>
              </a:tr>
              <a:tr h="320050">
                <a:tc>
                  <a:txBody>
                    <a:bodyPr/>
                    <a:lstStyle/>
                    <a:p>
                      <a:pPr indent="0" lvl="0" marL="0" marR="0" rtl="0" algn="ctr">
                        <a:spcBef>
                          <a:spcPts val="0"/>
                        </a:spcBef>
                        <a:spcAft>
                          <a:spcPts val="0"/>
                        </a:spcAft>
                        <a:buClr>
                          <a:srgbClr val="0F1B3D"/>
                        </a:buClr>
                        <a:buSzPts val="1100"/>
                        <a:buFont typeface="Calibri"/>
                        <a:buNone/>
                      </a:pPr>
                      <a:r>
                        <a:rPr lang="en-US" sz="1100" u="none" cap="none" strike="noStrike">
                          <a:solidFill>
                            <a:srgbClr val="0F1B3D"/>
                          </a:solidFill>
                          <a:latin typeface="Calibri"/>
                          <a:ea typeface="Calibri"/>
                          <a:cs typeface="Calibri"/>
                          <a:sym typeface="Calibri"/>
                        </a:rPr>
                        <a:t>20%</a:t>
                      </a:r>
                      <a:endParaRPr sz="11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0F1B3D"/>
                        </a:buClr>
                        <a:buSzPts val="1100"/>
                        <a:buFont typeface="Calibri"/>
                        <a:buNone/>
                      </a:pPr>
                      <a:r>
                        <a:rPr lang="en-US" sz="1100" u="none" cap="none" strike="noStrike">
                          <a:solidFill>
                            <a:srgbClr val="0F1B3D"/>
                          </a:solidFill>
                          <a:latin typeface="Calibri"/>
                          <a:ea typeface="Calibri"/>
                          <a:cs typeface="Calibri"/>
                          <a:sym typeface="Calibri"/>
                        </a:rPr>
                        <a:t>87.8%</a:t>
                      </a:r>
                      <a:endParaRPr sz="11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0F1B3D"/>
                        </a:buClr>
                        <a:buSzPts val="1100"/>
                        <a:buFont typeface="Calibri"/>
                        <a:buNone/>
                      </a:pPr>
                      <a:r>
                        <a:rPr b="1" lang="en-US" sz="1100" u="none" cap="none" strike="noStrike">
                          <a:solidFill>
                            <a:srgbClr val="0F1B3D"/>
                          </a:solidFill>
                          <a:latin typeface="Calibri"/>
                          <a:ea typeface="Calibri"/>
                          <a:cs typeface="Calibri"/>
                          <a:sym typeface="Calibri"/>
                        </a:rPr>
                        <a:t>89.4%</a:t>
                      </a:r>
                      <a:endParaRPr sz="11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0F1B3D"/>
                        </a:buClr>
                        <a:buSzPts val="1100"/>
                        <a:buFont typeface="Calibri"/>
                        <a:buNone/>
                      </a:pPr>
                      <a:r>
                        <a:rPr lang="en-US" sz="1100" u="none" cap="none" strike="noStrike">
                          <a:solidFill>
                            <a:srgbClr val="0F1B3D"/>
                          </a:solidFill>
                          <a:latin typeface="Calibri"/>
                          <a:ea typeface="Calibri"/>
                          <a:cs typeface="Calibri"/>
                          <a:sym typeface="Calibri"/>
                        </a:rPr>
                        <a:t>88.1%</a:t>
                      </a:r>
                      <a:endParaRPr sz="11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320050">
                <a:tc>
                  <a:txBody>
                    <a:bodyPr/>
                    <a:lstStyle/>
                    <a:p>
                      <a:pPr indent="0" lvl="0" marL="0" marR="0" rtl="0" algn="ctr">
                        <a:spcBef>
                          <a:spcPts val="0"/>
                        </a:spcBef>
                        <a:spcAft>
                          <a:spcPts val="0"/>
                        </a:spcAft>
                        <a:buClr>
                          <a:srgbClr val="0F1B3D"/>
                        </a:buClr>
                        <a:buSzPts val="1100"/>
                        <a:buFont typeface="Calibri"/>
                        <a:buNone/>
                      </a:pPr>
                      <a:r>
                        <a:rPr lang="en-US" sz="1100" u="none" cap="none" strike="noStrike">
                          <a:solidFill>
                            <a:srgbClr val="0F1B3D"/>
                          </a:solidFill>
                          <a:latin typeface="Calibri"/>
                          <a:ea typeface="Calibri"/>
                          <a:cs typeface="Calibri"/>
                          <a:sym typeface="Calibri"/>
                        </a:rPr>
                        <a:t>30%</a:t>
                      </a:r>
                      <a:endParaRPr sz="11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4F8"/>
                    </a:solidFill>
                  </a:tcPr>
                </a:tc>
                <a:tc>
                  <a:txBody>
                    <a:bodyPr/>
                    <a:lstStyle/>
                    <a:p>
                      <a:pPr indent="0" lvl="0" marL="0" marR="0" rtl="0" algn="ctr">
                        <a:spcBef>
                          <a:spcPts val="0"/>
                        </a:spcBef>
                        <a:spcAft>
                          <a:spcPts val="0"/>
                        </a:spcAft>
                        <a:buClr>
                          <a:srgbClr val="0F1B3D"/>
                        </a:buClr>
                        <a:buSzPts val="1100"/>
                        <a:buFont typeface="Calibri"/>
                        <a:buNone/>
                      </a:pPr>
                      <a:r>
                        <a:rPr lang="en-US" sz="1100" u="none" cap="none" strike="noStrike">
                          <a:solidFill>
                            <a:srgbClr val="0F1B3D"/>
                          </a:solidFill>
                          <a:latin typeface="Calibri"/>
                          <a:ea typeface="Calibri"/>
                          <a:cs typeface="Calibri"/>
                          <a:sym typeface="Calibri"/>
                        </a:rPr>
                        <a:t>78.4%</a:t>
                      </a:r>
                      <a:endParaRPr sz="11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4F8"/>
                    </a:solidFill>
                  </a:tcPr>
                </a:tc>
                <a:tc>
                  <a:txBody>
                    <a:bodyPr/>
                    <a:lstStyle/>
                    <a:p>
                      <a:pPr indent="0" lvl="0" marL="0" marR="0" rtl="0" algn="ctr">
                        <a:spcBef>
                          <a:spcPts val="0"/>
                        </a:spcBef>
                        <a:spcAft>
                          <a:spcPts val="0"/>
                        </a:spcAft>
                        <a:buClr>
                          <a:srgbClr val="0F1B3D"/>
                        </a:buClr>
                        <a:buSzPts val="1100"/>
                        <a:buFont typeface="Calibri"/>
                        <a:buNone/>
                      </a:pPr>
                      <a:r>
                        <a:rPr b="1" lang="en-US" sz="1100" u="none" cap="none" strike="noStrike">
                          <a:solidFill>
                            <a:srgbClr val="0F1B3D"/>
                          </a:solidFill>
                          <a:latin typeface="Calibri"/>
                          <a:ea typeface="Calibri"/>
                          <a:cs typeface="Calibri"/>
                          <a:sym typeface="Calibri"/>
                        </a:rPr>
                        <a:t>81.0%</a:t>
                      </a:r>
                      <a:endParaRPr sz="11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4F8"/>
                    </a:solidFill>
                  </a:tcPr>
                </a:tc>
                <a:tc>
                  <a:txBody>
                    <a:bodyPr/>
                    <a:lstStyle/>
                    <a:p>
                      <a:pPr indent="0" lvl="0" marL="0" marR="0" rtl="0" algn="ctr">
                        <a:spcBef>
                          <a:spcPts val="0"/>
                        </a:spcBef>
                        <a:spcAft>
                          <a:spcPts val="0"/>
                        </a:spcAft>
                        <a:buClr>
                          <a:srgbClr val="0F1B3D"/>
                        </a:buClr>
                        <a:buSzPts val="1100"/>
                        <a:buFont typeface="Calibri"/>
                        <a:buNone/>
                      </a:pPr>
                      <a:r>
                        <a:rPr lang="en-US" sz="1100" u="none" cap="none" strike="noStrike">
                          <a:solidFill>
                            <a:srgbClr val="0F1B3D"/>
                          </a:solidFill>
                          <a:latin typeface="Calibri"/>
                          <a:ea typeface="Calibri"/>
                          <a:cs typeface="Calibri"/>
                          <a:sym typeface="Calibri"/>
                        </a:rPr>
                        <a:t>79.9%</a:t>
                      </a:r>
                      <a:endParaRPr sz="11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4F8"/>
                    </a:solidFill>
                  </a:tcPr>
                </a:tc>
              </a:tr>
            </a:tbl>
          </a:graphicData>
        </a:graphic>
      </p:graphicFrame>
      <p:sp>
        <p:nvSpPr>
          <p:cNvPr id="219" name="Google Shape;219;p12"/>
          <p:cNvSpPr/>
          <p:nvPr/>
        </p:nvSpPr>
        <p:spPr>
          <a:xfrm>
            <a:off x="457200" y="2560320"/>
            <a:ext cx="393192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1100"/>
              <a:buFont typeface="Calibri"/>
              <a:buNone/>
            </a:pPr>
            <a:r>
              <a:rPr b="0" i="1" lang="en-US" sz="1100" u="none" cap="none" strike="noStrike">
                <a:solidFill>
                  <a:srgbClr val="64748B"/>
                </a:solidFill>
                <a:latin typeface="Calibri"/>
                <a:ea typeface="Calibri"/>
                <a:cs typeface="Calibri"/>
                <a:sym typeface="Calibri"/>
              </a:rPr>
              <a:t>S2 exceeds S1 at every K value.</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4748B"/>
              </a:buClr>
              <a:buSzPts val="1100"/>
              <a:buFont typeface="Calibri"/>
              <a:buNone/>
            </a:pPr>
            <a:r>
              <a:rPr b="0" i="1" lang="en-US" sz="1100" u="none" cap="none" strike="noStrike">
                <a:solidFill>
                  <a:srgbClr val="64748B"/>
                </a:solidFill>
                <a:latin typeface="Calibri"/>
                <a:ea typeface="Calibri"/>
                <a:cs typeface="Calibri"/>
                <a:sym typeface="Calibri"/>
              </a:rPr>
              <a:t>Advantage widens at K = 30% (+2.7 pp).</a:t>
            </a:r>
            <a:endParaRPr b="0" i="0" sz="1100" u="none" cap="none" strike="noStrike">
              <a:solidFill>
                <a:schemeClr val="dk1"/>
              </a:solidFill>
              <a:latin typeface="Calibri"/>
              <a:ea typeface="Calibri"/>
              <a:cs typeface="Calibri"/>
              <a:sym typeface="Calibri"/>
            </a:endParaRPr>
          </a:p>
        </p:txBody>
      </p:sp>
      <p:sp>
        <p:nvSpPr>
          <p:cNvPr id="220" name="Google Shape;220;p12"/>
          <p:cNvSpPr/>
          <p:nvPr/>
        </p:nvSpPr>
        <p:spPr>
          <a:xfrm>
            <a:off x="4754880" y="822960"/>
            <a:ext cx="41148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1400"/>
              <a:buFont typeface="Calibri"/>
              <a:buNone/>
            </a:pPr>
            <a:r>
              <a:rPr b="1" i="0" lang="en-US" sz="1400" u="none" cap="none" strike="noStrike">
                <a:solidFill>
                  <a:srgbClr val="1E2761"/>
                </a:solidFill>
                <a:latin typeface="Calibri"/>
                <a:ea typeface="Calibri"/>
                <a:cs typeface="Calibri"/>
                <a:sym typeface="Calibri"/>
              </a:rPr>
              <a:t>Tier cap sensitivity (K = 20%)</a:t>
            </a:r>
            <a:endParaRPr b="0" i="0" sz="1400" u="none" cap="none" strike="noStrike">
              <a:solidFill>
                <a:schemeClr val="dk1"/>
              </a:solidFill>
              <a:latin typeface="Calibri"/>
              <a:ea typeface="Calibri"/>
              <a:cs typeface="Calibri"/>
              <a:sym typeface="Calibri"/>
            </a:endParaRPr>
          </a:p>
        </p:txBody>
      </p:sp>
      <p:graphicFrame>
        <p:nvGraphicFramePr>
          <p:cNvPr id="221" name="Google Shape;221;p12"/>
          <p:cNvGraphicFramePr/>
          <p:nvPr/>
        </p:nvGraphicFramePr>
        <p:xfrm>
          <a:off x="4754880" y="1188720"/>
          <a:ext cx="3000000" cy="3000000"/>
        </p:xfrm>
        <a:graphic>
          <a:graphicData uri="http://schemas.openxmlformats.org/drawingml/2006/table">
            <a:tbl>
              <a:tblPr>
                <a:noFill/>
                <a:tableStyleId>{D63AC954-7EFE-4871-A3DF-65480174A828}</a:tableStyleId>
              </a:tblPr>
              <a:tblGrid>
                <a:gridCol w="731525"/>
                <a:gridCol w="914400"/>
                <a:gridCol w="914400"/>
                <a:gridCol w="914400"/>
              </a:tblGrid>
              <a:tr h="320050">
                <a:tc>
                  <a:txBody>
                    <a:bodyPr/>
                    <a:lstStyle/>
                    <a:p>
                      <a:pPr indent="0" lvl="0" marL="0" marR="0" rtl="0" algn="ctr">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Cap</a:t>
                      </a:r>
                      <a:endParaRPr sz="11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1E2761"/>
                    </a:solidFill>
                  </a:tcPr>
                </a:tc>
                <a:tc>
                  <a:txBody>
                    <a:bodyPr/>
                    <a:lstStyle/>
                    <a:p>
                      <a:pPr indent="0" lvl="0" marL="0" marR="0" rtl="0" algn="ctr">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S1</a:t>
                      </a:r>
                      <a:endParaRPr sz="11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1E2761"/>
                    </a:solidFill>
                  </a:tcPr>
                </a:tc>
                <a:tc>
                  <a:txBody>
                    <a:bodyPr/>
                    <a:lstStyle/>
                    <a:p>
                      <a:pPr indent="0" lvl="0" marL="0" marR="0" rtl="0" algn="ctr">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S2</a:t>
                      </a:r>
                      <a:endParaRPr sz="11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1E2761"/>
                    </a:solidFill>
                  </a:tcPr>
                </a:tc>
                <a:tc>
                  <a:txBody>
                    <a:bodyPr/>
                    <a:lstStyle/>
                    <a:p>
                      <a:pPr indent="0" lvl="0" marL="0" marR="0" rtl="0" algn="ctr">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S3</a:t>
                      </a:r>
                      <a:endParaRPr sz="11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1E2761"/>
                    </a:solidFill>
                  </a:tcPr>
                </a:tc>
              </a:tr>
              <a:tr h="320050">
                <a:tc>
                  <a:txBody>
                    <a:bodyPr/>
                    <a:lstStyle/>
                    <a:p>
                      <a:pPr indent="0" lvl="0" marL="0" marR="0" rtl="0" algn="ctr">
                        <a:spcBef>
                          <a:spcPts val="0"/>
                        </a:spcBef>
                        <a:spcAft>
                          <a:spcPts val="0"/>
                        </a:spcAft>
                        <a:buClr>
                          <a:srgbClr val="0F1B3D"/>
                        </a:buClr>
                        <a:buSzPts val="1100"/>
                        <a:buFont typeface="Calibri"/>
                        <a:buNone/>
                      </a:pPr>
                      <a:r>
                        <a:rPr lang="en-US" sz="1100" u="none" cap="none" strike="noStrike">
                          <a:solidFill>
                            <a:srgbClr val="0F1B3D"/>
                          </a:solidFill>
                          <a:latin typeface="Calibri"/>
                          <a:ea typeface="Calibri"/>
                          <a:cs typeface="Calibri"/>
                          <a:sym typeface="Calibri"/>
                        </a:rPr>
                        <a:t>20%</a:t>
                      </a:r>
                      <a:endParaRPr sz="11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4F8"/>
                    </a:solidFill>
                  </a:tcPr>
                </a:tc>
                <a:tc>
                  <a:txBody>
                    <a:bodyPr/>
                    <a:lstStyle/>
                    <a:p>
                      <a:pPr indent="0" lvl="0" marL="0" marR="0" rtl="0" algn="ctr">
                        <a:spcBef>
                          <a:spcPts val="0"/>
                        </a:spcBef>
                        <a:spcAft>
                          <a:spcPts val="0"/>
                        </a:spcAft>
                        <a:buClr>
                          <a:srgbClr val="0F1B3D"/>
                        </a:buClr>
                        <a:buSzPts val="1100"/>
                        <a:buFont typeface="Calibri"/>
                        <a:buNone/>
                      </a:pPr>
                      <a:r>
                        <a:rPr lang="en-US" sz="1100" u="none" cap="none" strike="noStrike">
                          <a:solidFill>
                            <a:srgbClr val="0F1B3D"/>
                          </a:solidFill>
                          <a:latin typeface="Calibri"/>
                          <a:ea typeface="Calibri"/>
                          <a:cs typeface="Calibri"/>
                          <a:sym typeface="Calibri"/>
                        </a:rPr>
                        <a:t>87.</a:t>
                      </a:r>
                      <a:r>
                        <a:rPr lang="en-US" sz="1100">
                          <a:solidFill>
                            <a:srgbClr val="0F1B3D"/>
                          </a:solidFill>
                          <a:latin typeface="Calibri"/>
                          <a:ea typeface="Calibri"/>
                          <a:cs typeface="Calibri"/>
                          <a:sym typeface="Calibri"/>
                        </a:rPr>
                        <a:t>7</a:t>
                      </a:r>
                      <a:r>
                        <a:rPr lang="en-US" sz="1100" u="none" cap="none" strike="noStrike">
                          <a:solidFill>
                            <a:srgbClr val="0F1B3D"/>
                          </a:solidFill>
                          <a:latin typeface="Calibri"/>
                          <a:ea typeface="Calibri"/>
                          <a:cs typeface="Calibri"/>
                          <a:sym typeface="Calibri"/>
                        </a:rPr>
                        <a:t>%</a:t>
                      </a:r>
                      <a:endParaRPr sz="11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4F8"/>
                    </a:solidFill>
                  </a:tcPr>
                </a:tc>
                <a:tc>
                  <a:txBody>
                    <a:bodyPr/>
                    <a:lstStyle/>
                    <a:p>
                      <a:pPr indent="0" lvl="0" marL="0" marR="0" rtl="0" algn="ctr">
                        <a:spcBef>
                          <a:spcPts val="0"/>
                        </a:spcBef>
                        <a:spcAft>
                          <a:spcPts val="0"/>
                        </a:spcAft>
                        <a:buClr>
                          <a:srgbClr val="0F1B3D"/>
                        </a:buClr>
                        <a:buSzPts val="1100"/>
                        <a:buFont typeface="Calibri"/>
                        <a:buNone/>
                      </a:pPr>
                      <a:r>
                        <a:rPr lang="en-US" sz="1100" u="none" cap="none" strike="noStrike">
                          <a:solidFill>
                            <a:srgbClr val="0F1B3D"/>
                          </a:solidFill>
                          <a:latin typeface="Calibri"/>
                          <a:ea typeface="Calibri"/>
                          <a:cs typeface="Calibri"/>
                          <a:sym typeface="Calibri"/>
                        </a:rPr>
                        <a:t>88.7%</a:t>
                      </a:r>
                      <a:endParaRPr sz="11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4F8"/>
                    </a:solidFill>
                  </a:tcPr>
                </a:tc>
                <a:tc>
                  <a:txBody>
                    <a:bodyPr/>
                    <a:lstStyle/>
                    <a:p>
                      <a:pPr indent="0" lvl="0" marL="0" marR="0" rtl="0" algn="ctr">
                        <a:spcBef>
                          <a:spcPts val="0"/>
                        </a:spcBef>
                        <a:spcAft>
                          <a:spcPts val="0"/>
                        </a:spcAft>
                        <a:buClr>
                          <a:srgbClr val="0F1B3D"/>
                        </a:buClr>
                        <a:buSzPts val="1100"/>
                        <a:buFont typeface="Calibri"/>
                        <a:buNone/>
                      </a:pPr>
                      <a:r>
                        <a:rPr lang="en-US" sz="1100" u="none" cap="none" strike="noStrike">
                          <a:solidFill>
                            <a:srgbClr val="0F1B3D"/>
                          </a:solidFill>
                          <a:latin typeface="Calibri"/>
                          <a:ea typeface="Calibri"/>
                          <a:cs typeface="Calibri"/>
                          <a:sym typeface="Calibri"/>
                        </a:rPr>
                        <a:t>88.1%</a:t>
                      </a:r>
                      <a:endParaRPr sz="11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4F8"/>
                    </a:solidFill>
                  </a:tcPr>
                </a:tc>
              </a:tr>
              <a:tr h="320050">
                <a:tc>
                  <a:txBody>
                    <a:bodyPr/>
                    <a:lstStyle/>
                    <a:p>
                      <a:pPr indent="0" lvl="0" marL="0" marR="0" rtl="0" algn="ctr">
                        <a:spcBef>
                          <a:spcPts val="0"/>
                        </a:spcBef>
                        <a:spcAft>
                          <a:spcPts val="0"/>
                        </a:spcAft>
                        <a:buClr>
                          <a:srgbClr val="0F1B3D"/>
                        </a:buClr>
                        <a:buSzPts val="1100"/>
                        <a:buFont typeface="Calibri"/>
                        <a:buNone/>
                      </a:pPr>
                      <a:r>
                        <a:rPr lang="en-US" sz="1100" u="none" cap="none" strike="noStrike">
                          <a:solidFill>
                            <a:srgbClr val="0F1B3D"/>
                          </a:solidFill>
                          <a:latin typeface="Calibri"/>
                          <a:ea typeface="Calibri"/>
                          <a:cs typeface="Calibri"/>
                          <a:sym typeface="Calibri"/>
                        </a:rPr>
                        <a:t>40%</a:t>
                      </a:r>
                      <a:endParaRPr sz="11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0F1B3D"/>
                        </a:buClr>
                        <a:buSzPts val="1100"/>
                        <a:buFont typeface="Calibri"/>
                        <a:buNone/>
                      </a:pPr>
                      <a:r>
                        <a:rPr lang="en-US" sz="1100" u="none" cap="none" strike="noStrike">
                          <a:solidFill>
                            <a:srgbClr val="0F1B3D"/>
                          </a:solidFill>
                          <a:latin typeface="Calibri"/>
                          <a:ea typeface="Calibri"/>
                          <a:cs typeface="Calibri"/>
                          <a:sym typeface="Calibri"/>
                        </a:rPr>
                        <a:t>87.</a:t>
                      </a:r>
                      <a:r>
                        <a:rPr lang="en-US" sz="1100">
                          <a:solidFill>
                            <a:srgbClr val="0F1B3D"/>
                          </a:solidFill>
                          <a:latin typeface="Calibri"/>
                          <a:ea typeface="Calibri"/>
                          <a:cs typeface="Calibri"/>
                          <a:sym typeface="Calibri"/>
                        </a:rPr>
                        <a:t>7</a:t>
                      </a:r>
                      <a:r>
                        <a:rPr lang="en-US" sz="1100" u="none" cap="none" strike="noStrike">
                          <a:solidFill>
                            <a:srgbClr val="0F1B3D"/>
                          </a:solidFill>
                          <a:latin typeface="Calibri"/>
                          <a:ea typeface="Calibri"/>
                          <a:cs typeface="Calibri"/>
                          <a:sym typeface="Calibri"/>
                        </a:rPr>
                        <a:t>%</a:t>
                      </a:r>
                      <a:endParaRPr sz="11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0F1B3D"/>
                        </a:buClr>
                        <a:buSzPts val="1100"/>
                        <a:buFont typeface="Calibri"/>
                        <a:buNone/>
                      </a:pPr>
                      <a:r>
                        <a:rPr b="1" lang="en-US" sz="1100" u="none" cap="none" strike="noStrike">
                          <a:solidFill>
                            <a:srgbClr val="0F1B3D"/>
                          </a:solidFill>
                          <a:latin typeface="Calibri"/>
                          <a:ea typeface="Calibri"/>
                          <a:cs typeface="Calibri"/>
                          <a:sym typeface="Calibri"/>
                        </a:rPr>
                        <a:t>89.4%</a:t>
                      </a:r>
                      <a:endParaRPr sz="11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0F1B3D"/>
                        </a:buClr>
                        <a:buSzPts val="1100"/>
                        <a:buFont typeface="Calibri"/>
                        <a:buNone/>
                      </a:pPr>
                      <a:r>
                        <a:rPr lang="en-US" sz="1100" u="none" cap="none" strike="noStrike">
                          <a:solidFill>
                            <a:srgbClr val="0F1B3D"/>
                          </a:solidFill>
                          <a:latin typeface="Calibri"/>
                          <a:ea typeface="Calibri"/>
                          <a:cs typeface="Calibri"/>
                          <a:sym typeface="Calibri"/>
                        </a:rPr>
                        <a:t>88.1%</a:t>
                      </a:r>
                      <a:endParaRPr sz="11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320050">
                <a:tc>
                  <a:txBody>
                    <a:bodyPr/>
                    <a:lstStyle/>
                    <a:p>
                      <a:pPr indent="0" lvl="0" marL="0" marR="0" rtl="0" algn="ctr">
                        <a:spcBef>
                          <a:spcPts val="0"/>
                        </a:spcBef>
                        <a:spcAft>
                          <a:spcPts val="0"/>
                        </a:spcAft>
                        <a:buClr>
                          <a:srgbClr val="0F1B3D"/>
                        </a:buClr>
                        <a:buSzPts val="1100"/>
                        <a:buFont typeface="Calibri"/>
                        <a:buNone/>
                      </a:pPr>
                      <a:r>
                        <a:rPr lang="en-US" sz="1100" u="none" cap="none" strike="noStrike">
                          <a:solidFill>
                            <a:srgbClr val="0F1B3D"/>
                          </a:solidFill>
                          <a:latin typeface="Calibri"/>
                          <a:ea typeface="Calibri"/>
                          <a:cs typeface="Calibri"/>
                          <a:sym typeface="Calibri"/>
                        </a:rPr>
                        <a:t>60%</a:t>
                      </a:r>
                      <a:endParaRPr sz="11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4F8"/>
                    </a:solidFill>
                  </a:tcPr>
                </a:tc>
                <a:tc>
                  <a:txBody>
                    <a:bodyPr/>
                    <a:lstStyle/>
                    <a:p>
                      <a:pPr indent="0" lvl="0" marL="0" marR="0" rtl="0" algn="ctr">
                        <a:spcBef>
                          <a:spcPts val="0"/>
                        </a:spcBef>
                        <a:spcAft>
                          <a:spcPts val="0"/>
                        </a:spcAft>
                        <a:buClr>
                          <a:srgbClr val="0F1B3D"/>
                        </a:buClr>
                        <a:buSzPts val="1100"/>
                        <a:buFont typeface="Calibri"/>
                        <a:buNone/>
                      </a:pPr>
                      <a:r>
                        <a:rPr lang="en-US" sz="1100" u="none" cap="none" strike="noStrike">
                          <a:solidFill>
                            <a:srgbClr val="0F1B3D"/>
                          </a:solidFill>
                          <a:latin typeface="Calibri"/>
                          <a:ea typeface="Calibri"/>
                          <a:cs typeface="Calibri"/>
                          <a:sym typeface="Calibri"/>
                        </a:rPr>
                        <a:t>87.</a:t>
                      </a:r>
                      <a:r>
                        <a:rPr lang="en-US" sz="1100">
                          <a:solidFill>
                            <a:srgbClr val="0F1B3D"/>
                          </a:solidFill>
                          <a:latin typeface="Calibri"/>
                          <a:ea typeface="Calibri"/>
                          <a:cs typeface="Calibri"/>
                          <a:sym typeface="Calibri"/>
                        </a:rPr>
                        <a:t>7</a:t>
                      </a:r>
                      <a:r>
                        <a:rPr lang="en-US" sz="1100" u="none" cap="none" strike="noStrike">
                          <a:solidFill>
                            <a:srgbClr val="0F1B3D"/>
                          </a:solidFill>
                          <a:latin typeface="Calibri"/>
                          <a:ea typeface="Calibri"/>
                          <a:cs typeface="Calibri"/>
                          <a:sym typeface="Calibri"/>
                        </a:rPr>
                        <a:t>%</a:t>
                      </a:r>
                      <a:endParaRPr sz="11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4F8"/>
                    </a:solidFill>
                  </a:tcPr>
                </a:tc>
                <a:tc>
                  <a:txBody>
                    <a:bodyPr/>
                    <a:lstStyle/>
                    <a:p>
                      <a:pPr indent="0" lvl="0" marL="0" marR="0" rtl="0" algn="ctr">
                        <a:spcBef>
                          <a:spcPts val="0"/>
                        </a:spcBef>
                        <a:spcAft>
                          <a:spcPts val="0"/>
                        </a:spcAft>
                        <a:buClr>
                          <a:srgbClr val="0F1B3D"/>
                        </a:buClr>
                        <a:buSzPts val="1100"/>
                        <a:buFont typeface="Calibri"/>
                        <a:buNone/>
                      </a:pPr>
                      <a:r>
                        <a:rPr b="1" lang="en-US" sz="1100" u="none" cap="none" strike="noStrike">
                          <a:solidFill>
                            <a:srgbClr val="0F1B3D"/>
                          </a:solidFill>
                          <a:latin typeface="Calibri"/>
                          <a:ea typeface="Calibri"/>
                          <a:cs typeface="Calibri"/>
                          <a:sym typeface="Calibri"/>
                        </a:rPr>
                        <a:t>89.4%</a:t>
                      </a:r>
                      <a:endParaRPr sz="11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4F8"/>
                    </a:solidFill>
                  </a:tcPr>
                </a:tc>
                <a:tc>
                  <a:txBody>
                    <a:bodyPr/>
                    <a:lstStyle/>
                    <a:p>
                      <a:pPr indent="0" lvl="0" marL="0" marR="0" rtl="0" algn="ctr">
                        <a:spcBef>
                          <a:spcPts val="0"/>
                        </a:spcBef>
                        <a:spcAft>
                          <a:spcPts val="0"/>
                        </a:spcAft>
                        <a:buClr>
                          <a:srgbClr val="0F1B3D"/>
                        </a:buClr>
                        <a:buSzPts val="1100"/>
                        <a:buFont typeface="Calibri"/>
                        <a:buNone/>
                      </a:pPr>
                      <a:r>
                        <a:rPr lang="en-US" sz="1100" u="none" cap="none" strike="noStrike">
                          <a:solidFill>
                            <a:srgbClr val="0F1B3D"/>
                          </a:solidFill>
                          <a:latin typeface="Calibri"/>
                          <a:ea typeface="Calibri"/>
                          <a:cs typeface="Calibri"/>
                          <a:sym typeface="Calibri"/>
                        </a:rPr>
                        <a:t>88.1%</a:t>
                      </a:r>
                      <a:endParaRPr sz="11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4F8"/>
                    </a:solidFill>
                  </a:tcPr>
                </a:tc>
              </a:tr>
              <a:tr h="320050">
                <a:tc>
                  <a:txBody>
                    <a:bodyPr/>
                    <a:lstStyle/>
                    <a:p>
                      <a:pPr indent="0" lvl="0" marL="0" marR="0" rtl="0" algn="ctr">
                        <a:spcBef>
                          <a:spcPts val="0"/>
                        </a:spcBef>
                        <a:spcAft>
                          <a:spcPts val="0"/>
                        </a:spcAft>
                        <a:buClr>
                          <a:srgbClr val="0F1B3D"/>
                        </a:buClr>
                        <a:buSzPts val="1100"/>
                        <a:buFont typeface="Calibri"/>
                        <a:buNone/>
                      </a:pPr>
                      <a:r>
                        <a:rPr lang="en-US" sz="1100" u="none" cap="none" strike="noStrike">
                          <a:solidFill>
                            <a:srgbClr val="0F1B3D"/>
                          </a:solidFill>
                          <a:latin typeface="Calibri"/>
                          <a:ea typeface="Calibri"/>
                          <a:cs typeface="Calibri"/>
                          <a:sym typeface="Calibri"/>
                        </a:rPr>
                        <a:t>100%</a:t>
                      </a:r>
                      <a:endParaRPr sz="11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0EB"/>
                    </a:solidFill>
                  </a:tcPr>
                </a:tc>
                <a:tc>
                  <a:txBody>
                    <a:bodyPr/>
                    <a:lstStyle/>
                    <a:p>
                      <a:pPr indent="0" lvl="0" marL="0" marR="0" rtl="0" algn="ctr">
                        <a:spcBef>
                          <a:spcPts val="0"/>
                        </a:spcBef>
                        <a:spcAft>
                          <a:spcPts val="0"/>
                        </a:spcAft>
                        <a:buClr>
                          <a:srgbClr val="0F1B3D"/>
                        </a:buClr>
                        <a:buSzPts val="1100"/>
                        <a:buFont typeface="Calibri"/>
                        <a:buNone/>
                      </a:pPr>
                      <a:r>
                        <a:rPr lang="en-US" sz="1100" u="none" cap="none" strike="noStrike">
                          <a:solidFill>
                            <a:srgbClr val="0F1B3D"/>
                          </a:solidFill>
                          <a:latin typeface="Calibri"/>
                          <a:ea typeface="Calibri"/>
                          <a:cs typeface="Calibri"/>
                          <a:sym typeface="Calibri"/>
                        </a:rPr>
                        <a:t>87.</a:t>
                      </a:r>
                      <a:r>
                        <a:rPr lang="en-US" sz="1100">
                          <a:solidFill>
                            <a:srgbClr val="0F1B3D"/>
                          </a:solidFill>
                          <a:latin typeface="Calibri"/>
                          <a:ea typeface="Calibri"/>
                          <a:cs typeface="Calibri"/>
                          <a:sym typeface="Calibri"/>
                        </a:rPr>
                        <a:t>7</a:t>
                      </a:r>
                      <a:r>
                        <a:rPr lang="en-US" sz="1100" u="none" cap="none" strike="noStrike">
                          <a:solidFill>
                            <a:srgbClr val="0F1B3D"/>
                          </a:solidFill>
                          <a:latin typeface="Calibri"/>
                          <a:ea typeface="Calibri"/>
                          <a:cs typeface="Calibri"/>
                          <a:sym typeface="Calibri"/>
                        </a:rPr>
                        <a:t>%</a:t>
                      </a:r>
                      <a:endParaRPr sz="11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0EB"/>
                    </a:solidFill>
                  </a:tcPr>
                </a:tc>
                <a:tc>
                  <a:txBody>
                    <a:bodyPr/>
                    <a:lstStyle/>
                    <a:p>
                      <a:pPr indent="0" lvl="0" marL="0" marR="0" rtl="0" algn="ctr">
                        <a:spcBef>
                          <a:spcPts val="0"/>
                        </a:spcBef>
                        <a:spcAft>
                          <a:spcPts val="0"/>
                        </a:spcAft>
                        <a:buClr>
                          <a:srgbClr val="E8593C"/>
                        </a:buClr>
                        <a:buSzPts val="1100"/>
                        <a:buFont typeface="Calibri"/>
                        <a:buNone/>
                      </a:pPr>
                      <a:r>
                        <a:rPr b="1" lang="en-US" sz="1100" u="none" cap="none" strike="noStrike">
                          <a:solidFill>
                            <a:srgbClr val="E8593C"/>
                          </a:solidFill>
                          <a:latin typeface="Calibri"/>
                          <a:ea typeface="Calibri"/>
                          <a:cs typeface="Calibri"/>
                          <a:sym typeface="Calibri"/>
                        </a:rPr>
                        <a:t>86.8%</a:t>
                      </a:r>
                      <a:endParaRPr sz="11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0EB"/>
                    </a:solidFill>
                  </a:tcPr>
                </a:tc>
                <a:tc>
                  <a:txBody>
                    <a:bodyPr/>
                    <a:lstStyle/>
                    <a:p>
                      <a:pPr indent="0" lvl="0" marL="0" marR="0" rtl="0" algn="ctr">
                        <a:spcBef>
                          <a:spcPts val="0"/>
                        </a:spcBef>
                        <a:spcAft>
                          <a:spcPts val="0"/>
                        </a:spcAft>
                        <a:buClr>
                          <a:srgbClr val="0F1B3D"/>
                        </a:buClr>
                        <a:buSzPts val="1100"/>
                        <a:buFont typeface="Calibri"/>
                        <a:buNone/>
                      </a:pPr>
                      <a:r>
                        <a:rPr lang="en-US" sz="1100" u="none" cap="none" strike="noStrike">
                          <a:solidFill>
                            <a:srgbClr val="0F1B3D"/>
                          </a:solidFill>
                          <a:latin typeface="Calibri"/>
                          <a:ea typeface="Calibri"/>
                          <a:cs typeface="Calibri"/>
                          <a:sym typeface="Calibri"/>
                        </a:rPr>
                        <a:t>88.1%</a:t>
                      </a:r>
                      <a:endParaRPr sz="11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0EB"/>
                    </a:solidFill>
                  </a:tcPr>
                </a:tc>
              </a:tr>
            </a:tbl>
          </a:graphicData>
        </a:graphic>
      </p:graphicFrame>
      <p:sp>
        <p:nvSpPr>
          <p:cNvPr id="222" name="Google Shape;222;p12"/>
          <p:cNvSpPr/>
          <p:nvPr/>
        </p:nvSpPr>
        <p:spPr>
          <a:xfrm>
            <a:off x="4754875" y="2834648"/>
            <a:ext cx="3931800" cy="9708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E8593C"/>
              </a:buClr>
              <a:buSzPts val="1100"/>
              <a:buFont typeface="Calibri"/>
              <a:buNone/>
            </a:pPr>
            <a:r>
              <a:rPr b="1" lang="en-US" sz="1100">
                <a:solidFill>
                  <a:srgbClr val="E8593C"/>
                </a:solidFill>
                <a:latin typeface="Calibri"/>
                <a:ea typeface="Calibri"/>
                <a:cs typeface="Calibri"/>
                <a:sym typeface="Calibri"/>
              </a:rPr>
              <a:t>Base case: Each tier is limited to a maximum of 40% of K (120 leads). </a:t>
            </a:r>
            <a:endParaRPr sz="1100">
              <a:solidFill>
                <a:srgbClr val="E8593C"/>
              </a:solidFill>
              <a:latin typeface="Calibri"/>
              <a:ea typeface="Calibri"/>
              <a:cs typeface="Calibri"/>
              <a:sym typeface="Calibri"/>
            </a:endParaRPr>
          </a:p>
          <a:p>
            <a:pPr indent="0" lvl="0" marL="0" marR="0" rtl="0" algn="l">
              <a:spcBef>
                <a:spcPts val="0"/>
              </a:spcBef>
              <a:spcAft>
                <a:spcPts val="0"/>
              </a:spcAft>
              <a:buClr>
                <a:srgbClr val="E8593C"/>
              </a:buClr>
              <a:buSzPts val="1100"/>
              <a:buFont typeface="Calibri"/>
              <a:buNone/>
            </a:pPr>
            <a:r>
              <a:rPr b="1" i="0" lang="en-US" sz="1100" u="none" cap="none" strike="noStrike">
                <a:solidFill>
                  <a:srgbClr val="E8593C"/>
                </a:solidFill>
                <a:latin typeface="Calibri"/>
                <a:ea typeface="Calibri"/>
                <a:cs typeface="Calibri"/>
                <a:sym typeface="Calibri"/>
              </a:rPr>
              <a:t>At 100% uncapped: S2 falls below S1</a:t>
            </a:r>
            <a:r>
              <a:rPr b="1" i="0" lang="en-US" sz="1100" u="none" cap="none" strike="noStrike">
                <a:solidFill>
                  <a:srgbClr val="E8593C"/>
                </a:solidFill>
                <a:latin typeface="Calibri"/>
                <a:ea typeface="Calibri"/>
                <a:cs typeface="Calibri"/>
                <a:sym typeface="Calibri"/>
              </a:rPr>
              <a:t>. </a:t>
            </a:r>
            <a:endParaRPr b="1" i="0" sz="1100" u="none" cap="none" strike="noStrike">
              <a:solidFill>
                <a:srgbClr val="E8593C"/>
              </a:solidFill>
              <a:latin typeface="Calibri"/>
              <a:ea typeface="Calibri"/>
              <a:cs typeface="Calibri"/>
              <a:sym typeface="Calibri"/>
            </a:endParaRPr>
          </a:p>
          <a:p>
            <a:pPr indent="0" lvl="0" marL="0" marR="0" rtl="0" algn="l">
              <a:spcBef>
                <a:spcPts val="0"/>
              </a:spcBef>
              <a:spcAft>
                <a:spcPts val="0"/>
              </a:spcAft>
              <a:buClr>
                <a:srgbClr val="E8593C"/>
              </a:buClr>
              <a:buSzPts val="1100"/>
              <a:buFont typeface="Calibri"/>
              <a:buNone/>
            </a:pPr>
            <a:r>
              <a:rPr b="1" i="0" lang="en-US" sz="1100" u="none" cap="none" strike="noStrike">
                <a:solidFill>
                  <a:srgbClr val="E8593C"/>
                </a:solidFill>
                <a:latin typeface="Calibri"/>
                <a:ea typeface="Calibri"/>
                <a:cs typeface="Calibri"/>
                <a:sym typeface="Calibri"/>
              </a:rPr>
              <a:t>Qualification without ML filtering hurts.</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7" name="Shape 227"/>
        <p:cNvGrpSpPr/>
        <p:nvPr/>
      </p:nvGrpSpPr>
      <p:grpSpPr>
        <a:xfrm>
          <a:off x="0" y="0"/>
          <a:ext cx="0" cy="0"/>
          <a:chOff x="0" y="0"/>
          <a:chExt cx="0" cy="0"/>
        </a:xfrm>
      </p:grpSpPr>
      <p:sp>
        <p:nvSpPr>
          <p:cNvPr id="228" name="Google Shape;228;p13"/>
          <p:cNvSpPr/>
          <p:nvPr/>
        </p:nvSpPr>
        <p:spPr>
          <a:xfrm>
            <a:off x="731520" y="274320"/>
            <a:ext cx="768096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2800"/>
              <a:buFont typeface="Calibri"/>
              <a:buNone/>
            </a:pPr>
            <a:r>
              <a:rPr b="1" i="0" lang="en-US" sz="2800" u="none" cap="none" strike="noStrike">
                <a:solidFill>
                  <a:srgbClr val="1E2761"/>
                </a:solidFill>
                <a:latin typeface="Calibri"/>
                <a:ea typeface="Calibri"/>
                <a:cs typeface="Calibri"/>
                <a:sym typeface="Calibri"/>
              </a:rPr>
              <a:t>Sensitivity: System 3 blend weight</a:t>
            </a:r>
            <a:endParaRPr b="0" i="0" sz="2800" u="none" cap="none" strike="noStrike">
              <a:solidFill>
                <a:schemeClr val="dk1"/>
              </a:solidFill>
              <a:latin typeface="Calibri"/>
              <a:ea typeface="Calibri"/>
              <a:cs typeface="Calibri"/>
              <a:sym typeface="Calibri"/>
            </a:endParaRPr>
          </a:p>
        </p:txBody>
      </p:sp>
      <p:sp>
        <p:nvSpPr>
          <p:cNvPr id="229" name="Google Shape;229;p13"/>
          <p:cNvSpPr/>
          <p:nvPr/>
        </p:nvSpPr>
        <p:spPr>
          <a:xfrm>
            <a:off x="731520" y="731520"/>
            <a:ext cx="768096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1300"/>
              <a:buFont typeface="Calibri"/>
              <a:buNone/>
            </a:pPr>
            <a:r>
              <a:rPr b="0" i="1" lang="en-US" sz="1300" u="none" cap="none" strike="noStrike">
                <a:solidFill>
                  <a:srgbClr val="64748B"/>
                </a:solidFill>
                <a:latin typeface="Calibri"/>
                <a:ea typeface="Calibri"/>
                <a:cs typeface="Calibri"/>
                <a:sym typeface="Calibri"/>
              </a:rPr>
              <a:t>Same P1 + P2 signals as System 2 — different mechanism</a:t>
            </a:r>
            <a:endParaRPr b="0" i="0" sz="1300" u="none" cap="none" strike="noStrike">
              <a:solidFill>
                <a:schemeClr val="dk1"/>
              </a:solidFill>
              <a:latin typeface="Calibri"/>
              <a:ea typeface="Calibri"/>
              <a:cs typeface="Calibri"/>
              <a:sym typeface="Calibri"/>
            </a:endParaRPr>
          </a:p>
        </p:txBody>
      </p:sp>
      <p:graphicFrame>
        <p:nvGraphicFramePr>
          <p:cNvPr id="230" name="Google Shape;230;p13"/>
          <p:cNvGraphicFramePr/>
          <p:nvPr/>
        </p:nvGraphicFramePr>
        <p:xfrm>
          <a:off x="1371600" y="1280160"/>
          <a:ext cx="3000000" cy="3000000"/>
        </p:xfrm>
        <a:graphic>
          <a:graphicData uri="http://schemas.openxmlformats.org/drawingml/2006/table">
            <a:tbl>
              <a:tblPr>
                <a:noFill/>
                <a:tableStyleId>{D63AC954-7EFE-4871-A3DF-65480174A828}</a:tableStyleId>
              </a:tblPr>
              <a:tblGrid>
                <a:gridCol w="4114800"/>
                <a:gridCol w="2286000"/>
              </a:tblGrid>
              <a:tr h="365750">
                <a:tc>
                  <a:txBody>
                    <a:bodyPr/>
                    <a:lstStyle/>
                    <a:p>
                      <a:pPr indent="0" lvl="0" marL="0" marR="0" rtl="0" algn="ctr">
                        <a:spcBef>
                          <a:spcPts val="0"/>
                        </a:spcBef>
                        <a:spcAft>
                          <a:spcPts val="0"/>
                        </a:spcAft>
                        <a:buClr>
                          <a:srgbClr val="FFFFFF"/>
                        </a:buClr>
                        <a:buSzPts val="1300"/>
                        <a:buFont typeface="Calibri"/>
                        <a:buNone/>
                      </a:pPr>
                      <a:r>
                        <a:rPr b="1" lang="en-US" sz="1300" u="none" cap="none" strike="noStrike">
                          <a:solidFill>
                            <a:srgbClr val="FFFFFF"/>
                          </a:solidFill>
                          <a:latin typeface="Calibri"/>
                          <a:ea typeface="Calibri"/>
                          <a:cs typeface="Calibri"/>
                          <a:sym typeface="Calibri"/>
                        </a:rPr>
                        <a:t>Configuration</a:t>
                      </a:r>
                      <a:endParaRPr sz="13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1E2761"/>
                    </a:solidFill>
                  </a:tcPr>
                </a:tc>
                <a:tc>
                  <a:txBody>
                    <a:bodyPr/>
                    <a:lstStyle/>
                    <a:p>
                      <a:pPr indent="0" lvl="0" marL="0" marR="0" rtl="0" algn="ctr">
                        <a:spcBef>
                          <a:spcPts val="0"/>
                        </a:spcBef>
                        <a:spcAft>
                          <a:spcPts val="0"/>
                        </a:spcAft>
                        <a:buClr>
                          <a:srgbClr val="FFFFFF"/>
                        </a:buClr>
                        <a:buSzPts val="1300"/>
                        <a:buFont typeface="Calibri"/>
                        <a:buNone/>
                      </a:pPr>
                      <a:r>
                        <a:rPr b="1" lang="en-US" sz="1300" u="none" cap="none" strike="noStrike">
                          <a:solidFill>
                            <a:srgbClr val="FFFFFF"/>
                          </a:solidFill>
                          <a:latin typeface="Calibri"/>
                          <a:ea typeface="Calibri"/>
                          <a:cs typeface="Calibri"/>
                          <a:sym typeface="Calibri"/>
                        </a:rPr>
                        <a:t>Precision@K</a:t>
                      </a:r>
                      <a:endParaRPr sz="13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1E2761"/>
                    </a:solidFill>
                  </a:tcPr>
                </a:tc>
              </a:tr>
              <a:tr h="365750">
                <a:tc>
                  <a:txBody>
                    <a:bodyPr/>
                    <a:lstStyle/>
                    <a:p>
                      <a:pPr indent="0" lvl="0" marL="0" marR="0" rtl="0" algn="ctr">
                        <a:spcBef>
                          <a:spcPts val="0"/>
                        </a:spcBef>
                        <a:spcAft>
                          <a:spcPts val="0"/>
                        </a:spcAft>
                        <a:buClr>
                          <a:srgbClr val="0F1B3D"/>
                        </a:buClr>
                        <a:buSzPts val="1300"/>
                        <a:buFont typeface="Calibri"/>
                        <a:buNone/>
                      </a:pPr>
                      <a:r>
                        <a:rPr lang="en-US" sz="1300" u="none" cap="none" strike="noStrike">
                          <a:solidFill>
                            <a:srgbClr val="0F1B3D"/>
                          </a:solidFill>
                          <a:latin typeface="Calibri"/>
                          <a:ea typeface="Calibri"/>
                          <a:cs typeface="Calibri"/>
                          <a:sym typeface="Calibri"/>
                        </a:rPr>
                        <a:t>80% ML + 20% signal</a:t>
                      </a:r>
                      <a:endParaRPr sz="13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4F8"/>
                    </a:solidFill>
                  </a:tcPr>
                </a:tc>
                <a:tc>
                  <a:txBody>
                    <a:bodyPr/>
                    <a:lstStyle/>
                    <a:p>
                      <a:pPr indent="0" lvl="0" marL="0" marR="0" rtl="0" algn="ctr">
                        <a:spcBef>
                          <a:spcPts val="0"/>
                        </a:spcBef>
                        <a:spcAft>
                          <a:spcPts val="0"/>
                        </a:spcAft>
                        <a:buClr>
                          <a:srgbClr val="0F1B3D"/>
                        </a:buClr>
                        <a:buSzPts val="1300"/>
                        <a:buFont typeface="Calibri"/>
                        <a:buNone/>
                      </a:pPr>
                      <a:r>
                        <a:rPr lang="en-US" sz="1300" u="none" cap="none" strike="noStrike">
                          <a:solidFill>
                            <a:srgbClr val="0F1B3D"/>
                          </a:solidFill>
                          <a:latin typeface="Calibri"/>
                          <a:ea typeface="Calibri"/>
                          <a:cs typeface="Calibri"/>
                          <a:sym typeface="Calibri"/>
                        </a:rPr>
                        <a:t>87.7%</a:t>
                      </a:r>
                      <a:endParaRPr sz="13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4F8"/>
                    </a:solidFill>
                  </a:tcPr>
                </a:tc>
              </a:tr>
              <a:tr h="365750">
                <a:tc>
                  <a:txBody>
                    <a:bodyPr/>
                    <a:lstStyle/>
                    <a:p>
                      <a:pPr indent="0" lvl="0" marL="0" marR="0" rtl="0" algn="ctr">
                        <a:spcBef>
                          <a:spcPts val="0"/>
                        </a:spcBef>
                        <a:spcAft>
                          <a:spcPts val="0"/>
                        </a:spcAft>
                        <a:buClr>
                          <a:srgbClr val="0F1B3D"/>
                        </a:buClr>
                        <a:buSzPts val="1300"/>
                        <a:buFont typeface="Calibri"/>
                        <a:buNone/>
                      </a:pPr>
                      <a:r>
                        <a:rPr lang="en-US" sz="1300" u="none" cap="none" strike="noStrike">
                          <a:solidFill>
                            <a:srgbClr val="0F1B3D"/>
                          </a:solidFill>
                          <a:latin typeface="Calibri"/>
                          <a:ea typeface="Calibri"/>
                          <a:cs typeface="Calibri"/>
                          <a:sym typeface="Calibri"/>
                        </a:rPr>
                        <a:t>90% ML + 10% signal (primary)</a:t>
                      </a:r>
                      <a:endParaRPr sz="13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0F1B3D"/>
                        </a:buClr>
                        <a:buSzPts val="1300"/>
                        <a:buFont typeface="Calibri"/>
                        <a:buNone/>
                      </a:pPr>
                      <a:r>
                        <a:rPr lang="en-US" sz="1300" u="none" cap="none" strike="noStrike">
                          <a:solidFill>
                            <a:srgbClr val="0F1B3D"/>
                          </a:solidFill>
                          <a:latin typeface="Calibri"/>
                          <a:ea typeface="Calibri"/>
                          <a:cs typeface="Calibri"/>
                          <a:sym typeface="Calibri"/>
                        </a:rPr>
                        <a:t>88.1%</a:t>
                      </a:r>
                      <a:endParaRPr sz="13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365750">
                <a:tc>
                  <a:txBody>
                    <a:bodyPr/>
                    <a:lstStyle/>
                    <a:p>
                      <a:pPr indent="0" lvl="0" marL="0" marR="0" rtl="0" algn="ctr">
                        <a:spcBef>
                          <a:spcPts val="0"/>
                        </a:spcBef>
                        <a:spcAft>
                          <a:spcPts val="0"/>
                        </a:spcAft>
                        <a:buClr>
                          <a:srgbClr val="0F1B3D"/>
                        </a:buClr>
                        <a:buSzPts val="1300"/>
                        <a:buFont typeface="Calibri"/>
                        <a:buNone/>
                      </a:pPr>
                      <a:r>
                        <a:rPr lang="en-US" sz="1300" u="none" cap="none" strike="noStrike">
                          <a:solidFill>
                            <a:srgbClr val="0F1B3D"/>
                          </a:solidFill>
                          <a:latin typeface="Calibri"/>
                          <a:ea typeface="Calibri"/>
                          <a:cs typeface="Calibri"/>
                          <a:sym typeface="Calibri"/>
                        </a:rPr>
                        <a:t>95% ML + 5% signal</a:t>
                      </a:r>
                      <a:endParaRPr sz="13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4F8"/>
                    </a:solidFill>
                  </a:tcPr>
                </a:tc>
                <a:tc>
                  <a:txBody>
                    <a:bodyPr/>
                    <a:lstStyle/>
                    <a:p>
                      <a:pPr indent="0" lvl="0" marL="0" marR="0" rtl="0" algn="ctr">
                        <a:spcBef>
                          <a:spcPts val="0"/>
                        </a:spcBef>
                        <a:spcAft>
                          <a:spcPts val="0"/>
                        </a:spcAft>
                        <a:buClr>
                          <a:srgbClr val="0F1B3D"/>
                        </a:buClr>
                        <a:buSzPts val="1300"/>
                        <a:buFont typeface="Calibri"/>
                        <a:buNone/>
                      </a:pPr>
                      <a:r>
                        <a:rPr lang="en-US" sz="1300" u="none" cap="none" strike="noStrike">
                          <a:solidFill>
                            <a:srgbClr val="0F1B3D"/>
                          </a:solidFill>
                          <a:latin typeface="Calibri"/>
                          <a:ea typeface="Calibri"/>
                          <a:cs typeface="Calibri"/>
                          <a:sym typeface="Calibri"/>
                        </a:rPr>
                        <a:t>88.1%</a:t>
                      </a:r>
                      <a:endParaRPr sz="13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4F8"/>
                    </a:solidFill>
                  </a:tcPr>
                </a:tc>
              </a:tr>
              <a:tr h="411475">
                <a:tc>
                  <a:txBody>
                    <a:bodyPr/>
                    <a:lstStyle/>
                    <a:p>
                      <a:pPr indent="0" lvl="0" marL="0" marR="0" rtl="0" algn="ctr">
                        <a:spcBef>
                          <a:spcPts val="0"/>
                        </a:spcBef>
                        <a:spcAft>
                          <a:spcPts val="0"/>
                        </a:spcAft>
                        <a:buClr>
                          <a:srgbClr val="0F1B3D"/>
                        </a:buClr>
                        <a:buSzPts val="1300"/>
                        <a:buFont typeface="Calibri"/>
                        <a:buNone/>
                      </a:pPr>
                      <a:r>
                        <a:rPr b="1" lang="en-US" sz="1300" u="none" cap="none" strike="noStrike">
                          <a:solidFill>
                            <a:srgbClr val="0F1B3D"/>
                          </a:solidFill>
                          <a:latin typeface="Calibri"/>
                          <a:ea typeface="Calibri"/>
                          <a:cs typeface="Calibri"/>
                          <a:sym typeface="Calibri"/>
                        </a:rPr>
                        <a:t>System 2 </a:t>
                      </a:r>
                      <a:r>
                        <a:rPr b="1" lang="en-US" sz="1300">
                          <a:solidFill>
                            <a:srgbClr val="0F1B3D"/>
                          </a:solidFill>
                          <a:latin typeface="Calibri"/>
                          <a:ea typeface="Calibri"/>
                          <a:cs typeface="Calibri"/>
                          <a:sym typeface="Calibri"/>
                        </a:rPr>
                        <a:t>-</a:t>
                      </a:r>
                      <a:r>
                        <a:rPr b="1" lang="en-US" sz="1300" u="none" cap="none" strike="noStrike">
                          <a:solidFill>
                            <a:srgbClr val="0F1B3D"/>
                          </a:solidFill>
                          <a:latin typeface="Calibri"/>
                          <a:ea typeface="Calibri"/>
                          <a:cs typeface="Calibri"/>
                          <a:sym typeface="Calibri"/>
                        </a:rPr>
                        <a:t> Tier allocation</a:t>
                      </a:r>
                      <a:endParaRPr sz="13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0EB"/>
                    </a:solidFill>
                  </a:tcPr>
                </a:tc>
                <a:tc>
                  <a:txBody>
                    <a:bodyPr/>
                    <a:lstStyle/>
                    <a:p>
                      <a:pPr indent="0" lvl="0" marL="0" marR="0" rtl="0" algn="ctr">
                        <a:spcBef>
                          <a:spcPts val="0"/>
                        </a:spcBef>
                        <a:spcAft>
                          <a:spcPts val="0"/>
                        </a:spcAft>
                        <a:buClr>
                          <a:srgbClr val="E8593C"/>
                        </a:buClr>
                        <a:buSzPts val="1300"/>
                        <a:buFont typeface="Calibri"/>
                        <a:buNone/>
                      </a:pPr>
                      <a:r>
                        <a:rPr b="1" lang="en-US" sz="1300" u="none" cap="none" strike="noStrike">
                          <a:solidFill>
                            <a:srgbClr val="E8593C"/>
                          </a:solidFill>
                          <a:latin typeface="Calibri"/>
                          <a:ea typeface="Calibri"/>
                          <a:cs typeface="Calibri"/>
                          <a:sym typeface="Calibri"/>
                        </a:rPr>
                        <a:t>89.4%</a:t>
                      </a:r>
                      <a:endParaRPr sz="1300" u="none" cap="none" strike="noStrike">
                        <a:latin typeface="Calibri"/>
                        <a:ea typeface="Calibri"/>
                        <a:cs typeface="Calibri"/>
                        <a:sym typeface="Calibri"/>
                      </a:endParaRPr>
                    </a:p>
                  </a:txBody>
                  <a:tcPr marT="45725" marB="45725" marR="91450" marL="91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0EB"/>
                    </a:solidFill>
                  </a:tcPr>
                </a:tc>
              </a:tr>
            </a:tbl>
          </a:graphicData>
        </a:graphic>
      </p:graphicFrame>
      <p:sp>
        <p:nvSpPr>
          <p:cNvPr id="231" name="Google Shape;231;p13"/>
          <p:cNvSpPr/>
          <p:nvPr/>
        </p:nvSpPr>
        <p:spPr>
          <a:xfrm>
            <a:off x="731520" y="3383280"/>
            <a:ext cx="768096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1B3D"/>
              </a:buClr>
              <a:buSzPts val="1300"/>
              <a:buFont typeface="Calibri"/>
              <a:buNone/>
            </a:pPr>
            <a:r>
              <a:rPr b="0" i="0" lang="en-US" sz="1300" u="none" cap="none" strike="noStrike">
                <a:solidFill>
                  <a:srgbClr val="0F1B3D"/>
                </a:solidFill>
                <a:latin typeface="Calibri"/>
                <a:ea typeface="Calibri"/>
                <a:cs typeface="Calibri"/>
                <a:sym typeface="Calibri"/>
              </a:rPr>
              <a:t>S3 improved modestly over the baseline at all blend weights </a:t>
            </a:r>
            <a:r>
              <a:rPr lang="en-US" sz="1300">
                <a:solidFill>
                  <a:srgbClr val="0F1B3D"/>
                </a:solidFill>
                <a:latin typeface="Calibri"/>
                <a:ea typeface="Calibri"/>
                <a:cs typeface="Calibri"/>
                <a:sym typeface="Calibri"/>
              </a:rPr>
              <a:t>-</a:t>
            </a:r>
            <a:r>
              <a:rPr b="0" i="0" lang="en-US" sz="1300" u="none" cap="none" strike="noStrike">
                <a:solidFill>
                  <a:srgbClr val="0F1B3D"/>
                </a:solidFill>
                <a:latin typeface="Calibri"/>
                <a:ea typeface="Calibri"/>
                <a:cs typeface="Calibri"/>
                <a:sym typeface="Calibri"/>
              </a:rPr>
              <a:t> the signal has value.</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F1B3D"/>
              </a:buClr>
              <a:buSzPts val="1300"/>
              <a:buFont typeface="Calibri"/>
              <a:buNone/>
            </a:pPr>
            <a:r>
              <a:rPr b="0" i="0" lang="en-US" sz="1300" u="none" cap="none" strike="noStrike">
                <a:solidFill>
                  <a:srgbClr val="0F1B3D"/>
                </a:solidFill>
                <a:latin typeface="Calibri"/>
                <a:ea typeface="Calibri"/>
                <a:cs typeface="Calibri"/>
                <a:sym typeface="Calibri"/>
              </a:rPr>
              <a:t>But S2's larger gain shows that explicit allocation is more effective than score adjustment.</a:t>
            </a:r>
            <a:endParaRPr b="0" i="0" sz="1300" u="none" cap="none" strike="noStrike">
              <a:solidFill>
                <a:schemeClr val="dk1"/>
              </a:solidFill>
              <a:latin typeface="Calibri"/>
              <a:ea typeface="Calibri"/>
              <a:cs typeface="Calibri"/>
              <a:sym typeface="Calibri"/>
            </a:endParaRPr>
          </a:p>
        </p:txBody>
      </p:sp>
      <p:sp>
        <p:nvSpPr>
          <p:cNvPr id="232" name="Google Shape;232;p13"/>
          <p:cNvSpPr/>
          <p:nvPr/>
        </p:nvSpPr>
        <p:spPr>
          <a:xfrm>
            <a:off x="731520" y="4114800"/>
            <a:ext cx="768096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E2761"/>
              </a:buClr>
              <a:buSzPts val="1400"/>
              <a:buFont typeface="Calibri"/>
              <a:buNone/>
            </a:pPr>
            <a:r>
              <a:rPr b="1" i="0" lang="en-US" sz="1400" u="none" cap="none" strike="noStrike">
                <a:solidFill>
                  <a:srgbClr val="1E2761"/>
                </a:solidFill>
                <a:latin typeface="Calibri"/>
                <a:ea typeface="Calibri"/>
                <a:cs typeface="Calibri"/>
                <a:sym typeface="Calibri"/>
              </a:rPr>
              <a:t>System 2 changed allocation. System 3 changed scores.</a:t>
            </a:r>
            <a:endParaRPr b="0" i="0" sz="14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E2761"/>
              </a:buClr>
              <a:buSzPts val="1400"/>
              <a:buFont typeface="Calibri"/>
              <a:buNone/>
            </a:pPr>
            <a:r>
              <a:rPr b="1" i="0" lang="en-US" sz="1400" u="none" cap="none" strike="noStrike">
                <a:solidFill>
                  <a:srgbClr val="1E2761"/>
                </a:solidFill>
                <a:latin typeface="Calibri"/>
                <a:ea typeface="Calibri"/>
                <a:cs typeface="Calibri"/>
                <a:sym typeface="Calibri"/>
              </a:rPr>
              <a:t>Allocation produced the larger gain.</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7" name="Shape 237"/>
        <p:cNvGrpSpPr/>
        <p:nvPr/>
      </p:nvGrpSpPr>
      <p:grpSpPr>
        <a:xfrm>
          <a:off x="0" y="0"/>
          <a:ext cx="0" cy="0"/>
          <a:chOff x="0" y="0"/>
          <a:chExt cx="0" cy="0"/>
        </a:xfrm>
      </p:grpSpPr>
      <p:sp>
        <p:nvSpPr>
          <p:cNvPr id="238" name="Google Shape;238;p14"/>
          <p:cNvSpPr/>
          <p:nvPr/>
        </p:nvSpPr>
        <p:spPr>
          <a:xfrm>
            <a:off x="731520" y="274320"/>
            <a:ext cx="768096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2800"/>
              <a:buFont typeface="Calibri"/>
              <a:buNone/>
            </a:pPr>
            <a:r>
              <a:rPr b="1" i="0" lang="en-US" sz="2800" u="none" cap="none" strike="noStrike">
                <a:solidFill>
                  <a:srgbClr val="1E2761"/>
                </a:solidFill>
                <a:latin typeface="Calibri"/>
                <a:ea typeface="Calibri"/>
                <a:cs typeface="Calibri"/>
                <a:sym typeface="Calibri"/>
              </a:rPr>
              <a:t>The mechanism</a:t>
            </a:r>
            <a:endParaRPr b="0" i="0" sz="2800" u="none" cap="none" strike="noStrike">
              <a:solidFill>
                <a:schemeClr val="dk1"/>
              </a:solidFill>
              <a:latin typeface="Calibri"/>
              <a:ea typeface="Calibri"/>
              <a:cs typeface="Calibri"/>
              <a:sym typeface="Calibri"/>
            </a:endParaRPr>
          </a:p>
        </p:txBody>
      </p:sp>
      <p:sp>
        <p:nvSpPr>
          <p:cNvPr id="239" name="Google Shape;239;p14"/>
          <p:cNvSpPr/>
          <p:nvPr/>
        </p:nvSpPr>
        <p:spPr>
          <a:xfrm>
            <a:off x="2244425" y="966290"/>
            <a:ext cx="4572000" cy="731400"/>
          </a:xfrm>
          <a:prstGeom prst="roundRect">
            <a:avLst>
              <a:gd fmla="val 12500" name="adj"/>
            </a:avLst>
          </a:prstGeom>
          <a:solidFill>
            <a:srgbClr val="FFF0EB"/>
          </a:solidFill>
          <a:ln>
            <a:noFill/>
          </a:ln>
          <a:effectLst>
            <a:outerShdw blurRad="76200" rotWithShape="0" algn="bl" dir="27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14"/>
          <p:cNvSpPr/>
          <p:nvPr/>
        </p:nvSpPr>
        <p:spPr>
          <a:xfrm>
            <a:off x="2244425" y="774513"/>
            <a:ext cx="4572000" cy="923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b="1" lang="en-US" sz="1500">
                <a:solidFill>
                  <a:srgbClr val="E8593C"/>
                </a:solidFill>
                <a:latin typeface="Calibri"/>
                <a:ea typeface="Calibri"/>
                <a:cs typeface="Calibri"/>
                <a:sym typeface="Calibri"/>
              </a:rPr>
              <a:t>Machine learning</a:t>
            </a:r>
            <a:endParaRPr b="1" sz="1500">
              <a:solidFill>
                <a:srgbClr val="E8593C"/>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b="1" lang="en-US" sz="1500">
                <a:solidFill>
                  <a:srgbClr val="E8593C"/>
                </a:solidFill>
                <a:latin typeface="Calibri"/>
                <a:ea typeface="Calibri"/>
                <a:cs typeface="Calibri"/>
                <a:sym typeface="Calibri"/>
              </a:rPr>
              <a:t>Predicts using information available at lead creation</a:t>
            </a:r>
            <a:endParaRPr b="0" i="0" sz="1500" u="none" cap="none" strike="noStrike">
              <a:solidFill>
                <a:schemeClr val="dk1"/>
              </a:solidFill>
              <a:latin typeface="Calibri"/>
              <a:ea typeface="Calibri"/>
              <a:cs typeface="Calibri"/>
              <a:sym typeface="Calibri"/>
            </a:endParaRPr>
          </a:p>
        </p:txBody>
      </p:sp>
      <p:cxnSp>
        <p:nvCxnSpPr>
          <p:cNvPr id="241" name="Google Shape;241;p14"/>
          <p:cNvCxnSpPr/>
          <p:nvPr/>
        </p:nvCxnSpPr>
        <p:spPr>
          <a:xfrm>
            <a:off x="4572000" y="2999173"/>
            <a:ext cx="6600" cy="397800"/>
          </a:xfrm>
          <a:prstGeom prst="straightConnector1">
            <a:avLst/>
          </a:prstGeom>
          <a:noFill/>
          <a:ln cap="flat" cmpd="sng" w="25400">
            <a:solidFill>
              <a:srgbClr val="64748B"/>
            </a:solidFill>
            <a:prstDash val="solid"/>
            <a:round/>
            <a:headEnd len="sm" w="sm" type="none"/>
            <a:tailEnd len="sm" w="sm" type="none"/>
          </a:ln>
        </p:spPr>
      </p:cxnSp>
      <p:sp>
        <p:nvSpPr>
          <p:cNvPr id="242" name="Google Shape;242;p14"/>
          <p:cNvSpPr/>
          <p:nvPr/>
        </p:nvSpPr>
        <p:spPr>
          <a:xfrm>
            <a:off x="2244425" y="3442739"/>
            <a:ext cx="4572000" cy="585000"/>
          </a:xfrm>
          <a:prstGeom prst="roundRect">
            <a:avLst>
              <a:gd fmla="val 12500" name="adj"/>
            </a:avLst>
          </a:prstGeom>
          <a:solidFill>
            <a:srgbClr val="F0F5F0"/>
          </a:solidFill>
          <a:ln>
            <a:noFill/>
          </a:ln>
          <a:effectLst>
            <a:outerShdw blurRad="76200" rotWithShape="0" algn="bl" dir="27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14"/>
          <p:cNvSpPr/>
          <p:nvPr/>
        </p:nvSpPr>
        <p:spPr>
          <a:xfrm>
            <a:off x="2244425" y="3442738"/>
            <a:ext cx="4572000" cy="486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E7D32"/>
              </a:buClr>
              <a:buSzPts val="1500"/>
              <a:buFont typeface="Calibri"/>
              <a:buNone/>
            </a:pPr>
            <a:r>
              <a:rPr b="1" i="0" lang="en-US" sz="1500" u="none" cap="none" strike="noStrike">
                <a:solidFill>
                  <a:srgbClr val="2E7D32"/>
                </a:solidFill>
                <a:latin typeface="Calibri"/>
                <a:ea typeface="Calibri"/>
                <a:cs typeface="Calibri"/>
                <a:sym typeface="Calibri"/>
              </a:rPr>
              <a:t>Higher Precision@K</a:t>
            </a:r>
            <a:endParaRPr b="0" i="0" sz="1500" u="none" cap="none" strike="noStrike">
              <a:solidFill>
                <a:schemeClr val="dk1"/>
              </a:solidFill>
              <a:latin typeface="Calibri"/>
              <a:ea typeface="Calibri"/>
              <a:cs typeface="Calibri"/>
              <a:sym typeface="Calibri"/>
            </a:endParaRPr>
          </a:p>
        </p:txBody>
      </p:sp>
      <p:sp>
        <p:nvSpPr>
          <p:cNvPr id="244" name="Google Shape;244;p14"/>
          <p:cNvSpPr/>
          <p:nvPr/>
        </p:nvSpPr>
        <p:spPr>
          <a:xfrm>
            <a:off x="2244425" y="3734668"/>
            <a:ext cx="45720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100"/>
              <a:buFont typeface="Calibri"/>
              <a:buNone/>
            </a:pPr>
            <a:r>
              <a:rPr b="0" i="0" lang="en-US" sz="1100" u="none" cap="none" strike="noStrike">
                <a:solidFill>
                  <a:srgbClr val="64748B"/>
                </a:solidFill>
                <a:latin typeface="Calibri"/>
                <a:ea typeface="Calibri"/>
                <a:cs typeface="Calibri"/>
                <a:sym typeface="Calibri"/>
              </a:rPr>
              <a:t>Neither component works alone </a:t>
            </a:r>
            <a:r>
              <a:rPr lang="en-US" sz="1100">
                <a:solidFill>
                  <a:srgbClr val="64748B"/>
                </a:solidFill>
                <a:latin typeface="Calibri"/>
                <a:ea typeface="Calibri"/>
                <a:cs typeface="Calibri"/>
                <a:sym typeface="Calibri"/>
              </a:rPr>
              <a:t>-</a:t>
            </a:r>
            <a:r>
              <a:rPr b="0" i="0" lang="en-US" sz="1100" u="none" cap="none" strike="noStrike">
                <a:solidFill>
                  <a:srgbClr val="64748B"/>
                </a:solidFill>
                <a:latin typeface="Calibri"/>
                <a:ea typeface="Calibri"/>
                <a:cs typeface="Calibri"/>
                <a:sym typeface="Calibri"/>
              </a:rPr>
              <a:t> uncapped tier falls below baseline</a:t>
            </a:r>
            <a:endParaRPr b="0" i="0" sz="1100" u="none" cap="none" strike="noStrike">
              <a:solidFill>
                <a:schemeClr val="dk1"/>
              </a:solidFill>
              <a:latin typeface="Calibri"/>
              <a:ea typeface="Calibri"/>
              <a:cs typeface="Calibri"/>
              <a:sym typeface="Calibri"/>
            </a:endParaRPr>
          </a:p>
        </p:txBody>
      </p:sp>
      <p:cxnSp>
        <p:nvCxnSpPr>
          <p:cNvPr id="245" name="Google Shape;245;p14"/>
          <p:cNvCxnSpPr/>
          <p:nvPr/>
        </p:nvCxnSpPr>
        <p:spPr>
          <a:xfrm>
            <a:off x="4530425" y="1740913"/>
            <a:ext cx="0" cy="395100"/>
          </a:xfrm>
          <a:prstGeom prst="straightConnector1">
            <a:avLst/>
          </a:prstGeom>
          <a:noFill/>
          <a:ln cap="flat" cmpd="sng" w="25400">
            <a:solidFill>
              <a:srgbClr val="64748B"/>
            </a:solidFill>
            <a:prstDash val="solid"/>
            <a:round/>
            <a:headEnd len="sm" w="sm" type="none"/>
            <a:tailEnd len="sm" w="sm" type="none"/>
          </a:ln>
        </p:spPr>
      </p:cxnSp>
      <p:sp>
        <p:nvSpPr>
          <p:cNvPr id="246" name="Google Shape;246;p14"/>
          <p:cNvSpPr/>
          <p:nvPr/>
        </p:nvSpPr>
        <p:spPr>
          <a:xfrm>
            <a:off x="2286000" y="2221988"/>
            <a:ext cx="4572000" cy="731400"/>
          </a:xfrm>
          <a:prstGeom prst="roundRect">
            <a:avLst>
              <a:gd fmla="val 12500" name="adj"/>
            </a:avLst>
          </a:prstGeom>
          <a:solidFill>
            <a:srgbClr val="E8EDF5"/>
          </a:solidFill>
          <a:ln>
            <a:noFill/>
          </a:ln>
          <a:effectLst>
            <a:outerShdw blurRad="76200" rotWithShape="0" algn="bl" dir="2700000" dist="25400">
              <a:srgbClr val="000000">
                <a:alpha val="101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4"/>
          <p:cNvSpPr/>
          <p:nvPr/>
        </p:nvSpPr>
        <p:spPr>
          <a:xfrm>
            <a:off x="2286000" y="2003963"/>
            <a:ext cx="4572000" cy="1041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b="1" lang="en-US" sz="1500">
                <a:solidFill>
                  <a:srgbClr val="1E2761"/>
                </a:solidFill>
                <a:latin typeface="Calibri"/>
                <a:ea typeface="Calibri"/>
                <a:cs typeface="Calibri"/>
                <a:sym typeface="Calibri"/>
              </a:rPr>
              <a:t>Qualification acquires additional</a:t>
            </a:r>
            <a:endParaRPr b="1" sz="1500">
              <a:solidFill>
                <a:srgbClr val="1E2761"/>
              </a:solidFill>
              <a:latin typeface="Calibri"/>
              <a:ea typeface="Calibri"/>
              <a:cs typeface="Calibri"/>
              <a:sym typeface="Calibri"/>
            </a:endParaRPr>
          </a:p>
          <a:p>
            <a:pPr indent="0" lvl="0" marL="0" rtl="0" algn="ctr">
              <a:spcBef>
                <a:spcPts val="0"/>
              </a:spcBef>
              <a:spcAft>
                <a:spcPts val="0"/>
              </a:spcAft>
              <a:buClr>
                <a:schemeClr val="dk1"/>
              </a:buClr>
              <a:buSzPts val="1100"/>
              <a:buFont typeface="Arial"/>
              <a:buNone/>
            </a:pPr>
            <a:r>
              <a:rPr b="1" lang="en-US" sz="1500">
                <a:solidFill>
                  <a:srgbClr val="1E2761"/>
                </a:solidFill>
                <a:latin typeface="Calibri"/>
                <a:ea typeface="Calibri"/>
                <a:cs typeface="Calibri"/>
                <a:sym typeface="Calibri"/>
              </a:rPr>
              <a:t>commercial information through sales interaction</a:t>
            </a:r>
            <a:endParaRPr b="1" sz="1500">
              <a:solidFill>
                <a:srgbClr val="1E2761"/>
              </a:solidFill>
              <a:latin typeface="Calibri"/>
              <a:ea typeface="Calibri"/>
              <a:cs typeface="Calibri"/>
              <a:sym typeface="Calibri"/>
            </a:endParaRPr>
          </a:p>
        </p:txBody>
      </p:sp>
      <p:sp>
        <p:nvSpPr>
          <p:cNvPr id="248" name="Google Shape;248;p14"/>
          <p:cNvSpPr/>
          <p:nvPr/>
        </p:nvSpPr>
        <p:spPr>
          <a:xfrm>
            <a:off x="2244425" y="1423495"/>
            <a:ext cx="45720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100"/>
              <a:buFont typeface="Calibri"/>
              <a:buNone/>
            </a:pPr>
            <a:r>
              <a:rPr b="0" i="0" lang="en-US" sz="1100" u="none" cap="none" strike="noStrike">
                <a:solidFill>
                  <a:srgbClr val="64748B"/>
                </a:solidFill>
                <a:latin typeface="Calibri"/>
                <a:ea typeface="Calibri"/>
                <a:cs typeface="Calibri"/>
                <a:sym typeface="Calibri"/>
              </a:rPr>
              <a:t>Baseline cutoff: leads below 39.8% drop to overflow pool</a:t>
            </a:r>
            <a:endParaRPr b="0" i="0" sz="1100" u="none" cap="none" strike="noStrike">
              <a:solidFill>
                <a:schemeClr val="dk1"/>
              </a:solidFill>
              <a:latin typeface="Calibri"/>
              <a:ea typeface="Calibri"/>
              <a:cs typeface="Calibri"/>
              <a:sym typeface="Calibri"/>
            </a:endParaRPr>
          </a:p>
        </p:txBody>
      </p:sp>
      <p:sp>
        <p:nvSpPr>
          <p:cNvPr id="249" name="Google Shape;249;p14"/>
          <p:cNvSpPr/>
          <p:nvPr/>
        </p:nvSpPr>
        <p:spPr>
          <a:xfrm>
            <a:off x="2360525" y="2724973"/>
            <a:ext cx="45720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100"/>
              <a:buFont typeface="Calibri"/>
              <a:buNone/>
            </a:pPr>
            <a:r>
              <a:rPr b="0" i="0" lang="en-US" sz="1100" u="none" cap="none" strike="noStrike">
                <a:solidFill>
                  <a:srgbClr val="64748B"/>
                </a:solidFill>
                <a:latin typeface="Calibri"/>
                <a:ea typeface="Calibri"/>
                <a:cs typeface="Calibri"/>
                <a:sym typeface="Calibri"/>
              </a:rPr>
              <a:t>Worki</a:t>
            </a:r>
            <a:r>
              <a:rPr b="0" i="0" lang="en-US" sz="1100" u="none" cap="none" strike="noStrike">
                <a:solidFill>
                  <a:srgbClr val="64748B"/>
                </a:solidFill>
                <a:latin typeface="Calibri"/>
                <a:ea typeface="Calibri"/>
                <a:cs typeface="Calibri"/>
                <a:sym typeface="Calibri"/>
              </a:rPr>
              <a:t>ng</a:t>
            </a:r>
            <a:r>
              <a:rPr b="0" i="0" lang="en-US" sz="1100" u="none" cap="none" strike="noStrike">
                <a:solidFill>
                  <a:srgbClr val="64748B"/>
                </a:solidFill>
                <a:latin typeface="Calibri"/>
                <a:ea typeface="Calibri"/>
                <a:cs typeface="Calibri"/>
                <a:sym typeface="Calibri"/>
              </a:rPr>
              <a:t> Prof 91%  |  SMS Sent 59%  |  Baseline 39.8%</a:t>
            </a:r>
            <a:endParaRPr b="0" i="0" sz="1100" u="none" cap="none" strike="noStrike">
              <a:solidFill>
                <a:schemeClr val="dk1"/>
              </a:solidFill>
              <a:latin typeface="Calibri"/>
              <a:ea typeface="Calibri"/>
              <a:cs typeface="Calibri"/>
              <a:sym typeface="Calibri"/>
            </a:endParaRPr>
          </a:p>
        </p:txBody>
      </p:sp>
      <p:sp>
        <p:nvSpPr>
          <p:cNvPr id="250" name="Google Shape;250;p14"/>
          <p:cNvSpPr/>
          <p:nvPr/>
        </p:nvSpPr>
        <p:spPr>
          <a:xfrm>
            <a:off x="676475" y="4190575"/>
            <a:ext cx="8046600" cy="923400"/>
          </a:xfrm>
          <a:prstGeom prst="roundRect">
            <a:avLst>
              <a:gd fmla="val 11429" name="adj"/>
            </a:avLst>
          </a:prstGeom>
          <a:solidFill>
            <a:srgbClr val="E859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4"/>
          <p:cNvSpPr txBox="1"/>
          <p:nvPr/>
        </p:nvSpPr>
        <p:spPr>
          <a:xfrm>
            <a:off x="391825" y="4114675"/>
            <a:ext cx="8547000" cy="1075200"/>
          </a:xfrm>
          <a:prstGeom prst="rect">
            <a:avLst/>
          </a:prstGeom>
          <a:noFill/>
          <a:ln>
            <a:noFill/>
          </a:ln>
        </p:spPr>
        <p:txBody>
          <a:bodyPr anchorCtr="0" anchor="t" bIns="91425" lIns="91425" spcFirstLastPara="1" rIns="91425" wrap="square" tIns="91425">
            <a:spAutoFit/>
          </a:bodyPr>
          <a:lstStyle/>
          <a:p>
            <a:pPr indent="0" lvl="0" marL="381000" marR="381000" rtl="0" algn="ctr">
              <a:lnSpc>
                <a:spcPct val="115000"/>
              </a:lnSpc>
              <a:spcBef>
                <a:spcPts val="1200"/>
              </a:spcBef>
              <a:spcAft>
                <a:spcPts val="1200"/>
              </a:spcAft>
              <a:buNone/>
            </a:pPr>
            <a:r>
              <a:rPr lang="en-US" sz="1300">
                <a:solidFill>
                  <a:schemeClr val="lt1"/>
                </a:solidFill>
              </a:rPr>
              <a:t>Qualification adds value by uncovering commercially important information that was unavailable when the predictive model generated its score. When that information identifies high-conversion groups, scarce sales capacity can be redirected towards better opportunities while preserving machine-learning ranking within each group.</a:t>
            </a:r>
            <a:endParaRPr sz="1300">
              <a:solidFill>
                <a:schemeClr val="lt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761"/>
        </a:solidFill>
      </p:bgPr>
    </p:bg>
    <p:spTree>
      <p:nvGrpSpPr>
        <p:cNvPr id="256" name="Shape 256"/>
        <p:cNvGrpSpPr/>
        <p:nvPr/>
      </p:nvGrpSpPr>
      <p:grpSpPr>
        <a:xfrm>
          <a:off x="0" y="0"/>
          <a:ext cx="0" cy="0"/>
          <a:chOff x="0" y="0"/>
          <a:chExt cx="0" cy="0"/>
        </a:xfrm>
      </p:grpSpPr>
      <p:pic>
        <p:nvPicPr>
          <p:cNvPr descr="preencoded.png" id="257" name="Google Shape;257;p15"/>
          <p:cNvPicPr preferRelativeResize="0"/>
          <p:nvPr/>
        </p:nvPicPr>
        <p:blipFill rotWithShape="1">
          <a:blip r:embed="rId3">
            <a:alphaModFix/>
          </a:blip>
          <a:srcRect b="0" l="0" r="0" t="0"/>
          <a:stretch/>
        </p:blipFill>
        <p:spPr>
          <a:xfrm>
            <a:off x="731520" y="411480"/>
            <a:ext cx="365760" cy="365760"/>
          </a:xfrm>
          <a:prstGeom prst="rect">
            <a:avLst/>
          </a:prstGeom>
          <a:noFill/>
          <a:ln>
            <a:noFill/>
          </a:ln>
        </p:spPr>
      </p:pic>
      <p:sp>
        <p:nvSpPr>
          <p:cNvPr id="258" name="Google Shape;258;p15"/>
          <p:cNvSpPr/>
          <p:nvPr/>
        </p:nvSpPr>
        <p:spPr>
          <a:xfrm>
            <a:off x="1234440" y="365760"/>
            <a:ext cx="64008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800"/>
              <a:buFont typeface="Calibri"/>
              <a:buNone/>
            </a:pPr>
            <a:r>
              <a:rPr b="1" i="0" lang="en-US" sz="2800" u="none" cap="none" strike="noStrike">
                <a:solidFill>
                  <a:srgbClr val="FFFFFF"/>
                </a:solidFill>
                <a:latin typeface="Calibri"/>
                <a:ea typeface="Calibri"/>
                <a:cs typeface="Calibri"/>
                <a:sym typeface="Calibri"/>
              </a:rPr>
              <a:t>Key research decisions</a:t>
            </a:r>
            <a:endParaRPr b="0" i="0" sz="2800" u="none" cap="none" strike="noStrike">
              <a:solidFill>
                <a:schemeClr val="dk1"/>
              </a:solidFill>
              <a:latin typeface="Calibri"/>
              <a:ea typeface="Calibri"/>
              <a:cs typeface="Calibri"/>
              <a:sym typeface="Calibri"/>
            </a:endParaRPr>
          </a:p>
        </p:txBody>
      </p:sp>
      <p:sp>
        <p:nvSpPr>
          <p:cNvPr id="259" name="Google Shape;259;p15"/>
          <p:cNvSpPr/>
          <p:nvPr/>
        </p:nvSpPr>
        <p:spPr>
          <a:xfrm>
            <a:off x="731520" y="868680"/>
            <a:ext cx="768096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ADCFC"/>
              </a:buClr>
              <a:buSzPts val="1400"/>
              <a:buFont typeface="Calibri"/>
              <a:buNone/>
            </a:pPr>
            <a:r>
              <a:rPr b="0" i="1" lang="en-US" sz="1400" u="none" cap="none" strike="noStrike">
                <a:solidFill>
                  <a:srgbClr val="CADCFC"/>
                </a:solidFill>
                <a:latin typeface="Calibri"/>
                <a:ea typeface="Calibri"/>
                <a:cs typeface="Calibri"/>
                <a:sym typeface="Calibri"/>
              </a:rPr>
              <a:t>How my thinking changed during the dissertation</a:t>
            </a:r>
            <a:endParaRPr b="0" i="0" sz="1400" u="none" cap="none" strike="noStrike">
              <a:solidFill>
                <a:schemeClr val="dk1"/>
              </a:solidFill>
              <a:latin typeface="Calibri"/>
              <a:ea typeface="Calibri"/>
              <a:cs typeface="Calibri"/>
              <a:sym typeface="Calibri"/>
            </a:endParaRPr>
          </a:p>
        </p:txBody>
      </p:sp>
      <p:sp>
        <p:nvSpPr>
          <p:cNvPr id="260" name="Google Shape;260;p15"/>
          <p:cNvSpPr/>
          <p:nvPr/>
        </p:nvSpPr>
        <p:spPr>
          <a:xfrm>
            <a:off x="731520" y="1371600"/>
            <a:ext cx="24688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200"/>
              <a:buFont typeface="Calibri"/>
              <a:buNone/>
            </a:pPr>
            <a:r>
              <a:rPr b="1" i="0" lang="en-US" sz="1200" u="none" cap="none" strike="noStrike">
                <a:solidFill>
                  <a:srgbClr val="CADCFC"/>
                </a:solidFill>
                <a:latin typeface="Calibri"/>
                <a:ea typeface="Calibri"/>
                <a:cs typeface="Calibri"/>
                <a:sym typeface="Calibri"/>
              </a:rPr>
              <a:t>I assumed...</a:t>
            </a:r>
            <a:endParaRPr b="0" i="0" sz="1200" u="none" cap="none" strike="noStrike">
              <a:solidFill>
                <a:schemeClr val="dk1"/>
              </a:solidFill>
              <a:latin typeface="Calibri"/>
              <a:ea typeface="Calibri"/>
              <a:cs typeface="Calibri"/>
              <a:sym typeface="Calibri"/>
            </a:endParaRPr>
          </a:p>
        </p:txBody>
      </p:sp>
      <p:sp>
        <p:nvSpPr>
          <p:cNvPr id="261" name="Google Shape;261;p15"/>
          <p:cNvSpPr/>
          <p:nvPr/>
        </p:nvSpPr>
        <p:spPr>
          <a:xfrm>
            <a:off x="3383280" y="1371600"/>
            <a:ext cx="26517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200"/>
              <a:buFont typeface="Calibri"/>
              <a:buNone/>
            </a:pPr>
            <a:r>
              <a:rPr b="1" i="0" lang="en-US" sz="1200" u="none" cap="none" strike="noStrike">
                <a:solidFill>
                  <a:srgbClr val="CADCFC"/>
                </a:solidFill>
                <a:latin typeface="Calibri"/>
                <a:ea typeface="Calibri"/>
                <a:cs typeface="Calibri"/>
                <a:sym typeface="Calibri"/>
              </a:rPr>
              <a:t>What happened...</a:t>
            </a:r>
            <a:endParaRPr b="0" i="0" sz="1200" u="none" cap="none" strike="noStrike">
              <a:solidFill>
                <a:schemeClr val="dk1"/>
              </a:solidFill>
              <a:latin typeface="Calibri"/>
              <a:ea typeface="Calibri"/>
              <a:cs typeface="Calibri"/>
              <a:sym typeface="Calibri"/>
            </a:endParaRPr>
          </a:p>
        </p:txBody>
      </p:sp>
      <p:sp>
        <p:nvSpPr>
          <p:cNvPr id="262" name="Google Shape;262;p15"/>
          <p:cNvSpPr/>
          <p:nvPr/>
        </p:nvSpPr>
        <p:spPr>
          <a:xfrm>
            <a:off x="6217920" y="1371600"/>
            <a:ext cx="24688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593C"/>
              </a:buClr>
              <a:buSzPts val="1200"/>
              <a:buFont typeface="Calibri"/>
              <a:buNone/>
            </a:pPr>
            <a:r>
              <a:rPr b="1" i="0" lang="en-US" sz="1200" u="none" cap="none" strike="noStrike">
                <a:solidFill>
                  <a:srgbClr val="E8593C"/>
                </a:solidFill>
                <a:latin typeface="Calibri"/>
                <a:ea typeface="Calibri"/>
                <a:cs typeface="Calibri"/>
                <a:sym typeface="Calibri"/>
              </a:rPr>
              <a:t>What I learned...</a:t>
            </a:r>
            <a:endParaRPr b="0" i="0" sz="1200" u="none" cap="none" strike="noStrike">
              <a:solidFill>
                <a:schemeClr val="dk1"/>
              </a:solidFill>
              <a:latin typeface="Calibri"/>
              <a:ea typeface="Calibri"/>
              <a:cs typeface="Calibri"/>
              <a:sym typeface="Calibri"/>
            </a:endParaRPr>
          </a:p>
        </p:txBody>
      </p:sp>
      <p:sp>
        <p:nvSpPr>
          <p:cNvPr id="263" name="Google Shape;263;p15"/>
          <p:cNvSpPr/>
          <p:nvPr/>
        </p:nvSpPr>
        <p:spPr>
          <a:xfrm>
            <a:off x="548640" y="1783080"/>
            <a:ext cx="8046720" cy="822960"/>
          </a:xfrm>
          <a:prstGeom prst="roundRect">
            <a:avLst>
              <a:gd fmla="val 8889" name="adj"/>
            </a:avLst>
          </a:prstGeom>
          <a:solidFill>
            <a:srgbClr val="24338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15"/>
          <p:cNvSpPr/>
          <p:nvPr/>
        </p:nvSpPr>
        <p:spPr>
          <a:xfrm>
            <a:off x="640080" y="2011680"/>
            <a:ext cx="320040" cy="320040"/>
          </a:xfrm>
          <a:prstGeom prst="ellipse">
            <a:avLst/>
          </a:prstGeom>
          <a:solidFill>
            <a:srgbClr val="E859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5"/>
          <p:cNvSpPr/>
          <p:nvPr/>
        </p:nvSpPr>
        <p:spPr>
          <a:xfrm>
            <a:off x="640080" y="2011680"/>
            <a:ext cx="32004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1</a:t>
            </a:r>
            <a:endParaRPr b="0" i="0" sz="1400" u="none" cap="none" strike="noStrike">
              <a:solidFill>
                <a:schemeClr val="dk1"/>
              </a:solidFill>
              <a:latin typeface="Calibri"/>
              <a:ea typeface="Calibri"/>
              <a:cs typeface="Calibri"/>
              <a:sym typeface="Calibri"/>
            </a:endParaRPr>
          </a:p>
        </p:txBody>
      </p:sp>
      <p:sp>
        <p:nvSpPr>
          <p:cNvPr id="266" name="Google Shape;266;p15"/>
          <p:cNvSpPr/>
          <p:nvPr/>
        </p:nvSpPr>
        <p:spPr>
          <a:xfrm>
            <a:off x="1097280" y="1874520"/>
            <a:ext cx="219456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200"/>
              <a:buFont typeface="Calibri"/>
              <a:buNone/>
            </a:pPr>
            <a:r>
              <a:rPr b="0" i="0" lang="en-US" sz="1200" u="none" cap="none" strike="noStrike">
                <a:solidFill>
                  <a:srgbClr val="CADCFC"/>
                </a:solidFill>
                <a:latin typeface="Calibri"/>
                <a:ea typeface="Calibri"/>
                <a:cs typeface="Calibri"/>
                <a:sym typeface="Calibri"/>
              </a:rPr>
              <a:t>Qualification would</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CADCFC"/>
              </a:buClr>
              <a:buSzPts val="1200"/>
              <a:buFont typeface="Calibri"/>
              <a:buNone/>
            </a:pPr>
            <a:r>
              <a:rPr b="0" i="0" lang="en-US" sz="1200" u="none" cap="none" strike="noStrike">
                <a:solidFill>
                  <a:srgbClr val="CADCFC"/>
                </a:solidFill>
                <a:latin typeface="Calibri"/>
                <a:ea typeface="Calibri"/>
                <a:cs typeface="Calibri"/>
                <a:sym typeface="Calibri"/>
              </a:rPr>
              <a:t>outperform scoring</a:t>
            </a:r>
            <a:endParaRPr b="0" i="0" sz="1200" u="none" cap="none" strike="noStrike">
              <a:solidFill>
                <a:schemeClr val="dk1"/>
              </a:solidFill>
              <a:latin typeface="Calibri"/>
              <a:ea typeface="Calibri"/>
              <a:cs typeface="Calibri"/>
              <a:sym typeface="Calibri"/>
            </a:endParaRPr>
          </a:p>
        </p:txBody>
      </p:sp>
      <p:sp>
        <p:nvSpPr>
          <p:cNvPr id="267" name="Google Shape;267;p15"/>
          <p:cNvSpPr/>
          <p:nvPr/>
        </p:nvSpPr>
        <p:spPr>
          <a:xfrm>
            <a:off x="3383280" y="1874520"/>
            <a:ext cx="265176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0" i="0" lang="en-US" sz="1200" u="none" cap="none" strike="noStrike">
                <a:solidFill>
                  <a:srgbClr val="FFFFFF"/>
                </a:solidFill>
                <a:latin typeface="Calibri"/>
                <a:ea typeface="Calibri"/>
                <a:cs typeface="Calibri"/>
                <a:sym typeface="Calibri"/>
              </a:rPr>
              <a:t>It only worked when</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1200"/>
              <a:buFont typeface="Calibri"/>
              <a:buNone/>
            </a:pPr>
            <a:r>
              <a:rPr b="0" i="0" lang="en-US" sz="1200" u="none" cap="none" strike="noStrike">
                <a:solidFill>
                  <a:srgbClr val="FFFFFF"/>
                </a:solidFill>
                <a:latin typeface="Calibri"/>
                <a:ea typeface="Calibri"/>
                <a:cs typeface="Calibri"/>
                <a:sym typeface="Calibri"/>
              </a:rPr>
              <a:t>ML ranking was preserved</a:t>
            </a:r>
            <a:endParaRPr b="0" i="0" sz="1200" u="none" cap="none" strike="noStrike">
              <a:solidFill>
                <a:schemeClr val="dk1"/>
              </a:solidFill>
              <a:latin typeface="Calibri"/>
              <a:ea typeface="Calibri"/>
              <a:cs typeface="Calibri"/>
              <a:sym typeface="Calibri"/>
            </a:endParaRPr>
          </a:p>
        </p:txBody>
      </p:sp>
      <p:sp>
        <p:nvSpPr>
          <p:cNvPr id="268" name="Google Shape;268;p15"/>
          <p:cNvSpPr/>
          <p:nvPr/>
        </p:nvSpPr>
        <p:spPr>
          <a:xfrm>
            <a:off x="6217920" y="1874520"/>
            <a:ext cx="219456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593C"/>
              </a:buClr>
              <a:buSzPts val="1200"/>
              <a:buFont typeface="Calibri"/>
              <a:buNone/>
            </a:pPr>
            <a:r>
              <a:rPr b="1" i="0" lang="en-US" sz="1200" u="none" cap="none" strike="noStrike">
                <a:solidFill>
                  <a:srgbClr val="E8593C"/>
                </a:solidFill>
                <a:latin typeface="Calibri"/>
                <a:ea typeface="Calibri"/>
                <a:cs typeface="Calibri"/>
                <a:sym typeface="Calibri"/>
              </a:rPr>
              <a:t>The baseline cutoff is</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8593C"/>
              </a:buClr>
              <a:buSzPts val="1200"/>
              <a:buFont typeface="Calibri"/>
              <a:buNone/>
            </a:pPr>
            <a:r>
              <a:rPr b="1" i="0" lang="en-US" sz="1200" u="none" cap="none" strike="noStrike">
                <a:solidFill>
                  <a:srgbClr val="E8593C"/>
                </a:solidFill>
                <a:latin typeface="Calibri"/>
                <a:ea typeface="Calibri"/>
                <a:cs typeface="Calibri"/>
                <a:sym typeface="Calibri"/>
              </a:rPr>
              <a:t>not optional</a:t>
            </a:r>
            <a:r>
              <a:rPr b="1" lang="en-US" sz="1200">
                <a:solidFill>
                  <a:srgbClr val="E8593C"/>
                </a:solidFill>
                <a:latin typeface="Calibri"/>
                <a:ea typeface="Calibri"/>
                <a:cs typeface="Calibri"/>
                <a:sym typeface="Calibri"/>
              </a:rPr>
              <a:t>,</a:t>
            </a:r>
            <a:r>
              <a:rPr b="1" i="0" lang="en-US" sz="1200" u="none" cap="none" strike="noStrike">
                <a:solidFill>
                  <a:srgbClr val="E8593C"/>
                </a:solidFill>
                <a:latin typeface="Calibri"/>
                <a:ea typeface="Calibri"/>
                <a:cs typeface="Calibri"/>
                <a:sym typeface="Calibri"/>
              </a:rPr>
              <a:t> it is essential</a:t>
            </a:r>
            <a:endParaRPr b="0" i="0" sz="1200" u="none" cap="none" strike="noStrike">
              <a:solidFill>
                <a:schemeClr val="dk1"/>
              </a:solidFill>
              <a:latin typeface="Calibri"/>
              <a:ea typeface="Calibri"/>
              <a:cs typeface="Calibri"/>
              <a:sym typeface="Calibri"/>
            </a:endParaRPr>
          </a:p>
        </p:txBody>
      </p:sp>
      <p:sp>
        <p:nvSpPr>
          <p:cNvPr id="269" name="Google Shape;269;p15"/>
          <p:cNvSpPr/>
          <p:nvPr/>
        </p:nvSpPr>
        <p:spPr>
          <a:xfrm>
            <a:off x="548640" y="2788920"/>
            <a:ext cx="8046720" cy="822960"/>
          </a:xfrm>
          <a:prstGeom prst="roundRect">
            <a:avLst>
              <a:gd fmla="val 8889" name="adj"/>
            </a:avLst>
          </a:prstGeom>
          <a:solidFill>
            <a:srgbClr val="24338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15"/>
          <p:cNvSpPr/>
          <p:nvPr/>
        </p:nvSpPr>
        <p:spPr>
          <a:xfrm>
            <a:off x="640080" y="3017520"/>
            <a:ext cx="320040" cy="320040"/>
          </a:xfrm>
          <a:prstGeom prst="ellipse">
            <a:avLst/>
          </a:prstGeom>
          <a:solidFill>
            <a:srgbClr val="E859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15"/>
          <p:cNvSpPr/>
          <p:nvPr/>
        </p:nvSpPr>
        <p:spPr>
          <a:xfrm>
            <a:off x="640080" y="3017520"/>
            <a:ext cx="32004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2</a:t>
            </a:r>
            <a:endParaRPr b="0" i="0" sz="1400" u="none" cap="none" strike="noStrike">
              <a:solidFill>
                <a:schemeClr val="dk1"/>
              </a:solidFill>
              <a:latin typeface="Calibri"/>
              <a:ea typeface="Calibri"/>
              <a:cs typeface="Calibri"/>
              <a:sym typeface="Calibri"/>
            </a:endParaRPr>
          </a:p>
        </p:txBody>
      </p:sp>
      <p:sp>
        <p:nvSpPr>
          <p:cNvPr id="272" name="Google Shape;272;p15"/>
          <p:cNvSpPr/>
          <p:nvPr/>
        </p:nvSpPr>
        <p:spPr>
          <a:xfrm>
            <a:off x="1097280" y="2880360"/>
            <a:ext cx="219456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200"/>
              <a:buFont typeface="Calibri"/>
              <a:buNone/>
            </a:pPr>
            <a:r>
              <a:rPr b="0" i="0" lang="en-US" sz="1200" u="none" cap="none" strike="noStrike">
                <a:solidFill>
                  <a:srgbClr val="CADCFC"/>
                </a:solidFill>
                <a:latin typeface="Calibri"/>
                <a:ea typeface="Calibri"/>
                <a:cs typeface="Calibri"/>
                <a:sym typeface="Calibri"/>
              </a:rPr>
              <a:t>Any use of qualification</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CADCFC"/>
              </a:buClr>
              <a:buSzPts val="1200"/>
              <a:buFont typeface="Calibri"/>
              <a:buNone/>
            </a:pPr>
            <a:r>
              <a:rPr b="0" i="0" lang="en-US" sz="1200" u="none" cap="none" strike="noStrike">
                <a:solidFill>
                  <a:srgbClr val="CADCFC"/>
                </a:solidFill>
                <a:latin typeface="Calibri"/>
                <a:ea typeface="Calibri"/>
                <a:cs typeface="Calibri"/>
                <a:sym typeface="Calibri"/>
              </a:rPr>
              <a:t>info should help</a:t>
            </a:r>
            <a:endParaRPr b="0" i="0" sz="1200" u="none" cap="none" strike="noStrike">
              <a:solidFill>
                <a:schemeClr val="dk1"/>
              </a:solidFill>
              <a:latin typeface="Calibri"/>
              <a:ea typeface="Calibri"/>
              <a:cs typeface="Calibri"/>
              <a:sym typeface="Calibri"/>
            </a:endParaRPr>
          </a:p>
        </p:txBody>
      </p:sp>
      <p:sp>
        <p:nvSpPr>
          <p:cNvPr id="273" name="Google Shape;273;p15"/>
          <p:cNvSpPr/>
          <p:nvPr/>
        </p:nvSpPr>
        <p:spPr>
          <a:xfrm>
            <a:off x="3383280" y="2880360"/>
            <a:ext cx="265176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0" i="0" lang="en-US" sz="1200" u="none" cap="none" strike="noStrike">
                <a:solidFill>
                  <a:srgbClr val="FFFFFF"/>
                </a:solidFill>
                <a:latin typeface="Calibri"/>
                <a:ea typeface="Calibri"/>
                <a:cs typeface="Calibri"/>
                <a:sym typeface="Calibri"/>
              </a:rPr>
              <a:t>System 3 produced only</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1200"/>
              <a:buFont typeface="Calibri"/>
              <a:buNone/>
            </a:pPr>
            <a:r>
              <a:rPr b="0" i="0" lang="en-US" sz="1200" u="none" cap="none" strike="noStrike">
                <a:solidFill>
                  <a:srgbClr val="FFFFFF"/>
                </a:solidFill>
                <a:latin typeface="Calibri"/>
                <a:ea typeface="Calibri"/>
                <a:cs typeface="Calibri"/>
                <a:sym typeface="Calibri"/>
              </a:rPr>
              <a:t>a small improvement</a:t>
            </a:r>
            <a:endParaRPr b="0" i="0" sz="1200" u="none" cap="none" strike="noStrike">
              <a:solidFill>
                <a:schemeClr val="dk1"/>
              </a:solidFill>
              <a:latin typeface="Calibri"/>
              <a:ea typeface="Calibri"/>
              <a:cs typeface="Calibri"/>
              <a:sym typeface="Calibri"/>
            </a:endParaRPr>
          </a:p>
        </p:txBody>
      </p:sp>
      <p:sp>
        <p:nvSpPr>
          <p:cNvPr id="274" name="Google Shape;274;p15"/>
          <p:cNvSpPr/>
          <p:nvPr/>
        </p:nvSpPr>
        <p:spPr>
          <a:xfrm>
            <a:off x="6217920" y="2880360"/>
            <a:ext cx="219456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593C"/>
              </a:buClr>
              <a:buSzPts val="1200"/>
              <a:buFont typeface="Calibri"/>
              <a:buNone/>
            </a:pPr>
            <a:r>
              <a:rPr b="1" i="0" lang="en-US" sz="1200" u="none" cap="none" strike="noStrike">
                <a:solidFill>
                  <a:srgbClr val="E8593C"/>
                </a:solidFill>
                <a:latin typeface="Calibri"/>
                <a:ea typeface="Calibri"/>
                <a:cs typeface="Calibri"/>
                <a:sym typeface="Calibri"/>
              </a:rPr>
              <a:t>The mechanism matters</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8593C"/>
              </a:buClr>
              <a:buSzPts val="1200"/>
              <a:buFont typeface="Calibri"/>
              <a:buNone/>
            </a:pPr>
            <a:r>
              <a:rPr b="1" i="0" lang="en-US" sz="1200" u="none" cap="none" strike="noStrike">
                <a:solidFill>
                  <a:srgbClr val="E8593C"/>
                </a:solidFill>
                <a:latin typeface="Calibri"/>
                <a:ea typeface="Calibri"/>
                <a:cs typeface="Calibri"/>
                <a:sym typeface="Calibri"/>
              </a:rPr>
              <a:t>more than the signal</a:t>
            </a:r>
            <a:endParaRPr b="0" i="0" sz="1200" u="none" cap="none" strike="noStrike">
              <a:solidFill>
                <a:schemeClr val="dk1"/>
              </a:solidFill>
              <a:latin typeface="Calibri"/>
              <a:ea typeface="Calibri"/>
              <a:cs typeface="Calibri"/>
              <a:sym typeface="Calibri"/>
            </a:endParaRPr>
          </a:p>
        </p:txBody>
      </p:sp>
      <p:sp>
        <p:nvSpPr>
          <p:cNvPr id="275" name="Google Shape;275;p15"/>
          <p:cNvSpPr/>
          <p:nvPr/>
        </p:nvSpPr>
        <p:spPr>
          <a:xfrm>
            <a:off x="548640" y="3794760"/>
            <a:ext cx="8046720" cy="822960"/>
          </a:xfrm>
          <a:prstGeom prst="roundRect">
            <a:avLst>
              <a:gd fmla="val 8889" name="adj"/>
            </a:avLst>
          </a:prstGeom>
          <a:solidFill>
            <a:srgbClr val="24338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15"/>
          <p:cNvSpPr/>
          <p:nvPr/>
        </p:nvSpPr>
        <p:spPr>
          <a:xfrm>
            <a:off x="640080" y="4023360"/>
            <a:ext cx="320040" cy="320040"/>
          </a:xfrm>
          <a:prstGeom prst="ellipse">
            <a:avLst/>
          </a:prstGeom>
          <a:solidFill>
            <a:srgbClr val="E859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15"/>
          <p:cNvSpPr/>
          <p:nvPr/>
        </p:nvSpPr>
        <p:spPr>
          <a:xfrm>
            <a:off x="640080" y="4023360"/>
            <a:ext cx="32004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3</a:t>
            </a:r>
            <a:endParaRPr b="0" i="0" sz="1400" u="none" cap="none" strike="noStrike">
              <a:solidFill>
                <a:schemeClr val="dk1"/>
              </a:solidFill>
              <a:latin typeface="Calibri"/>
              <a:ea typeface="Calibri"/>
              <a:cs typeface="Calibri"/>
              <a:sym typeface="Calibri"/>
            </a:endParaRPr>
          </a:p>
        </p:txBody>
      </p:sp>
      <p:sp>
        <p:nvSpPr>
          <p:cNvPr id="278" name="Google Shape;278;p15"/>
          <p:cNvSpPr/>
          <p:nvPr/>
        </p:nvSpPr>
        <p:spPr>
          <a:xfrm>
            <a:off x="1097280" y="3886200"/>
            <a:ext cx="219456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200"/>
              <a:buFont typeface="Calibri"/>
              <a:buNone/>
            </a:pPr>
            <a:r>
              <a:rPr lang="en-US" sz="1200">
                <a:solidFill>
                  <a:srgbClr val="CADCFC"/>
                </a:solidFill>
                <a:latin typeface="Calibri"/>
                <a:ea typeface="Calibri"/>
                <a:cs typeface="Calibri"/>
                <a:sym typeface="Calibri"/>
              </a:rPr>
              <a:t>Qualification should always override ML</a:t>
            </a:r>
            <a:endParaRPr b="0" i="0" sz="1200" u="none" cap="none" strike="noStrike">
              <a:solidFill>
                <a:schemeClr val="dk1"/>
              </a:solidFill>
              <a:latin typeface="Calibri"/>
              <a:ea typeface="Calibri"/>
              <a:cs typeface="Calibri"/>
              <a:sym typeface="Calibri"/>
            </a:endParaRPr>
          </a:p>
        </p:txBody>
      </p:sp>
      <p:sp>
        <p:nvSpPr>
          <p:cNvPr id="279" name="Google Shape;279;p15"/>
          <p:cNvSpPr/>
          <p:nvPr/>
        </p:nvSpPr>
        <p:spPr>
          <a:xfrm>
            <a:off x="3383280" y="3886200"/>
            <a:ext cx="2651760" cy="64008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1200"/>
              </a:spcBef>
              <a:spcAft>
                <a:spcPts val="1200"/>
              </a:spcAft>
              <a:buClr>
                <a:schemeClr val="dk1"/>
              </a:buClr>
              <a:buSzPts val="1100"/>
              <a:buFont typeface="Arial"/>
              <a:buNone/>
            </a:pPr>
            <a:r>
              <a:rPr lang="en-US" sz="1200">
                <a:solidFill>
                  <a:srgbClr val="FFFFFF"/>
                </a:solidFill>
                <a:latin typeface="Calibri"/>
                <a:ea typeface="Calibri"/>
                <a:cs typeface="Calibri"/>
                <a:sym typeface="Calibri"/>
              </a:rPr>
              <a:t>Qualification only helped when genuinely new information appeared</a:t>
            </a:r>
            <a:endParaRPr b="0" i="0" sz="1200" u="none" cap="none" strike="noStrike">
              <a:solidFill>
                <a:schemeClr val="dk1"/>
              </a:solidFill>
              <a:latin typeface="Calibri"/>
              <a:ea typeface="Calibri"/>
              <a:cs typeface="Calibri"/>
              <a:sym typeface="Calibri"/>
            </a:endParaRPr>
          </a:p>
        </p:txBody>
      </p:sp>
      <p:sp>
        <p:nvSpPr>
          <p:cNvPr id="280" name="Google Shape;280;p15"/>
          <p:cNvSpPr/>
          <p:nvPr/>
        </p:nvSpPr>
        <p:spPr>
          <a:xfrm>
            <a:off x="6217920" y="3886200"/>
            <a:ext cx="2194560" cy="64008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b="1" lang="en-US" sz="1200">
                <a:solidFill>
                  <a:srgbClr val="E8593C"/>
                </a:solidFill>
                <a:latin typeface="Calibri"/>
                <a:ea typeface="Calibri"/>
                <a:cs typeface="Calibri"/>
                <a:sym typeface="Calibri"/>
              </a:rPr>
              <a:t>Qualification should be viewed as structured information acquisition rather than simply a downstream decision framework.</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761"/>
        </a:solidFill>
      </p:bgPr>
    </p:bg>
    <p:spTree>
      <p:nvGrpSpPr>
        <p:cNvPr id="285" name="Shape 285"/>
        <p:cNvGrpSpPr/>
        <p:nvPr/>
      </p:nvGrpSpPr>
      <p:grpSpPr>
        <a:xfrm>
          <a:off x="0" y="0"/>
          <a:ext cx="0" cy="0"/>
          <a:chOff x="0" y="0"/>
          <a:chExt cx="0" cy="0"/>
        </a:xfrm>
      </p:grpSpPr>
      <p:pic>
        <p:nvPicPr>
          <p:cNvPr descr="preencoded.png" id="286" name="Google Shape;286;p16"/>
          <p:cNvPicPr preferRelativeResize="0"/>
          <p:nvPr/>
        </p:nvPicPr>
        <p:blipFill rotWithShape="1">
          <a:blip r:embed="rId3">
            <a:alphaModFix/>
          </a:blip>
          <a:srcRect b="0" l="0" r="0" t="0"/>
          <a:stretch/>
        </p:blipFill>
        <p:spPr>
          <a:xfrm>
            <a:off x="731520" y="411480"/>
            <a:ext cx="365760" cy="365760"/>
          </a:xfrm>
          <a:prstGeom prst="rect">
            <a:avLst/>
          </a:prstGeom>
          <a:noFill/>
          <a:ln>
            <a:noFill/>
          </a:ln>
        </p:spPr>
      </p:pic>
      <p:sp>
        <p:nvSpPr>
          <p:cNvPr id="287" name="Google Shape;287;p16"/>
          <p:cNvSpPr/>
          <p:nvPr/>
        </p:nvSpPr>
        <p:spPr>
          <a:xfrm>
            <a:off x="1234440" y="365760"/>
            <a:ext cx="64008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800"/>
              <a:buFont typeface="Calibri"/>
              <a:buNone/>
            </a:pPr>
            <a:r>
              <a:rPr b="1" i="0" lang="en-US" sz="2800" u="none" cap="none" strike="noStrike">
                <a:solidFill>
                  <a:srgbClr val="FFFFFF"/>
                </a:solidFill>
                <a:latin typeface="Calibri"/>
                <a:ea typeface="Calibri"/>
                <a:cs typeface="Calibri"/>
                <a:sym typeface="Calibri"/>
              </a:rPr>
              <a:t>Conclusion</a:t>
            </a:r>
            <a:endParaRPr b="0" i="0" sz="2800" u="none" cap="none" strike="noStrike">
              <a:solidFill>
                <a:schemeClr val="dk1"/>
              </a:solidFill>
              <a:latin typeface="Calibri"/>
              <a:ea typeface="Calibri"/>
              <a:cs typeface="Calibri"/>
              <a:sym typeface="Calibri"/>
            </a:endParaRPr>
          </a:p>
        </p:txBody>
      </p:sp>
      <p:sp>
        <p:nvSpPr>
          <p:cNvPr id="288" name="Google Shape;288;p16"/>
          <p:cNvSpPr/>
          <p:nvPr/>
        </p:nvSpPr>
        <p:spPr>
          <a:xfrm>
            <a:off x="731458" y="1034300"/>
            <a:ext cx="201300" cy="201300"/>
          </a:xfrm>
          <a:prstGeom prst="ellipse">
            <a:avLst/>
          </a:prstGeom>
          <a:solidFill>
            <a:srgbClr val="E859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6"/>
          <p:cNvSpPr/>
          <p:nvPr/>
        </p:nvSpPr>
        <p:spPr>
          <a:xfrm>
            <a:off x="1097280" y="822960"/>
            <a:ext cx="731520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A qualification layer can improve lead selection beyond predictive scoring</a:t>
            </a:r>
            <a:r>
              <a:rPr lang="en-US" sz="1300">
                <a:solidFill>
                  <a:schemeClr val="dk1"/>
                </a:solidFill>
                <a:latin typeface="Calibri"/>
                <a:ea typeface="Calibri"/>
                <a:cs typeface="Calibri"/>
                <a:sym typeface="Calibri"/>
              </a:rPr>
              <a:t> </a:t>
            </a:r>
            <a:r>
              <a:rPr b="0" i="0" lang="en-US" sz="1300" u="none" cap="none" strike="noStrike">
                <a:solidFill>
                  <a:srgbClr val="FFFFFF"/>
                </a:solidFill>
                <a:latin typeface="Calibri"/>
                <a:ea typeface="Calibri"/>
                <a:cs typeface="Calibri"/>
                <a:sym typeface="Calibri"/>
              </a:rPr>
              <a:t>alone </a:t>
            </a:r>
            <a:r>
              <a:rPr lang="en-US" sz="1300">
                <a:solidFill>
                  <a:srgbClr val="FFFFFF"/>
                </a:solidFill>
                <a:latin typeface="Calibri"/>
                <a:ea typeface="Calibri"/>
                <a:cs typeface="Calibri"/>
                <a:sym typeface="Calibri"/>
              </a:rPr>
              <a:t>-</a:t>
            </a:r>
            <a:r>
              <a:rPr b="0" i="0" lang="en-US" sz="1300" u="none" cap="none" strike="noStrike">
                <a:solidFill>
                  <a:srgbClr val="FFFFFF"/>
                </a:solidFill>
                <a:latin typeface="Calibri"/>
                <a:ea typeface="Calibri"/>
                <a:cs typeface="Calibri"/>
                <a:sym typeface="Calibri"/>
              </a:rPr>
              <a:t> when it introduces information unavailable at the point of scoring</a:t>
            </a:r>
            <a:endParaRPr b="0" i="0" sz="1300" u="none" cap="none" strike="noStrike">
              <a:solidFill>
                <a:schemeClr val="dk1"/>
              </a:solidFill>
              <a:latin typeface="Calibri"/>
              <a:ea typeface="Calibri"/>
              <a:cs typeface="Calibri"/>
              <a:sym typeface="Calibri"/>
            </a:endParaRPr>
          </a:p>
        </p:txBody>
      </p:sp>
      <p:sp>
        <p:nvSpPr>
          <p:cNvPr id="290" name="Google Shape;290;p16"/>
          <p:cNvSpPr/>
          <p:nvPr/>
        </p:nvSpPr>
        <p:spPr>
          <a:xfrm>
            <a:off x="731458" y="1692003"/>
            <a:ext cx="201300" cy="201300"/>
          </a:xfrm>
          <a:prstGeom prst="ellipse">
            <a:avLst/>
          </a:prstGeom>
          <a:solidFill>
            <a:srgbClr val="E859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16"/>
          <p:cNvSpPr/>
          <p:nvPr/>
        </p:nvSpPr>
        <p:spPr>
          <a:xfrm>
            <a:off x="1063330" y="1449750"/>
            <a:ext cx="731520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The improvement is directional (+1.7 pp, 5 additional converters) and</a:t>
            </a:r>
            <a:r>
              <a:rPr lang="en-US" sz="1300">
                <a:solidFill>
                  <a:schemeClr val="dk1"/>
                </a:solidFill>
                <a:latin typeface="Calibri"/>
                <a:ea typeface="Calibri"/>
                <a:cs typeface="Calibri"/>
                <a:sym typeface="Calibri"/>
              </a:rPr>
              <a:t> </a:t>
            </a:r>
            <a:r>
              <a:rPr b="0" i="0" lang="en-US" sz="1300" u="none" cap="none" strike="noStrike">
                <a:solidFill>
                  <a:srgbClr val="FFFFFF"/>
                </a:solidFill>
                <a:latin typeface="Calibri"/>
                <a:ea typeface="Calibri"/>
                <a:cs typeface="Calibri"/>
                <a:sym typeface="Calibri"/>
              </a:rPr>
              <a:t>consistent across capacity assumptions, though not statistically conclusive</a:t>
            </a:r>
            <a:endParaRPr b="0" i="0" sz="1300" u="none" cap="none" strike="noStrike">
              <a:solidFill>
                <a:schemeClr val="dk1"/>
              </a:solidFill>
              <a:latin typeface="Calibri"/>
              <a:ea typeface="Calibri"/>
              <a:cs typeface="Calibri"/>
              <a:sym typeface="Calibri"/>
            </a:endParaRPr>
          </a:p>
        </p:txBody>
      </p:sp>
      <p:sp>
        <p:nvSpPr>
          <p:cNvPr id="292" name="Google Shape;292;p16"/>
          <p:cNvSpPr/>
          <p:nvPr/>
        </p:nvSpPr>
        <p:spPr>
          <a:xfrm>
            <a:off x="748495" y="2377805"/>
            <a:ext cx="201300" cy="201300"/>
          </a:xfrm>
          <a:prstGeom prst="ellipse">
            <a:avLst/>
          </a:prstGeom>
          <a:solidFill>
            <a:srgbClr val="E859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16"/>
          <p:cNvSpPr/>
          <p:nvPr/>
        </p:nvSpPr>
        <p:spPr>
          <a:xfrm>
            <a:off x="1080318" y="2135540"/>
            <a:ext cx="731520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Both the signal and the mechanism matter </a:t>
            </a:r>
            <a:r>
              <a:rPr lang="en-US" sz="1300">
                <a:solidFill>
                  <a:srgbClr val="FFFFFF"/>
                </a:solidFill>
                <a:latin typeface="Calibri"/>
                <a:ea typeface="Calibri"/>
                <a:cs typeface="Calibri"/>
                <a:sym typeface="Calibri"/>
              </a:rPr>
              <a:t>-</a:t>
            </a:r>
            <a:r>
              <a:rPr b="0" i="0" lang="en-US" sz="1300" u="none" cap="none" strike="noStrike">
                <a:solidFill>
                  <a:srgbClr val="FFFFFF"/>
                </a:solidFill>
                <a:latin typeface="Calibri"/>
                <a:ea typeface="Calibri"/>
                <a:cs typeface="Calibri"/>
                <a:sym typeface="Calibri"/>
              </a:rPr>
              <a:t> S3 shows the signal has value</a:t>
            </a:r>
            <a:r>
              <a:rPr lang="en-US" sz="1300">
                <a:solidFill>
                  <a:schemeClr val="dk1"/>
                </a:solidFill>
                <a:latin typeface="Calibri"/>
                <a:ea typeface="Calibri"/>
                <a:cs typeface="Calibri"/>
                <a:sym typeface="Calibri"/>
              </a:rPr>
              <a:t> </a:t>
            </a:r>
            <a:r>
              <a:rPr b="0" i="0" lang="en-US" sz="1300" u="none" cap="none" strike="noStrike">
                <a:solidFill>
                  <a:srgbClr val="FFFFFF"/>
                </a:solidFill>
                <a:latin typeface="Calibri"/>
                <a:ea typeface="Calibri"/>
                <a:cs typeface="Calibri"/>
                <a:sym typeface="Calibri"/>
              </a:rPr>
              <a:t>(+0.3 pp), but S2 shows allocation produces the larger gain (+1.7 pp)</a:t>
            </a:r>
            <a:endParaRPr b="0" i="0" sz="1300" u="none" cap="none" strike="noStrike">
              <a:solidFill>
                <a:schemeClr val="dk1"/>
              </a:solidFill>
              <a:latin typeface="Calibri"/>
              <a:ea typeface="Calibri"/>
              <a:cs typeface="Calibri"/>
              <a:sym typeface="Calibri"/>
            </a:endParaRPr>
          </a:p>
        </p:txBody>
      </p:sp>
      <p:sp>
        <p:nvSpPr>
          <p:cNvPr id="294" name="Google Shape;294;p16"/>
          <p:cNvSpPr/>
          <p:nvPr/>
        </p:nvSpPr>
        <p:spPr>
          <a:xfrm>
            <a:off x="748545" y="3156457"/>
            <a:ext cx="201300" cy="201300"/>
          </a:xfrm>
          <a:prstGeom prst="ellipse">
            <a:avLst/>
          </a:prstGeom>
          <a:solidFill>
            <a:srgbClr val="E859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16"/>
          <p:cNvSpPr/>
          <p:nvPr/>
        </p:nvSpPr>
        <p:spPr>
          <a:xfrm>
            <a:off x="1080318" y="2914155"/>
            <a:ext cx="731520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This provides empirical support for the industry practice of layering</a:t>
            </a:r>
            <a:r>
              <a:rPr lang="en-US" sz="1300">
                <a:solidFill>
                  <a:schemeClr val="dk1"/>
                </a:solidFill>
                <a:latin typeface="Calibri"/>
                <a:ea typeface="Calibri"/>
                <a:cs typeface="Calibri"/>
                <a:sym typeface="Calibri"/>
              </a:rPr>
              <a:t> </a:t>
            </a:r>
            <a:r>
              <a:rPr b="0" i="0" lang="en-US" sz="1300" u="none" cap="none" strike="noStrike">
                <a:solidFill>
                  <a:srgbClr val="FFFFFF"/>
                </a:solidFill>
                <a:latin typeface="Calibri"/>
                <a:ea typeface="Calibri"/>
                <a:cs typeface="Calibri"/>
                <a:sym typeface="Calibri"/>
              </a:rPr>
              <a:t>qualification policies on top of lead scoring systems. </a:t>
            </a:r>
            <a:r>
              <a:rPr lang="en-US" sz="1300">
                <a:solidFill>
                  <a:srgbClr val="FFFFFF"/>
                </a:solidFill>
                <a:latin typeface="Calibri"/>
                <a:ea typeface="Calibri"/>
                <a:cs typeface="Calibri"/>
                <a:sym typeface="Calibri"/>
              </a:rPr>
              <a:t>The findings suggest that the value of qualification lies not simply in applying additional rules, but in systematically acquiring commercially relevant information that predictive models cannot observe when a lead is first created.</a:t>
            </a:r>
            <a:endParaRPr b="0" i="0" sz="1300" u="none" cap="none" strike="noStrike">
              <a:solidFill>
                <a:schemeClr val="dk1"/>
              </a:solidFill>
              <a:latin typeface="Calibri"/>
              <a:ea typeface="Calibri"/>
              <a:cs typeface="Calibri"/>
              <a:sym typeface="Calibri"/>
            </a:endParaRPr>
          </a:p>
        </p:txBody>
      </p:sp>
      <p:sp>
        <p:nvSpPr>
          <p:cNvPr id="296" name="Google Shape;296;p16"/>
          <p:cNvSpPr/>
          <p:nvPr/>
        </p:nvSpPr>
        <p:spPr>
          <a:xfrm>
            <a:off x="548700" y="3740675"/>
            <a:ext cx="8046600" cy="1326300"/>
          </a:xfrm>
          <a:prstGeom prst="roundRect">
            <a:avLst>
              <a:gd fmla="val 11429" name="adj"/>
            </a:avLst>
          </a:prstGeom>
          <a:solidFill>
            <a:srgbClr val="E859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16"/>
          <p:cNvSpPr/>
          <p:nvPr/>
        </p:nvSpPr>
        <p:spPr>
          <a:xfrm>
            <a:off x="731550" y="4069074"/>
            <a:ext cx="7680900" cy="9555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b="1" lang="en-US" sz="1500">
                <a:solidFill>
                  <a:srgbClr val="FFFFFF"/>
                </a:solidFill>
                <a:latin typeface="Calibri"/>
                <a:ea typeface="Calibri"/>
                <a:cs typeface="Calibri"/>
                <a:sym typeface="Calibri"/>
              </a:rPr>
              <a:t>The contribution is not that qualification replaces machine learning. </a:t>
            </a:r>
            <a:endParaRPr b="1" sz="1500">
              <a:solidFill>
                <a:srgbClr val="FFFFFF"/>
              </a:solidFill>
              <a:latin typeface="Calibri"/>
              <a:ea typeface="Calibri"/>
              <a:cs typeface="Calibri"/>
              <a:sym typeface="Calibri"/>
            </a:endParaRPr>
          </a:p>
          <a:p>
            <a:pPr indent="0" lvl="0" marL="0" rtl="0" algn="ctr">
              <a:spcBef>
                <a:spcPts val="0"/>
              </a:spcBef>
              <a:spcAft>
                <a:spcPts val="0"/>
              </a:spcAft>
              <a:buClr>
                <a:schemeClr val="dk1"/>
              </a:buClr>
              <a:buSzPts val="1100"/>
              <a:buFont typeface="Arial"/>
              <a:buNone/>
            </a:pPr>
            <a:r>
              <a:rPr b="1" lang="en-US" sz="1500">
                <a:solidFill>
                  <a:srgbClr val="FFFFFF"/>
                </a:solidFill>
                <a:latin typeface="Calibri"/>
                <a:ea typeface="Calibri"/>
                <a:cs typeface="Calibri"/>
                <a:sym typeface="Calibri"/>
              </a:rPr>
              <a:t>It shows that predictive scoring and qualification perform complementary roles:</a:t>
            </a:r>
            <a:endParaRPr b="1" sz="1500">
              <a:solidFill>
                <a:srgbClr val="FFFFFF"/>
              </a:solidFill>
              <a:latin typeface="Calibri"/>
              <a:ea typeface="Calibri"/>
              <a:cs typeface="Calibri"/>
              <a:sym typeface="Calibri"/>
            </a:endParaRPr>
          </a:p>
          <a:p>
            <a:pPr indent="0" lvl="0" marL="0" rtl="0" algn="ctr">
              <a:spcBef>
                <a:spcPts val="0"/>
              </a:spcBef>
              <a:spcAft>
                <a:spcPts val="0"/>
              </a:spcAft>
              <a:buClr>
                <a:schemeClr val="dk1"/>
              </a:buClr>
              <a:buSzPts val="1100"/>
              <a:buFont typeface="Arial"/>
              <a:buNone/>
            </a:pPr>
            <a:r>
              <a:rPr b="1" lang="en-US" sz="1500">
                <a:solidFill>
                  <a:srgbClr val="FFFFFF"/>
                </a:solidFill>
                <a:latin typeface="Calibri"/>
                <a:ea typeface="Calibri"/>
                <a:cs typeface="Calibri"/>
                <a:sym typeface="Calibri"/>
              </a:rPr>
              <a:t>• ML predicts from existing information.</a:t>
            </a:r>
            <a:endParaRPr b="1" sz="1500">
              <a:solidFill>
                <a:srgbClr val="FFFFFF"/>
              </a:solidFill>
              <a:latin typeface="Calibri"/>
              <a:ea typeface="Calibri"/>
              <a:cs typeface="Calibri"/>
              <a:sym typeface="Calibri"/>
            </a:endParaRPr>
          </a:p>
          <a:p>
            <a:pPr indent="0" lvl="0" marL="0" rtl="0" algn="ctr">
              <a:spcBef>
                <a:spcPts val="0"/>
              </a:spcBef>
              <a:spcAft>
                <a:spcPts val="0"/>
              </a:spcAft>
              <a:buClr>
                <a:schemeClr val="dk1"/>
              </a:buClr>
              <a:buSzPts val="1100"/>
              <a:buFont typeface="Arial"/>
              <a:buNone/>
            </a:pPr>
            <a:r>
              <a:rPr b="1" lang="en-US" sz="1500">
                <a:solidFill>
                  <a:srgbClr val="FFFFFF"/>
                </a:solidFill>
                <a:latin typeface="Calibri"/>
                <a:ea typeface="Calibri"/>
                <a:cs typeface="Calibri"/>
                <a:sym typeface="Calibri"/>
              </a:rPr>
              <a:t>• Qualification systematically acquires commercially relevant information.</a:t>
            </a:r>
            <a:endParaRPr b="1" sz="1500">
              <a:solidFill>
                <a:srgbClr val="FFFFFF"/>
              </a:solidFill>
              <a:latin typeface="Calibri"/>
              <a:ea typeface="Calibri"/>
              <a:cs typeface="Calibri"/>
              <a:sym typeface="Calibri"/>
            </a:endParaRPr>
          </a:p>
          <a:p>
            <a:pPr indent="0" lvl="0" marL="0" rtl="0" algn="ctr">
              <a:spcBef>
                <a:spcPts val="0"/>
              </a:spcBef>
              <a:spcAft>
                <a:spcPts val="0"/>
              </a:spcAft>
              <a:buClr>
                <a:schemeClr val="dk1"/>
              </a:buClr>
              <a:buSzPts val="1100"/>
              <a:buFont typeface="Arial"/>
              <a:buNone/>
            </a:pPr>
            <a:r>
              <a:rPr b="1" lang="en-US" sz="1500">
                <a:solidFill>
                  <a:srgbClr val="FFFFFF"/>
                </a:solidFill>
                <a:latin typeface="Calibri"/>
                <a:ea typeface="Calibri"/>
                <a:cs typeface="Calibri"/>
                <a:sym typeface="Calibri"/>
              </a:rPr>
              <a:t>• Together they improve constrained lead selection.</a:t>
            </a:r>
            <a:endParaRPr b="1" sz="1500">
              <a:solidFill>
                <a:srgbClr val="FFFFFF"/>
              </a:solidFill>
              <a:latin typeface="Calibri"/>
              <a:ea typeface="Calibri"/>
              <a:cs typeface="Calibri"/>
              <a:sym typeface="Calibri"/>
            </a:endParaRPr>
          </a:p>
          <a:p>
            <a:pPr indent="0" lvl="0" marL="0" rtl="0" algn="ctr">
              <a:spcBef>
                <a:spcPts val="0"/>
              </a:spcBef>
              <a:spcAft>
                <a:spcPts val="0"/>
              </a:spcAft>
              <a:buClr>
                <a:schemeClr val="dk1"/>
              </a:buClr>
              <a:buSzPts val="1100"/>
              <a:buFont typeface="Arial"/>
              <a:buNone/>
            </a:pPr>
            <a:r>
              <a:t/>
            </a:r>
            <a:endParaRPr b="1" sz="1500">
              <a:solidFill>
                <a:srgbClr val="FFFFFF"/>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2" name="Shape 302"/>
        <p:cNvGrpSpPr/>
        <p:nvPr/>
      </p:nvGrpSpPr>
      <p:grpSpPr>
        <a:xfrm>
          <a:off x="0" y="0"/>
          <a:ext cx="0" cy="0"/>
          <a:chOff x="0" y="0"/>
          <a:chExt cx="0" cy="0"/>
        </a:xfrm>
      </p:grpSpPr>
      <p:pic>
        <p:nvPicPr>
          <p:cNvPr descr="preencoded.png" id="303" name="Google Shape;303;g3f2d3326be3_3_0"/>
          <p:cNvPicPr preferRelativeResize="0"/>
          <p:nvPr/>
        </p:nvPicPr>
        <p:blipFill rotWithShape="1">
          <a:blip r:embed="rId3">
            <a:alphaModFix/>
          </a:blip>
          <a:srcRect b="0" l="0" r="0" t="0"/>
          <a:stretch/>
        </p:blipFill>
        <p:spPr>
          <a:xfrm>
            <a:off x="731520" y="274320"/>
            <a:ext cx="365760" cy="365760"/>
          </a:xfrm>
          <a:prstGeom prst="rect">
            <a:avLst/>
          </a:prstGeom>
          <a:noFill/>
          <a:ln>
            <a:noFill/>
          </a:ln>
        </p:spPr>
      </p:pic>
      <p:sp>
        <p:nvSpPr>
          <p:cNvPr id="304" name="Google Shape;304;g3f2d3326be3_3_0"/>
          <p:cNvSpPr/>
          <p:nvPr/>
        </p:nvSpPr>
        <p:spPr>
          <a:xfrm>
            <a:off x="1234440" y="228600"/>
            <a:ext cx="64008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2800"/>
              <a:buFont typeface="Calibri"/>
              <a:buNone/>
            </a:pPr>
            <a:r>
              <a:rPr b="1" i="0" lang="en-US" sz="2800" u="none" cap="none" strike="noStrike">
                <a:solidFill>
                  <a:srgbClr val="1E2761"/>
                </a:solidFill>
                <a:latin typeface="Calibri"/>
                <a:ea typeface="Calibri"/>
                <a:cs typeface="Calibri"/>
                <a:sym typeface="Calibri"/>
              </a:rPr>
              <a:t>Limitations and future work</a:t>
            </a:r>
            <a:endParaRPr b="0" i="0" sz="2800" u="none" cap="none" strike="noStrike">
              <a:solidFill>
                <a:schemeClr val="dk1"/>
              </a:solidFill>
              <a:latin typeface="Calibri"/>
              <a:ea typeface="Calibri"/>
              <a:cs typeface="Calibri"/>
              <a:sym typeface="Calibri"/>
            </a:endParaRPr>
          </a:p>
        </p:txBody>
      </p:sp>
      <p:sp>
        <p:nvSpPr>
          <p:cNvPr id="305" name="Google Shape;305;g3f2d3326be3_3_0"/>
          <p:cNvSpPr/>
          <p:nvPr/>
        </p:nvSpPr>
        <p:spPr>
          <a:xfrm>
            <a:off x="731520" y="914400"/>
            <a:ext cx="384048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593C"/>
              </a:buClr>
              <a:buSzPts val="1600"/>
              <a:buFont typeface="Calibri"/>
              <a:buNone/>
            </a:pPr>
            <a:r>
              <a:rPr b="1" i="0" lang="en-US" sz="1600" u="none" cap="none" strike="noStrike">
                <a:solidFill>
                  <a:srgbClr val="E8593C"/>
                </a:solidFill>
                <a:latin typeface="Calibri"/>
                <a:ea typeface="Calibri"/>
                <a:cs typeface="Calibri"/>
                <a:sym typeface="Calibri"/>
              </a:rPr>
              <a:t>Major limitations</a:t>
            </a:r>
            <a:endParaRPr b="0" i="0" sz="1600" u="none" cap="none" strike="noStrike">
              <a:solidFill>
                <a:schemeClr val="dk1"/>
              </a:solidFill>
              <a:latin typeface="Calibri"/>
              <a:ea typeface="Calibri"/>
              <a:cs typeface="Calibri"/>
              <a:sym typeface="Calibri"/>
            </a:endParaRPr>
          </a:p>
        </p:txBody>
      </p:sp>
      <p:sp>
        <p:nvSpPr>
          <p:cNvPr id="306" name="Google Shape;306;g3f2d3326be3_3_0"/>
          <p:cNvSpPr/>
          <p:nvPr/>
        </p:nvSpPr>
        <p:spPr>
          <a:xfrm>
            <a:off x="731520" y="1280160"/>
            <a:ext cx="3840480" cy="128016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0F1B3D"/>
              </a:buClr>
              <a:buSzPts val="1200"/>
              <a:buFont typeface="Calibri"/>
              <a:buChar char="•"/>
            </a:pPr>
            <a:r>
              <a:rPr b="0" i="0" lang="en-US" sz="1200" u="none" cap="none" strike="noStrike">
                <a:solidFill>
                  <a:srgbClr val="0F1B3D"/>
                </a:solidFill>
                <a:latin typeface="Calibri"/>
                <a:ea typeface="Calibri"/>
                <a:cs typeface="Calibri"/>
                <a:sym typeface="Calibri"/>
              </a:rPr>
              <a:t>B2C dataset</a:t>
            </a:r>
            <a:r>
              <a:rPr lang="en-US" sz="1200">
                <a:solidFill>
                  <a:srgbClr val="0F1B3D"/>
                </a:solidFill>
                <a:latin typeface="Calibri"/>
                <a:ea typeface="Calibri"/>
                <a:cs typeface="Calibri"/>
                <a:sym typeface="Calibri"/>
              </a:rPr>
              <a:t>:</a:t>
            </a:r>
            <a:r>
              <a:rPr b="0" i="0" lang="en-US" sz="1200" u="none" cap="none" strike="noStrike">
                <a:solidFill>
                  <a:srgbClr val="0F1B3D"/>
                </a:solidFill>
                <a:latin typeface="Calibri"/>
                <a:ea typeface="Calibri"/>
                <a:cs typeface="Calibri"/>
                <a:sym typeface="Calibri"/>
              </a:rPr>
              <a:t> BANT dimensions are proxied,</a:t>
            </a:r>
            <a:r>
              <a:rPr lang="en-US" sz="1200">
                <a:solidFill>
                  <a:schemeClr val="dk1"/>
                </a:solidFill>
                <a:latin typeface="Calibri"/>
                <a:ea typeface="Calibri"/>
                <a:cs typeface="Calibri"/>
                <a:sym typeface="Calibri"/>
              </a:rPr>
              <a:t> </a:t>
            </a:r>
            <a:r>
              <a:rPr b="0" i="0" lang="en-US" sz="1200" u="none" cap="none" strike="noStrike">
                <a:solidFill>
                  <a:srgbClr val="0F1B3D"/>
                </a:solidFill>
                <a:latin typeface="Calibri"/>
                <a:ea typeface="Calibri"/>
                <a:cs typeface="Calibri"/>
                <a:sym typeface="Calibri"/>
              </a:rPr>
              <a:t>not directly measured</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0F1B3D"/>
              </a:buClr>
              <a:buSzPts val="1200"/>
              <a:buFont typeface="Calibri"/>
              <a:buChar char="•"/>
            </a:pPr>
            <a:r>
              <a:rPr b="0" i="0" lang="en-US" sz="1200" u="none" cap="none" strike="noStrike">
                <a:solidFill>
                  <a:srgbClr val="0F1B3D"/>
                </a:solidFill>
                <a:latin typeface="Calibri"/>
                <a:ea typeface="Calibri"/>
                <a:cs typeface="Calibri"/>
                <a:sym typeface="Calibri"/>
              </a:rPr>
              <a:t>Directional result</a:t>
            </a:r>
            <a:r>
              <a:rPr lang="en-US" sz="1200">
                <a:solidFill>
                  <a:srgbClr val="0F1B3D"/>
                </a:solidFill>
                <a:latin typeface="Calibri"/>
                <a:ea typeface="Calibri"/>
                <a:cs typeface="Calibri"/>
                <a:sym typeface="Calibri"/>
              </a:rPr>
              <a:t>:</a:t>
            </a:r>
            <a:r>
              <a:rPr b="0" i="0" lang="en-US" sz="1200" u="none" cap="none" strike="noStrike">
                <a:solidFill>
                  <a:srgbClr val="0F1B3D"/>
                </a:solidFill>
                <a:latin typeface="Calibri"/>
                <a:ea typeface="Calibri"/>
                <a:cs typeface="Calibri"/>
                <a:sym typeface="Calibri"/>
              </a:rPr>
              <a:t> bootstrap CIs overlap</a:t>
            </a:r>
            <a:r>
              <a:rPr lang="en-US" sz="1200">
                <a:solidFill>
                  <a:schemeClr val="dk1"/>
                </a:solidFill>
                <a:latin typeface="Calibri"/>
                <a:ea typeface="Calibri"/>
                <a:cs typeface="Calibri"/>
                <a:sym typeface="Calibri"/>
              </a:rPr>
              <a:t> </a:t>
            </a:r>
            <a:r>
              <a:rPr b="0" i="0" lang="en-US" sz="1200" u="none" cap="none" strike="noStrike">
                <a:solidFill>
                  <a:srgbClr val="0F1B3D"/>
                </a:solidFill>
                <a:latin typeface="Calibri"/>
                <a:ea typeface="Calibri"/>
                <a:cs typeface="Calibri"/>
                <a:sym typeface="Calibri"/>
              </a:rPr>
              <a:t>at 95% confidence</a:t>
            </a:r>
            <a:endParaRPr b="0" i="0" sz="1200" u="none" cap="none" strike="noStrike">
              <a:solidFill>
                <a:schemeClr val="dk1"/>
              </a:solidFill>
              <a:latin typeface="Calibri"/>
              <a:ea typeface="Calibri"/>
              <a:cs typeface="Calibri"/>
              <a:sym typeface="Calibri"/>
            </a:endParaRPr>
          </a:p>
        </p:txBody>
      </p:sp>
      <p:sp>
        <p:nvSpPr>
          <p:cNvPr id="307" name="Google Shape;307;g3f2d3326be3_3_0"/>
          <p:cNvSpPr/>
          <p:nvPr/>
        </p:nvSpPr>
        <p:spPr>
          <a:xfrm>
            <a:off x="731520" y="2606040"/>
            <a:ext cx="384048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1400"/>
              <a:buFont typeface="Calibri"/>
              <a:buNone/>
            </a:pPr>
            <a:r>
              <a:rPr b="1" i="0" lang="en-US" sz="1400" u="none" cap="none" strike="noStrike">
                <a:solidFill>
                  <a:srgbClr val="64748B"/>
                </a:solidFill>
                <a:latin typeface="Calibri"/>
                <a:ea typeface="Calibri"/>
                <a:cs typeface="Calibri"/>
                <a:sym typeface="Calibri"/>
              </a:rPr>
              <a:t>Minor limitations</a:t>
            </a:r>
            <a:endParaRPr b="0" i="0" sz="1400" u="none" cap="none" strike="noStrike">
              <a:solidFill>
                <a:schemeClr val="dk1"/>
              </a:solidFill>
              <a:latin typeface="Calibri"/>
              <a:ea typeface="Calibri"/>
              <a:cs typeface="Calibri"/>
              <a:sym typeface="Calibri"/>
            </a:endParaRPr>
          </a:p>
        </p:txBody>
      </p:sp>
      <p:sp>
        <p:nvSpPr>
          <p:cNvPr id="308" name="Google Shape;308;g3f2d3326be3_3_0"/>
          <p:cNvSpPr/>
          <p:nvPr/>
        </p:nvSpPr>
        <p:spPr>
          <a:xfrm>
            <a:off x="731520" y="2926080"/>
            <a:ext cx="3840480" cy="9144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0F1B3D"/>
              </a:buClr>
              <a:buSzPts val="1200"/>
              <a:buFont typeface="Calibri"/>
              <a:buChar char="•"/>
            </a:pPr>
            <a:r>
              <a:rPr b="0" i="0" lang="en-US" sz="1200" u="none" cap="none" strike="noStrike">
                <a:solidFill>
                  <a:srgbClr val="0F1B3D"/>
                </a:solidFill>
                <a:latin typeface="Calibri"/>
                <a:ea typeface="Calibri"/>
                <a:cs typeface="Calibri"/>
                <a:sym typeface="Calibri"/>
              </a:rPr>
              <a:t>Partial signal separation (proxy leakage)</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0F1B3D"/>
              </a:buClr>
              <a:buSzPts val="1200"/>
              <a:buFont typeface="Calibri"/>
              <a:buChar char="•"/>
            </a:pPr>
            <a:r>
              <a:rPr b="0" i="0" lang="en-US" sz="1200" u="none" cap="none" strike="noStrike">
                <a:solidFill>
                  <a:srgbClr val="0F1B3D"/>
                </a:solidFill>
                <a:latin typeface="Calibri"/>
                <a:ea typeface="Calibri"/>
                <a:cs typeface="Calibri"/>
                <a:sym typeface="Calibri"/>
              </a:rPr>
              <a:t>No field-level timestamps in dataset</a:t>
            </a:r>
            <a:endParaRPr b="0" i="0" sz="1200" u="none" cap="none" strike="noStrike">
              <a:solidFill>
                <a:schemeClr val="dk1"/>
              </a:solidFill>
              <a:latin typeface="Calibri"/>
              <a:ea typeface="Calibri"/>
              <a:cs typeface="Calibri"/>
              <a:sym typeface="Calibri"/>
            </a:endParaRPr>
          </a:p>
        </p:txBody>
      </p:sp>
      <p:sp>
        <p:nvSpPr>
          <p:cNvPr id="309" name="Google Shape;309;g3f2d3326be3_3_0"/>
          <p:cNvSpPr/>
          <p:nvPr/>
        </p:nvSpPr>
        <p:spPr>
          <a:xfrm>
            <a:off x="4754880" y="914400"/>
            <a:ext cx="384048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1600"/>
              <a:buFont typeface="Calibri"/>
              <a:buNone/>
            </a:pPr>
            <a:r>
              <a:rPr b="1" i="0" lang="en-US" sz="1600" u="none" cap="none" strike="noStrike">
                <a:solidFill>
                  <a:srgbClr val="1E2761"/>
                </a:solidFill>
                <a:latin typeface="Calibri"/>
                <a:ea typeface="Calibri"/>
                <a:cs typeface="Calibri"/>
                <a:sym typeface="Calibri"/>
              </a:rPr>
              <a:t>Future work</a:t>
            </a:r>
            <a:endParaRPr b="0" i="0" sz="1600" u="none" cap="none" strike="noStrike">
              <a:solidFill>
                <a:schemeClr val="dk1"/>
              </a:solidFill>
              <a:latin typeface="Calibri"/>
              <a:ea typeface="Calibri"/>
              <a:cs typeface="Calibri"/>
              <a:sym typeface="Calibri"/>
            </a:endParaRPr>
          </a:p>
        </p:txBody>
      </p:sp>
      <p:sp>
        <p:nvSpPr>
          <p:cNvPr id="310" name="Google Shape;310;g3f2d3326be3_3_0"/>
          <p:cNvSpPr/>
          <p:nvPr/>
        </p:nvSpPr>
        <p:spPr>
          <a:xfrm>
            <a:off x="4754875" y="1425726"/>
            <a:ext cx="3840600" cy="30909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0F1B3D"/>
              </a:buClr>
              <a:buSzPts val="1200"/>
              <a:buFont typeface="Calibri"/>
              <a:buChar char="•"/>
            </a:pPr>
            <a:r>
              <a:rPr b="0" i="0" lang="en-US" sz="1200" u="none" cap="none" strike="noStrike">
                <a:solidFill>
                  <a:srgbClr val="0F1B3D"/>
                </a:solidFill>
                <a:latin typeface="Calibri"/>
                <a:ea typeface="Calibri"/>
                <a:cs typeface="Calibri"/>
                <a:sym typeface="Calibri"/>
              </a:rPr>
              <a:t>Validate using real B2B CRM data with</a:t>
            </a:r>
            <a:r>
              <a:rPr lang="en-US" sz="1200">
                <a:solidFill>
                  <a:schemeClr val="dk1"/>
                </a:solidFill>
                <a:latin typeface="Calibri"/>
                <a:ea typeface="Calibri"/>
                <a:cs typeface="Calibri"/>
                <a:sym typeface="Calibri"/>
              </a:rPr>
              <a:t> </a:t>
            </a:r>
            <a:r>
              <a:rPr b="0" i="0" lang="en-US" sz="1200" u="none" cap="none" strike="noStrike">
                <a:solidFill>
                  <a:srgbClr val="0F1B3D"/>
                </a:solidFill>
                <a:latin typeface="Calibri"/>
                <a:ea typeface="Calibri"/>
                <a:cs typeface="Calibri"/>
                <a:sym typeface="Calibri"/>
              </a:rPr>
              <a:t>genuine BANT qualification signals</a:t>
            </a:r>
            <a:endParaRPr b="0" i="0" sz="12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0F1B3D"/>
              </a:buClr>
              <a:buSzPts val="1200"/>
              <a:buFont typeface="Calibri"/>
              <a:buChar char="•"/>
            </a:pPr>
            <a:r>
              <a:rPr lang="en-US" sz="1200">
                <a:solidFill>
                  <a:srgbClr val="0F1B3D"/>
                </a:solidFill>
                <a:latin typeface="Calibri"/>
                <a:ea typeface="Calibri"/>
                <a:cs typeface="Calibri"/>
                <a:sym typeface="Calibri"/>
              </a:rPr>
              <a:t>Investigate which qualification questions produce the highest-value new information.</a:t>
            </a:r>
            <a:endParaRPr b="0" i="0" sz="12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0F1B3D"/>
              </a:buClr>
              <a:buSzPts val="1200"/>
              <a:buFont typeface="Calibri"/>
              <a:buChar char="•"/>
            </a:pPr>
            <a:r>
              <a:rPr b="0" i="0" lang="en-US" sz="1200" u="none" cap="none" strike="noStrike">
                <a:solidFill>
                  <a:srgbClr val="0F1B3D"/>
                </a:solidFill>
                <a:latin typeface="Calibri"/>
                <a:ea typeface="Calibri"/>
                <a:cs typeface="Calibri"/>
                <a:sym typeface="Calibri"/>
              </a:rPr>
              <a:t>Adaptive qualification that chooses the next</a:t>
            </a:r>
            <a:r>
              <a:rPr lang="en-US" sz="1200">
                <a:solidFill>
                  <a:schemeClr val="dk1"/>
                </a:solidFill>
                <a:latin typeface="Calibri"/>
                <a:ea typeface="Calibri"/>
                <a:cs typeface="Calibri"/>
                <a:sym typeface="Calibri"/>
              </a:rPr>
              <a:t> </a:t>
            </a:r>
            <a:r>
              <a:rPr b="0" i="0" lang="en-US" sz="1200" u="none" cap="none" strike="noStrike">
                <a:solidFill>
                  <a:srgbClr val="0F1B3D"/>
                </a:solidFill>
                <a:latin typeface="Calibri"/>
                <a:ea typeface="Calibri"/>
                <a:cs typeface="Calibri"/>
                <a:sym typeface="Calibri"/>
              </a:rPr>
              <a:t>question to maximise information gain</a:t>
            </a:r>
            <a:endParaRPr b="0" i="0" sz="1200" u="none" cap="none" strike="noStrike">
              <a:solidFill>
                <a:schemeClr val="dk1"/>
              </a:solidFill>
              <a:latin typeface="Calibri"/>
              <a:ea typeface="Calibri"/>
              <a:cs typeface="Calibri"/>
              <a:sym typeface="Calibri"/>
            </a:endParaRPr>
          </a:p>
          <a:p>
            <a:pPr indent="-361950" lvl="0" marL="342900" rtl="0" algn="l">
              <a:spcBef>
                <a:spcPts val="0"/>
              </a:spcBef>
              <a:spcAft>
                <a:spcPts val="0"/>
              </a:spcAft>
              <a:buClr>
                <a:srgbClr val="0F1B3D"/>
              </a:buClr>
              <a:buSzPts val="1200"/>
              <a:buFont typeface="Calibri"/>
              <a:buChar char="•"/>
            </a:pPr>
            <a:r>
              <a:rPr lang="en-US" sz="1200">
                <a:solidFill>
                  <a:srgbClr val="0F1B3D"/>
                </a:solidFill>
                <a:latin typeface="Calibri"/>
                <a:ea typeface="Calibri"/>
                <a:cs typeface="Calibri"/>
                <a:sym typeface="Calibri"/>
              </a:rPr>
              <a:t>Extend to multi-objective evaluation</a:t>
            </a:r>
            <a:r>
              <a:rPr lang="en-US" sz="1200">
                <a:solidFill>
                  <a:schemeClr val="dk1"/>
                </a:solidFill>
                <a:latin typeface="Calibri"/>
                <a:ea typeface="Calibri"/>
                <a:cs typeface="Calibri"/>
                <a:sym typeface="Calibri"/>
              </a:rPr>
              <a:t> </a:t>
            </a:r>
            <a:r>
              <a:rPr lang="en-US" sz="1200">
                <a:solidFill>
                  <a:srgbClr val="0F1B3D"/>
                </a:solidFill>
                <a:latin typeface="Calibri"/>
                <a:ea typeface="Calibri"/>
                <a:cs typeface="Calibri"/>
                <a:sym typeface="Calibri"/>
              </a:rPr>
              <a:t>(revenue, account value, cost to serve)</a:t>
            </a:r>
            <a:endParaRPr b="0" i="0" sz="12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0F1B3D"/>
              </a:buClr>
              <a:buSzPts val="1200"/>
              <a:buFont typeface="Calibri"/>
              <a:buChar char="•"/>
            </a:pPr>
            <a:r>
              <a:rPr b="0" i="0" lang="en-US" sz="1200" u="none" cap="none" strike="noStrike">
                <a:solidFill>
                  <a:srgbClr val="0F1B3D"/>
                </a:solidFill>
                <a:latin typeface="Calibri"/>
                <a:ea typeface="Calibri"/>
                <a:cs typeface="Calibri"/>
                <a:sym typeface="Calibri"/>
              </a:rPr>
              <a:t>Model how qualification information migrates</a:t>
            </a:r>
            <a:r>
              <a:rPr lang="en-US" sz="1200">
                <a:solidFill>
                  <a:schemeClr val="dk1"/>
                </a:solidFill>
                <a:latin typeface="Calibri"/>
                <a:ea typeface="Calibri"/>
                <a:cs typeface="Calibri"/>
                <a:sym typeface="Calibri"/>
              </a:rPr>
              <a:t> </a:t>
            </a:r>
            <a:r>
              <a:rPr b="0" i="0" lang="en-US" sz="1200" u="none" cap="none" strike="noStrike">
                <a:solidFill>
                  <a:srgbClr val="0F1B3D"/>
                </a:solidFill>
                <a:latin typeface="Calibri"/>
                <a:ea typeface="Calibri"/>
                <a:cs typeface="Calibri"/>
                <a:sym typeface="Calibri"/>
              </a:rPr>
              <a:t>into predictive models over time</a:t>
            </a:r>
            <a:endParaRPr b="0" i="0" sz="1200" u="none" cap="none" strike="noStrike">
              <a:solidFill>
                <a:srgbClr val="0F1B3D"/>
              </a:solidFill>
              <a:latin typeface="Calibri"/>
              <a:ea typeface="Calibri"/>
              <a:cs typeface="Calibri"/>
              <a:sym typeface="Calibri"/>
            </a:endParaRPr>
          </a:p>
          <a:p>
            <a:pPr indent="-361950" lvl="0" marL="342900" rtl="0" algn="l">
              <a:spcBef>
                <a:spcPts val="0"/>
              </a:spcBef>
              <a:spcAft>
                <a:spcPts val="0"/>
              </a:spcAft>
              <a:buClr>
                <a:srgbClr val="0F1B3D"/>
              </a:buClr>
              <a:buSzPts val="1200"/>
              <a:buFont typeface="Calibri"/>
              <a:buChar char="•"/>
            </a:pPr>
            <a:r>
              <a:rPr lang="en-US" sz="1200">
                <a:solidFill>
                  <a:srgbClr val="0F1B3D"/>
                </a:solidFill>
                <a:latin typeface="Calibri"/>
                <a:ea typeface="Calibri"/>
                <a:cs typeface="Calibri"/>
                <a:sym typeface="Calibri"/>
              </a:rPr>
              <a:t>Test complete signal separation by</a:t>
            </a:r>
            <a:r>
              <a:rPr lang="en-US" sz="1200">
                <a:solidFill>
                  <a:schemeClr val="dk1"/>
                </a:solidFill>
                <a:latin typeface="Calibri"/>
                <a:ea typeface="Calibri"/>
                <a:cs typeface="Calibri"/>
                <a:sym typeface="Calibri"/>
              </a:rPr>
              <a:t> </a:t>
            </a:r>
            <a:r>
              <a:rPr lang="en-US" sz="1200">
                <a:solidFill>
                  <a:srgbClr val="0F1B3D"/>
                </a:solidFill>
                <a:latin typeface="Calibri"/>
                <a:ea typeface="Calibri"/>
                <a:cs typeface="Calibri"/>
                <a:sym typeface="Calibri"/>
              </a:rPr>
              <a:t>excluding Last Notable Activity</a:t>
            </a:r>
            <a:endParaRPr sz="1200">
              <a:solidFill>
                <a:srgbClr val="0F1B3D"/>
              </a:solidFill>
              <a:latin typeface="Calibri"/>
              <a:ea typeface="Calibri"/>
              <a:cs typeface="Calibri"/>
              <a:sym typeface="Calibri"/>
            </a:endParaRPr>
          </a:p>
          <a:p>
            <a:pPr indent="-361950" lvl="0" marL="342900" rtl="0" algn="l">
              <a:spcBef>
                <a:spcPts val="0"/>
              </a:spcBef>
              <a:spcAft>
                <a:spcPts val="0"/>
              </a:spcAft>
              <a:buClr>
                <a:srgbClr val="0F1B3D"/>
              </a:buClr>
              <a:buSzPts val="1200"/>
              <a:buFont typeface="Calibri"/>
              <a:buChar char="•"/>
            </a:pPr>
            <a:r>
              <a:rPr lang="en-US" sz="1200">
                <a:solidFill>
                  <a:srgbClr val="0F1B3D"/>
                </a:solidFill>
                <a:latin typeface="Calibri"/>
                <a:ea typeface="Calibri"/>
                <a:cs typeface="Calibri"/>
                <a:sym typeface="Calibri"/>
              </a:rPr>
              <a:t>Predict not only who will convert, but who remains open to influence</a:t>
            </a:r>
            <a:endParaRPr sz="1200">
              <a:solidFill>
                <a:srgbClr val="0F1B3D"/>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761"/>
        </a:solidFill>
      </p:bgPr>
    </p:bg>
    <p:spTree>
      <p:nvGrpSpPr>
        <p:cNvPr id="315" name="Shape 315"/>
        <p:cNvGrpSpPr/>
        <p:nvPr/>
      </p:nvGrpSpPr>
      <p:grpSpPr>
        <a:xfrm>
          <a:off x="0" y="0"/>
          <a:ext cx="0" cy="0"/>
          <a:chOff x="0" y="0"/>
          <a:chExt cx="0" cy="0"/>
        </a:xfrm>
      </p:grpSpPr>
      <p:sp>
        <p:nvSpPr>
          <p:cNvPr id="316" name="Google Shape;316;p18"/>
          <p:cNvSpPr/>
          <p:nvPr/>
        </p:nvSpPr>
        <p:spPr>
          <a:xfrm>
            <a:off x="731495" y="1763770"/>
            <a:ext cx="7680900" cy="914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4400"/>
              <a:buFont typeface="Calibri"/>
              <a:buNone/>
            </a:pPr>
            <a:r>
              <a:rPr b="1" i="0" lang="en-US" sz="4400" u="none" cap="none" strike="noStrike">
                <a:solidFill>
                  <a:srgbClr val="FFFFFF"/>
                </a:solidFill>
                <a:latin typeface="Calibri"/>
                <a:ea typeface="Calibri"/>
                <a:cs typeface="Calibri"/>
                <a:sym typeface="Calibri"/>
              </a:rPr>
              <a:t>Thank you</a:t>
            </a:r>
            <a:endParaRPr b="0" i="0" sz="4400" u="none" cap="none" strike="noStrike">
              <a:solidFill>
                <a:schemeClr val="dk1"/>
              </a:solidFill>
              <a:latin typeface="Calibri"/>
              <a:ea typeface="Calibri"/>
              <a:cs typeface="Calibri"/>
              <a:sym typeface="Calibri"/>
            </a:endParaRPr>
          </a:p>
        </p:txBody>
      </p:sp>
      <p:cxnSp>
        <p:nvCxnSpPr>
          <p:cNvPr id="317" name="Google Shape;317;p18"/>
          <p:cNvCxnSpPr/>
          <p:nvPr/>
        </p:nvCxnSpPr>
        <p:spPr>
          <a:xfrm>
            <a:off x="3200400" y="3111615"/>
            <a:ext cx="2743200" cy="0"/>
          </a:xfrm>
          <a:prstGeom prst="straightConnector1">
            <a:avLst/>
          </a:prstGeom>
          <a:noFill/>
          <a:ln cap="flat" cmpd="sng" w="38100">
            <a:solidFill>
              <a:srgbClr val="E8593C"/>
            </a:solidFill>
            <a:prstDash val="solid"/>
            <a:round/>
            <a:headEnd len="sm" w="sm" type="none"/>
            <a:tailEnd len="sm" w="sm" type="none"/>
          </a:ln>
        </p:spPr>
      </p:cxnSp>
      <p:sp>
        <p:nvSpPr>
          <p:cNvPr id="318" name="Google Shape;318;p18"/>
          <p:cNvSpPr/>
          <p:nvPr/>
        </p:nvSpPr>
        <p:spPr>
          <a:xfrm>
            <a:off x="731520" y="3566160"/>
            <a:ext cx="7680900" cy="731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ADCFC"/>
              </a:buClr>
              <a:buSzPts val="1400"/>
              <a:buFont typeface="Calibri"/>
              <a:buNone/>
            </a:pPr>
            <a:r>
              <a:rPr b="0" i="0" lang="en-US" sz="1400" u="none" cap="none" strike="noStrike">
                <a:solidFill>
                  <a:srgbClr val="CADCFC"/>
                </a:solidFill>
                <a:latin typeface="Calibri"/>
                <a:ea typeface="Calibri"/>
                <a:cs typeface="Calibri"/>
                <a:sym typeface="Calibri"/>
              </a:rPr>
              <a:t>Michael Dean Thomas</a:t>
            </a:r>
            <a:endParaRPr b="0" i="0" sz="14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CADCFC"/>
              </a:buClr>
              <a:buSzPts val="1400"/>
              <a:buFont typeface="Calibri"/>
              <a:buNone/>
            </a:pPr>
            <a:r>
              <a:rPr b="0" i="0" lang="en-US" sz="1400" u="none" cap="none" strike="noStrike">
                <a:solidFill>
                  <a:srgbClr val="CADCFC"/>
                </a:solidFill>
                <a:latin typeface="Calibri"/>
                <a:ea typeface="Calibri"/>
                <a:cs typeface="Calibri"/>
                <a:sym typeface="Calibri"/>
              </a:rPr>
              <a:t>michael@tailyx.ai</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2026-06-25T06:20:08Z</dcterms:created>
  <dc:creator>Michael Thomas</dc:creator>
</cp:coreProperties>
</file>