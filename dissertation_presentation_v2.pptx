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y="5143500" cx="9144000"/>
  <p:notesSz cx="51435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0" roundtripDataSignature="AMtx7mgd08u2QciKBgPjs3/L5vnz8tP0N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10F0B6E-511E-4486-9144-9411189B104C}">
  <a:tblStyle styleId="{510F0B6E-511E-4486-9144-9411189B104C}"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customschemas.google.com/relationships/presentationmetadata" Target="metadata"/><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Introduce yourself. State the title. 30 seconds max.</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 name="Google Shape;22;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Wu et al., 2024 </a:t>
            </a:r>
            <a:endParaRPr/>
          </a:p>
        </p:txBody>
      </p:sp>
      <p:sp>
        <p:nvSpPr>
          <p:cNvPr id="23" name="Google Shape;23;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 name="Google Shape;38;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Practice: two stages. Research: one model. The gap is that qualification data isn't available at scoring time.</a:t>
            </a:r>
            <a:endParaRPr/>
          </a:p>
        </p:txBody>
      </p:sp>
      <p:sp>
        <p:nvSpPr>
          <p:cNvPr id="39" name="Google Shape;39;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 name="Shape 48"/>
        <p:cNvGrpSpPr/>
        <p:nvPr/>
      </p:nvGrpSpPr>
      <p:grpSpPr>
        <a:xfrm>
          <a:off x="0" y="0"/>
          <a:ext cx="0" cy="0"/>
          <a:chOff x="0" y="0"/>
          <a:chExt cx="0" cy="0"/>
        </a:xfrm>
      </p:grpSpPr>
      <p:sp>
        <p:nvSpPr>
          <p:cNvPr id="49" name="Google Shape;4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 name="Google Shape;50;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'qualification layer' not 'soft prioritisation layer'. Three sub-questions: core result, mechanism robustness, capacity sensitivity.</a:t>
            </a:r>
            <a:endParaRPr/>
          </a:p>
        </p:txBody>
      </p:sp>
      <p:sp>
        <p:nvSpPr>
          <p:cNvPr id="51" name="Google Shape;51;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 name="Google Shape;6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streams. First two improve information, last two improve decisions. Nobody combined and tested them.</a:t>
            </a:r>
            <a:endParaRPr/>
          </a:p>
        </p:txBody>
      </p:sp>
      <p:sp>
        <p:nvSpPr>
          <p:cNvPr id="61" name="Google Shape;6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 name="Google Shape;83;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systems share the same ML score. S1=baseline. S2=the test. S3=robustness (same info, different mechanism).</a:t>
            </a:r>
            <a:endParaRPr/>
          </a:p>
        </p:txBody>
      </p:sp>
      <p:sp>
        <p:nvSpPr>
          <p:cNvPr id="84" name="Google Shape;84;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 name="Google Shape;104;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key visual. S1: 302 by ML score. S2: 92 P1 + 120 P2 + 90 overflow = 302. Same budget, different composition, 8 more converters.</a:t>
            </a:r>
            <a:endParaRPr/>
          </a:p>
        </p:txBody>
      </p:sp>
      <p:sp>
        <p:nvSpPr>
          <p:cNvPr id="105" name="Google Shape;105;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P1 and P2 excluded from model. Baseline cutoff at 39.8% prevents low-scoring leads from being elevated by tier membership alone.</a:t>
            </a:r>
            <a:endParaRPr/>
          </a:p>
        </p:txBody>
      </p:sp>
      <p:sp>
        <p:nvSpPr>
          <p:cNvPr id="128" name="Google Shape;12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 name="Google Shape;148;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Main result: +2.6pp = 8 extra converters. Directional (CIs overlap). S3=0pp: the tier mechanism matters, not just the info.</a:t>
            </a:r>
            <a:endParaRPr/>
          </a:p>
        </p:txBody>
      </p:sp>
      <p:sp>
        <p:nvSpPr>
          <p:cNvPr id="149" name="Google Shape;149;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sensitivity tests support the main finding. K stable at 20-30%. Cap robust at 20-40%. </a:t>
            </a:r>
            <a:r>
              <a:rPr lang="en-US"/>
              <a:t>S3 shows that the qualification signal carries some value, but the tier-based prioritisation mechanism generates the larger improvement.</a:t>
            </a:r>
            <a:endParaRPr/>
          </a:p>
        </p:txBody>
      </p:sp>
      <p:sp>
        <p:nvSpPr>
          <p:cNvPr id="161" name="Google Shape;161;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 name="Google Shape;178;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qualification layer identifies groups with unusually high conversion rates that are not fully visible to the model at scoring time. The signal matters, but the larger gain comes from how the information is applied.</a:t>
            </a:r>
            <a:endParaRPr/>
          </a:p>
        </p:txBody>
      </p:sp>
      <p:sp>
        <p:nvSpPr>
          <p:cNvPr id="179" name="Google Shape;179;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conclusions. The contribution statement at the bottom is the PhD-level framing. Memorise it for Q&amp;A.</a:t>
            </a:r>
            <a:endParaRPr/>
          </a:p>
        </p:txBody>
      </p:sp>
      <p:sp>
        <p:nvSpPr>
          <p:cNvPr id="197" name="Google Shape;197;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 name="Google Shape;213;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Major: B2C dataset and CIs overlap. Minor: proxy leakage and no timestamps. Future: real B2B data is the obvious next step.</a:t>
            </a:r>
            <a:endParaRPr/>
          </a:p>
        </p:txBody>
      </p:sp>
      <p:sp>
        <p:nvSpPr>
          <p:cNvPr id="214" name="Google Shape;214;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 name="Google Shape;226;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7" name="Google Shape;227;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761"/>
        </a:solidFill>
      </p:bgPr>
    </p:bg>
    <p:spTree>
      <p:nvGrpSpPr>
        <p:cNvPr id="15" name="Shape 15"/>
        <p:cNvGrpSpPr/>
        <p:nvPr/>
      </p:nvGrpSpPr>
      <p:grpSpPr>
        <a:xfrm>
          <a:off x="0" y="0"/>
          <a:ext cx="0" cy="0"/>
          <a:chOff x="0" y="0"/>
          <a:chExt cx="0" cy="0"/>
        </a:xfrm>
      </p:grpSpPr>
      <p:sp>
        <p:nvSpPr>
          <p:cNvPr id="16" name="Google Shape;16;p1"/>
          <p:cNvSpPr/>
          <p:nvPr/>
        </p:nvSpPr>
        <p:spPr>
          <a:xfrm>
            <a:off x="731520" y="1097280"/>
            <a:ext cx="7680960" cy="10972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3600"/>
              <a:buFont typeface="Calibri"/>
              <a:buNone/>
            </a:pPr>
            <a:r>
              <a:rPr b="1" i="0" lang="en-US" sz="3600" u="none" cap="none" strike="noStrike">
                <a:solidFill>
                  <a:srgbClr val="FFFFFF"/>
                </a:solidFill>
                <a:latin typeface="Calibri"/>
                <a:ea typeface="Calibri"/>
                <a:cs typeface="Calibri"/>
                <a:sym typeface="Calibri"/>
              </a:rPr>
              <a:t>Constrained lead qualification</a:t>
            </a:r>
            <a:endParaRPr b="0" i="0" sz="3600" u="none" cap="none" strike="noStrike">
              <a:solidFill>
                <a:schemeClr val="dk1"/>
              </a:solidFill>
              <a:latin typeface="Calibri"/>
              <a:ea typeface="Calibri"/>
              <a:cs typeface="Calibri"/>
              <a:sym typeface="Calibri"/>
            </a:endParaRPr>
          </a:p>
        </p:txBody>
      </p:sp>
      <p:sp>
        <p:nvSpPr>
          <p:cNvPr id="17" name="Google Shape;17;p1"/>
          <p:cNvSpPr/>
          <p:nvPr/>
        </p:nvSpPr>
        <p:spPr>
          <a:xfrm>
            <a:off x="731520" y="2194560"/>
            <a:ext cx="768096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800"/>
              <a:buFont typeface="Calibri"/>
              <a:buNone/>
            </a:pPr>
            <a:r>
              <a:rPr b="0" i="1" lang="en-US" sz="1800" u="none" cap="none" strike="noStrike">
                <a:solidFill>
                  <a:srgbClr val="CADCFC"/>
                </a:solidFill>
                <a:latin typeface="Calibri"/>
                <a:ea typeface="Calibri"/>
                <a:cs typeface="Calibri"/>
                <a:sym typeface="Calibri"/>
              </a:rPr>
              <a:t>Does a separate qualification layer improve lead selection</a:t>
            </a:r>
            <a:endParaRPr b="0" i="0" sz="1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ADCFC"/>
              </a:buClr>
              <a:buSzPts val="1800"/>
              <a:buFont typeface="Calibri"/>
              <a:buNone/>
            </a:pPr>
            <a:r>
              <a:rPr b="0" i="1" lang="en-US" sz="1800" u="none" cap="none" strike="noStrike">
                <a:solidFill>
                  <a:srgbClr val="CADCFC"/>
                </a:solidFill>
                <a:latin typeface="Calibri"/>
                <a:ea typeface="Calibri"/>
                <a:cs typeface="Calibri"/>
                <a:sym typeface="Calibri"/>
              </a:rPr>
              <a:t>beyond predictive scoring alone?</a:t>
            </a:r>
            <a:endParaRPr b="0" i="0" sz="1800" u="none" cap="none" strike="noStrike">
              <a:solidFill>
                <a:schemeClr val="dk1"/>
              </a:solidFill>
              <a:latin typeface="Calibri"/>
              <a:ea typeface="Calibri"/>
              <a:cs typeface="Calibri"/>
              <a:sym typeface="Calibri"/>
            </a:endParaRPr>
          </a:p>
        </p:txBody>
      </p:sp>
      <p:cxnSp>
        <p:nvCxnSpPr>
          <p:cNvPr id="18" name="Google Shape;18;p1"/>
          <p:cNvCxnSpPr/>
          <p:nvPr/>
        </p:nvCxnSpPr>
        <p:spPr>
          <a:xfrm>
            <a:off x="731520" y="3200400"/>
            <a:ext cx="2286000" cy="0"/>
          </a:xfrm>
          <a:prstGeom prst="straightConnector1">
            <a:avLst/>
          </a:prstGeom>
          <a:noFill/>
          <a:ln cap="flat" cmpd="sng" w="38100">
            <a:solidFill>
              <a:srgbClr val="E8593C"/>
            </a:solidFill>
            <a:prstDash val="solid"/>
            <a:round/>
            <a:headEnd len="sm" w="sm" type="none"/>
            <a:tailEnd len="sm" w="sm" type="none"/>
          </a:ln>
        </p:spPr>
      </p:cxnSp>
      <p:sp>
        <p:nvSpPr>
          <p:cNvPr id="19" name="Google Shape;19;p1"/>
          <p:cNvSpPr/>
          <p:nvPr/>
        </p:nvSpPr>
        <p:spPr>
          <a:xfrm>
            <a:off x="731520" y="3474720"/>
            <a:ext cx="4572000"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30000"/>
              </a:lnSpc>
              <a:spcBef>
                <a:spcPts val="0"/>
              </a:spcBef>
              <a:spcAft>
                <a:spcPts val="0"/>
              </a:spcAft>
              <a:buClr>
                <a:srgbClr val="CADCFC"/>
              </a:buClr>
              <a:buSzPts val="1400"/>
              <a:buFont typeface="Calibri"/>
              <a:buNone/>
            </a:pPr>
            <a:r>
              <a:rPr b="0" i="0" lang="en-US" sz="1400" u="none" cap="none" strike="noStrike">
                <a:solidFill>
                  <a:srgbClr val="CADCFC"/>
                </a:solidFill>
                <a:latin typeface="Calibri"/>
                <a:ea typeface="Calibri"/>
                <a:cs typeface="Calibri"/>
                <a:sym typeface="Calibri"/>
              </a:rPr>
              <a:t>Michael Thomas</a:t>
            </a:r>
            <a:endParaRPr b="0" i="0" sz="1400" u="none" cap="none" strike="noStrike">
              <a:solidFill>
                <a:schemeClr val="dk1"/>
              </a:solidFill>
              <a:latin typeface="Calibri"/>
              <a:ea typeface="Calibri"/>
              <a:cs typeface="Calibri"/>
              <a:sym typeface="Calibri"/>
            </a:endParaRPr>
          </a:p>
          <a:p>
            <a:pPr indent="0" lvl="0" marL="0" marR="0" rtl="0" algn="l">
              <a:lnSpc>
                <a:spcPct val="130000"/>
              </a:lnSpc>
              <a:spcBef>
                <a:spcPts val="0"/>
              </a:spcBef>
              <a:spcAft>
                <a:spcPts val="0"/>
              </a:spcAft>
              <a:buClr>
                <a:srgbClr val="CADCFC"/>
              </a:buClr>
              <a:buSzPts val="1400"/>
              <a:buFont typeface="Calibri"/>
              <a:buNone/>
            </a:pPr>
            <a:r>
              <a:rPr b="0" i="0" lang="en-US" sz="1400" u="none" cap="none" strike="noStrike">
                <a:solidFill>
                  <a:srgbClr val="CADCFC"/>
                </a:solidFill>
                <a:latin typeface="Calibri"/>
                <a:ea typeface="Calibri"/>
                <a:cs typeface="Calibri"/>
                <a:sym typeface="Calibri"/>
              </a:rPr>
              <a:t>MSc Artificial Intelligence and Machine Learning</a:t>
            </a:r>
            <a:endParaRPr b="0" i="0" sz="1400" u="none" cap="none" strike="noStrike">
              <a:solidFill>
                <a:schemeClr val="dk1"/>
              </a:solidFill>
              <a:latin typeface="Calibri"/>
              <a:ea typeface="Calibri"/>
              <a:cs typeface="Calibri"/>
              <a:sym typeface="Calibri"/>
            </a:endParaRPr>
          </a:p>
          <a:p>
            <a:pPr indent="0" lvl="0" marL="0" marR="0" rtl="0" algn="l">
              <a:lnSpc>
                <a:spcPct val="130000"/>
              </a:lnSpc>
              <a:spcBef>
                <a:spcPts val="0"/>
              </a:spcBef>
              <a:spcAft>
                <a:spcPts val="0"/>
              </a:spcAft>
              <a:buClr>
                <a:srgbClr val="CADCFC"/>
              </a:buClr>
              <a:buSzPts val="1400"/>
              <a:buFont typeface="Calibri"/>
              <a:buNone/>
            </a:pPr>
            <a:r>
              <a:rPr b="0" i="0" lang="en-US" sz="1400" u="none" cap="none" strike="noStrike">
                <a:solidFill>
                  <a:srgbClr val="CADCFC"/>
                </a:solidFill>
                <a:latin typeface="Calibri"/>
                <a:ea typeface="Calibri"/>
                <a:cs typeface="Calibri"/>
                <a:sym typeface="Calibri"/>
              </a:rPr>
              <a:t>upGrad / IIT Bangalore / LJMU</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 name="Shape 24"/>
        <p:cNvGrpSpPr/>
        <p:nvPr/>
      </p:nvGrpSpPr>
      <p:grpSpPr>
        <a:xfrm>
          <a:off x="0" y="0"/>
          <a:ext cx="0" cy="0"/>
          <a:chOff x="0" y="0"/>
          <a:chExt cx="0" cy="0"/>
        </a:xfrm>
      </p:grpSpPr>
      <p:sp>
        <p:nvSpPr>
          <p:cNvPr id="25" name="Google Shape;25;p2"/>
          <p:cNvSpPr/>
          <p:nvPr/>
        </p:nvSpPr>
        <p:spPr>
          <a:xfrm>
            <a:off x="731520" y="365760"/>
            <a:ext cx="76809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2761"/>
              </a:buClr>
              <a:buSzPts val="3200"/>
              <a:buFont typeface="Calibri"/>
              <a:buNone/>
            </a:pPr>
            <a:r>
              <a:rPr b="1" i="0" lang="en-US" sz="3200" u="none" cap="none" strike="noStrike">
                <a:solidFill>
                  <a:srgbClr val="1E2761"/>
                </a:solidFill>
                <a:latin typeface="Calibri"/>
                <a:ea typeface="Calibri"/>
                <a:cs typeface="Calibri"/>
                <a:sym typeface="Calibri"/>
              </a:rPr>
              <a:t>The problem</a:t>
            </a:r>
            <a:endParaRPr b="0" i="0" sz="3200" u="none" cap="none" strike="noStrike">
              <a:solidFill>
                <a:schemeClr val="dk1"/>
              </a:solidFill>
              <a:latin typeface="Calibri"/>
              <a:ea typeface="Calibri"/>
              <a:cs typeface="Calibri"/>
              <a:sym typeface="Calibri"/>
            </a:endParaRPr>
          </a:p>
        </p:txBody>
      </p:sp>
      <p:sp>
        <p:nvSpPr>
          <p:cNvPr id="26" name="Google Shape;26;p2"/>
          <p:cNvSpPr/>
          <p:nvPr/>
        </p:nvSpPr>
        <p:spPr>
          <a:xfrm>
            <a:off x="1371600" y="1188720"/>
            <a:ext cx="2926080" cy="2011680"/>
          </a:xfrm>
          <a:prstGeom prst="roundRect">
            <a:avLst>
              <a:gd fmla="val 6818" name="adj"/>
            </a:avLst>
          </a:prstGeom>
          <a:solidFill>
            <a:srgbClr val="F2F4F8"/>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27" name="Google Shape;27;p2"/>
          <p:cNvPicPr preferRelativeResize="0"/>
          <p:nvPr/>
        </p:nvPicPr>
        <p:blipFill rotWithShape="1">
          <a:blip r:embed="rId3">
            <a:alphaModFix/>
          </a:blip>
          <a:srcRect b="0" l="0" r="0" t="0"/>
          <a:stretch/>
        </p:blipFill>
        <p:spPr>
          <a:xfrm>
            <a:off x="1554480" y="1371600"/>
            <a:ext cx="320040" cy="320040"/>
          </a:xfrm>
          <a:prstGeom prst="rect">
            <a:avLst/>
          </a:prstGeom>
          <a:noFill/>
          <a:ln>
            <a:noFill/>
          </a:ln>
        </p:spPr>
      </p:pic>
      <p:sp>
        <p:nvSpPr>
          <p:cNvPr id="28" name="Google Shape;28;p2"/>
          <p:cNvSpPr/>
          <p:nvPr/>
        </p:nvSpPr>
        <p:spPr>
          <a:xfrm>
            <a:off x="1371600" y="1737360"/>
            <a:ext cx="29260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593C"/>
              </a:buClr>
              <a:buSzPts val="4400"/>
              <a:buFont typeface="Calibri"/>
              <a:buNone/>
            </a:pPr>
            <a:r>
              <a:rPr b="1" i="0" lang="en-US" sz="4400" u="none" cap="none" strike="noStrike">
                <a:solidFill>
                  <a:srgbClr val="E8593C"/>
                </a:solidFill>
                <a:latin typeface="Calibri"/>
                <a:ea typeface="Calibri"/>
                <a:cs typeface="Calibri"/>
                <a:sym typeface="Calibri"/>
              </a:rPr>
              <a:t>90%</a:t>
            </a:r>
            <a:endParaRPr b="0" i="0" sz="4400" u="none" cap="none" strike="noStrike">
              <a:solidFill>
                <a:schemeClr val="dk1"/>
              </a:solidFill>
              <a:latin typeface="Calibri"/>
              <a:ea typeface="Calibri"/>
              <a:cs typeface="Calibri"/>
              <a:sym typeface="Calibri"/>
            </a:endParaRPr>
          </a:p>
        </p:txBody>
      </p:sp>
      <p:sp>
        <p:nvSpPr>
          <p:cNvPr id="29" name="Google Shape;29;p2"/>
          <p:cNvSpPr/>
          <p:nvPr/>
        </p:nvSpPr>
        <p:spPr>
          <a:xfrm>
            <a:off x="1371600" y="2377440"/>
            <a:ext cx="29260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400"/>
              <a:buFont typeface="Calibri"/>
              <a:buNone/>
            </a:pPr>
            <a:r>
              <a:rPr b="0" i="0" lang="en-US" sz="1400" u="none" cap="none" strike="noStrike">
                <a:solidFill>
                  <a:srgbClr val="64748B"/>
                </a:solidFill>
                <a:latin typeface="Calibri"/>
                <a:ea typeface="Calibri"/>
                <a:cs typeface="Calibri"/>
                <a:sym typeface="Calibri"/>
              </a:rPr>
              <a:t>of leads are</a:t>
            </a:r>
            <a:endParaRPr b="0" i="0" sz="14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4748B"/>
              </a:buClr>
              <a:buSzPts val="1400"/>
              <a:buFont typeface="Calibri"/>
              <a:buNone/>
            </a:pPr>
            <a:r>
              <a:rPr b="0" i="0" lang="en-US" sz="1400" u="none" cap="none" strike="noStrike">
                <a:solidFill>
                  <a:srgbClr val="64748B"/>
                </a:solidFill>
                <a:latin typeface="Calibri"/>
                <a:ea typeface="Calibri"/>
                <a:cs typeface="Calibri"/>
                <a:sym typeface="Calibri"/>
              </a:rPr>
              <a:t>eliminated</a:t>
            </a:r>
            <a:endParaRPr b="0" i="0" sz="1400" u="none" cap="none" strike="noStrike">
              <a:solidFill>
                <a:schemeClr val="dk1"/>
              </a:solidFill>
              <a:latin typeface="Calibri"/>
              <a:ea typeface="Calibri"/>
              <a:cs typeface="Calibri"/>
              <a:sym typeface="Calibri"/>
            </a:endParaRPr>
          </a:p>
        </p:txBody>
      </p:sp>
      <p:sp>
        <p:nvSpPr>
          <p:cNvPr id="30" name="Google Shape;30;p2"/>
          <p:cNvSpPr/>
          <p:nvPr/>
        </p:nvSpPr>
        <p:spPr>
          <a:xfrm>
            <a:off x="4846320" y="1188720"/>
            <a:ext cx="2926080" cy="2011680"/>
          </a:xfrm>
          <a:prstGeom prst="roundRect">
            <a:avLst>
              <a:gd fmla="val 6818" name="adj"/>
            </a:avLst>
          </a:prstGeom>
          <a:solidFill>
            <a:srgbClr val="F2F4F8"/>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1" name="Google Shape;31;p2"/>
          <p:cNvPicPr preferRelativeResize="0"/>
          <p:nvPr/>
        </p:nvPicPr>
        <p:blipFill rotWithShape="1">
          <a:blip r:embed="rId4">
            <a:alphaModFix/>
          </a:blip>
          <a:srcRect b="0" l="0" r="0" t="0"/>
          <a:stretch/>
        </p:blipFill>
        <p:spPr>
          <a:xfrm>
            <a:off x="5029200" y="1371600"/>
            <a:ext cx="320040" cy="320040"/>
          </a:xfrm>
          <a:prstGeom prst="rect">
            <a:avLst/>
          </a:prstGeom>
          <a:noFill/>
          <a:ln>
            <a:noFill/>
          </a:ln>
        </p:spPr>
      </p:pic>
      <p:sp>
        <p:nvSpPr>
          <p:cNvPr id="32" name="Google Shape;32;p2"/>
          <p:cNvSpPr/>
          <p:nvPr/>
        </p:nvSpPr>
        <p:spPr>
          <a:xfrm>
            <a:off x="4846320" y="1737360"/>
            <a:ext cx="29260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593C"/>
              </a:buClr>
              <a:buSzPts val="4400"/>
              <a:buFont typeface="Calibri"/>
              <a:buNone/>
            </a:pPr>
            <a:r>
              <a:rPr b="1" lang="en-US" sz="4400">
                <a:solidFill>
                  <a:srgbClr val="E8593C"/>
                </a:solidFill>
                <a:latin typeface="Calibri"/>
                <a:ea typeface="Calibri"/>
                <a:cs typeface="Calibri"/>
                <a:sym typeface="Calibri"/>
              </a:rPr>
              <a:t>1-6</a:t>
            </a:r>
            <a:r>
              <a:rPr b="1" i="0" lang="en-US" sz="4400" u="none" cap="none" strike="noStrike">
                <a:solidFill>
                  <a:srgbClr val="E8593C"/>
                </a:solidFill>
                <a:latin typeface="Calibri"/>
                <a:ea typeface="Calibri"/>
                <a:cs typeface="Calibri"/>
                <a:sym typeface="Calibri"/>
              </a:rPr>
              <a:t>%</a:t>
            </a:r>
            <a:endParaRPr b="0" i="0" sz="4400" u="none" cap="none" strike="noStrike">
              <a:solidFill>
                <a:schemeClr val="dk1"/>
              </a:solidFill>
              <a:latin typeface="Calibri"/>
              <a:ea typeface="Calibri"/>
              <a:cs typeface="Calibri"/>
              <a:sym typeface="Calibri"/>
            </a:endParaRPr>
          </a:p>
        </p:txBody>
      </p:sp>
      <p:sp>
        <p:nvSpPr>
          <p:cNvPr id="33" name="Google Shape;33;p2"/>
          <p:cNvSpPr/>
          <p:nvPr/>
        </p:nvSpPr>
        <p:spPr>
          <a:xfrm>
            <a:off x="4846320" y="2377440"/>
            <a:ext cx="29260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400"/>
              <a:buFont typeface="Calibri"/>
              <a:buNone/>
            </a:pPr>
            <a:r>
              <a:rPr lang="en-US">
                <a:solidFill>
                  <a:srgbClr val="64748B"/>
                </a:solidFill>
                <a:latin typeface="Calibri"/>
                <a:ea typeface="Calibri"/>
                <a:cs typeface="Calibri"/>
                <a:sym typeface="Calibri"/>
              </a:rPr>
              <a:t>become customers</a:t>
            </a:r>
            <a:endParaRPr b="0" i="0" sz="1400" u="none" cap="none" strike="noStrike">
              <a:solidFill>
                <a:schemeClr val="dk1"/>
              </a:solidFill>
              <a:latin typeface="Calibri"/>
              <a:ea typeface="Calibri"/>
              <a:cs typeface="Calibri"/>
              <a:sym typeface="Calibri"/>
            </a:endParaRPr>
          </a:p>
        </p:txBody>
      </p:sp>
      <p:sp>
        <p:nvSpPr>
          <p:cNvPr id="34" name="Google Shape;34;p2"/>
          <p:cNvSpPr/>
          <p:nvPr/>
        </p:nvSpPr>
        <p:spPr>
          <a:xfrm>
            <a:off x="731520" y="3566160"/>
            <a:ext cx="7680960" cy="7315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400"/>
              <a:buFont typeface="Calibri"/>
              <a:buNone/>
            </a:pPr>
            <a:r>
              <a:rPr b="0" i="1" lang="en-US" sz="1400" u="none" cap="none" strike="noStrike">
                <a:solidFill>
                  <a:srgbClr val="64748B"/>
                </a:solidFill>
                <a:latin typeface="Calibri"/>
                <a:ea typeface="Calibri"/>
                <a:cs typeface="Calibri"/>
                <a:sym typeface="Calibri"/>
              </a:rPr>
              <a:t>B2B sales teams operate under severe capacity constraints.</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400"/>
              <a:buFont typeface="Calibri"/>
              <a:buNone/>
            </a:pPr>
            <a:r>
              <a:rPr b="0" i="1" lang="en-US" sz="1400" u="none" cap="none" strike="noStrike">
                <a:solidFill>
                  <a:srgbClr val="64748B"/>
                </a:solidFill>
                <a:latin typeface="Calibri"/>
                <a:ea typeface="Calibri"/>
                <a:cs typeface="Calibri"/>
                <a:sym typeface="Calibri"/>
              </a:rPr>
              <a:t>Small differences in lead selection create large differences in revenue.</a:t>
            </a:r>
            <a:endParaRPr b="0" i="0" sz="1400" u="none" cap="none" strike="noStrike">
              <a:solidFill>
                <a:schemeClr val="dk1"/>
              </a:solidFill>
              <a:latin typeface="Calibri"/>
              <a:ea typeface="Calibri"/>
              <a:cs typeface="Calibri"/>
              <a:sym typeface="Calibri"/>
            </a:endParaRPr>
          </a:p>
        </p:txBody>
      </p:sp>
      <p:sp>
        <p:nvSpPr>
          <p:cNvPr id="35" name="Google Shape;35;p2"/>
          <p:cNvSpPr/>
          <p:nvPr/>
        </p:nvSpPr>
        <p:spPr>
          <a:xfrm>
            <a:off x="731520" y="4480560"/>
            <a:ext cx="768096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000"/>
              <a:buFont typeface="Calibri"/>
              <a:buNone/>
            </a:pPr>
            <a:r>
              <a:rPr b="0" i="0" lang="en-US" sz="1000" u="none" cap="none" strike="noStrike">
                <a:solidFill>
                  <a:srgbClr val="64748B"/>
                </a:solidFill>
                <a:latin typeface="Calibri"/>
                <a:ea typeface="Calibri"/>
                <a:cs typeface="Calibri"/>
                <a:sym typeface="Calibri"/>
              </a:rPr>
              <a:t>Sources: </a:t>
            </a:r>
            <a:r>
              <a:rPr lang="en-US" sz="1000">
                <a:solidFill>
                  <a:srgbClr val="64748B"/>
                </a:solidFill>
                <a:latin typeface="Calibri"/>
                <a:ea typeface="Calibri"/>
                <a:cs typeface="Calibri"/>
                <a:sym typeface="Calibri"/>
              </a:rPr>
              <a:t>Wu et al. (2024), </a:t>
            </a:r>
            <a:r>
              <a:rPr b="0" i="0" lang="en-US" sz="1000" u="none" cap="none" strike="noStrike">
                <a:solidFill>
                  <a:srgbClr val="64748B"/>
                </a:solidFill>
                <a:latin typeface="Calibri"/>
                <a:ea typeface="Calibri"/>
                <a:cs typeface="Calibri"/>
                <a:sym typeface="Calibri"/>
              </a:rPr>
              <a:t>Leite et al. (2025)</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 name="Shape 40"/>
        <p:cNvGrpSpPr/>
        <p:nvPr/>
      </p:nvGrpSpPr>
      <p:grpSpPr>
        <a:xfrm>
          <a:off x="0" y="0"/>
          <a:ext cx="0" cy="0"/>
          <a:chOff x="0" y="0"/>
          <a:chExt cx="0" cy="0"/>
        </a:xfrm>
      </p:grpSpPr>
      <p:sp>
        <p:nvSpPr>
          <p:cNvPr id="41" name="Google Shape;41;p3"/>
          <p:cNvSpPr/>
          <p:nvPr/>
        </p:nvSpPr>
        <p:spPr>
          <a:xfrm>
            <a:off x="731520" y="365760"/>
            <a:ext cx="768096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2761"/>
              </a:buClr>
              <a:buSzPts val="3200"/>
              <a:buFont typeface="Calibri"/>
              <a:buNone/>
            </a:pPr>
            <a:r>
              <a:rPr b="1" i="0" lang="en-US" sz="3200" u="none" cap="none" strike="noStrike">
                <a:solidFill>
                  <a:srgbClr val="1E2761"/>
                </a:solidFill>
                <a:latin typeface="Calibri"/>
                <a:ea typeface="Calibri"/>
                <a:cs typeface="Calibri"/>
                <a:sym typeface="Calibri"/>
              </a:rPr>
              <a:t>Practice vs research</a:t>
            </a:r>
            <a:endParaRPr b="0" i="0" sz="3200" u="none" cap="none" strike="noStrike">
              <a:solidFill>
                <a:schemeClr val="dk1"/>
              </a:solidFill>
              <a:latin typeface="Calibri"/>
              <a:ea typeface="Calibri"/>
              <a:cs typeface="Calibri"/>
              <a:sym typeface="Calibri"/>
            </a:endParaRPr>
          </a:p>
        </p:txBody>
      </p:sp>
      <p:sp>
        <p:nvSpPr>
          <p:cNvPr id="42" name="Google Shape;42;p3"/>
          <p:cNvSpPr/>
          <p:nvPr/>
        </p:nvSpPr>
        <p:spPr>
          <a:xfrm>
            <a:off x="731520" y="1188720"/>
            <a:ext cx="3657600" cy="2926080"/>
          </a:xfrm>
          <a:prstGeom prst="roundRect">
            <a:avLst>
              <a:gd fmla="val 4688" name="adj"/>
            </a:avLst>
          </a:prstGeom>
          <a:solidFill>
            <a:srgbClr val="F2F4F8"/>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3"/>
          <p:cNvSpPr/>
          <p:nvPr/>
        </p:nvSpPr>
        <p:spPr>
          <a:xfrm>
            <a:off x="731520" y="1280160"/>
            <a:ext cx="365760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2761"/>
              </a:buClr>
              <a:buSzPts val="1600"/>
              <a:buFont typeface="Calibri"/>
              <a:buNone/>
            </a:pPr>
            <a:r>
              <a:rPr b="1" i="0" lang="en-US" sz="1600" u="none" cap="none" strike="noStrike">
                <a:solidFill>
                  <a:srgbClr val="1E2761"/>
                </a:solidFill>
                <a:latin typeface="Calibri"/>
                <a:ea typeface="Calibri"/>
                <a:cs typeface="Calibri"/>
                <a:sym typeface="Calibri"/>
              </a:rPr>
              <a:t>How firms actually work</a:t>
            </a:r>
            <a:endParaRPr b="0" i="0" sz="1600" u="none" cap="none" strike="noStrike">
              <a:solidFill>
                <a:schemeClr val="dk1"/>
              </a:solidFill>
              <a:latin typeface="Calibri"/>
              <a:ea typeface="Calibri"/>
              <a:cs typeface="Calibri"/>
              <a:sym typeface="Calibri"/>
            </a:endParaRPr>
          </a:p>
        </p:txBody>
      </p:sp>
      <p:sp>
        <p:nvSpPr>
          <p:cNvPr id="44" name="Google Shape;44;p3"/>
          <p:cNvSpPr/>
          <p:nvPr/>
        </p:nvSpPr>
        <p:spPr>
          <a:xfrm>
            <a:off x="1005840" y="1828800"/>
            <a:ext cx="3200400" cy="2011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F1B3D"/>
              </a:buClr>
              <a:buSzPts val="1400"/>
              <a:buFont typeface="Calibri"/>
              <a:buNone/>
            </a:pPr>
            <a:r>
              <a:rPr b="1" i="0" lang="en-US" sz="1400" u="none" cap="none" strike="noStrike">
                <a:solidFill>
                  <a:srgbClr val="0F1B3D"/>
                </a:solidFill>
                <a:latin typeface="Calibri"/>
                <a:ea typeface="Calibri"/>
                <a:cs typeface="Calibri"/>
                <a:sym typeface="Calibri"/>
              </a:rPr>
              <a:t>Step 1: Lead scoring</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Marketing technology ranks leads by</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predicted conversion likelihood</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B3D"/>
              </a:buClr>
              <a:buSzPts val="1400"/>
              <a:buFont typeface="Calibri"/>
              <a:buNone/>
            </a:pPr>
            <a:r>
              <a:rPr b="1" i="0" lang="en-US" sz="1400" u="none" cap="none" strike="noStrike">
                <a:solidFill>
                  <a:srgbClr val="0F1B3D"/>
                </a:solidFill>
                <a:latin typeface="Calibri"/>
                <a:ea typeface="Calibri"/>
                <a:cs typeface="Calibri"/>
                <a:sym typeface="Calibri"/>
              </a:rPr>
              <a:t>Step 2: Lead qualification</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Sales teams re-rank leads using BANT</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criteria gathered through SDR interaction</a:t>
            </a:r>
            <a:endParaRPr b="0" i="0" sz="1400" u="none" cap="none" strike="noStrike">
              <a:solidFill>
                <a:schemeClr val="dk1"/>
              </a:solidFill>
              <a:latin typeface="Calibri"/>
              <a:ea typeface="Calibri"/>
              <a:cs typeface="Calibri"/>
              <a:sym typeface="Calibri"/>
            </a:endParaRPr>
          </a:p>
        </p:txBody>
      </p:sp>
      <p:sp>
        <p:nvSpPr>
          <p:cNvPr id="45" name="Google Shape;45;p3"/>
          <p:cNvSpPr/>
          <p:nvPr/>
        </p:nvSpPr>
        <p:spPr>
          <a:xfrm>
            <a:off x="4754880" y="1188720"/>
            <a:ext cx="3657600" cy="2926080"/>
          </a:xfrm>
          <a:prstGeom prst="roundRect">
            <a:avLst>
              <a:gd fmla="val 4688" name="adj"/>
            </a:avLst>
          </a:prstGeom>
          <a:solidFill>
            <a:srgbClr val="F2F4F8"/>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3"/>
          <p:cNvSpPr/>
          <p:nvPr/>
        </p:nvSpPr>
        <p:spPr>
          <a:xfrm>
            <a:off x="4754880" y="1280160"/>
            <a:ext cx="365760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2761"/>
              </a:buClr>
              <a:buSzPts val="1600"/>
              <a:buFont typeface="Calibri"/>
              <a:buNone/>
            </a:pPr>
            <a:r>
              <a:rPr b="1" i="0" lang="en-US" sz="1600" u="none" cap="none" strike="noStrike">
                <a:solidFill>
                  <a:srgbClr val="1E2761"/>
                </a:solidFill>
                <a:latin typeface="Calibri"/>
                <a:ea typeface="Calibri"/>
                <a:cs typeface="Calibri"/>
                <a:sym typeface="Calibri"/>
              </a:rPr>
              <a:t>How research models it</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029200" y="1828800"/>
            <a:ext cx="3200400" cy="2011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0F1B3D"/>
              </a:buClr>
              <a:buSzPts val="1400"/>
              <a:buFont typeface="Calibri"/>
              <a:buNone/>
            </a:pPr>
            <a:r>
              <a:rPr b="1" i="0" lang="en-US" sz="1400" u="none" cap="none" strike="noStrike">
                <a:solidFill>
                  <a:srgbClr val="0F1B3D"/>
                </a:solidFill>
                <a:latin typeface="Calibri"/>
                <a:ea typeface="Calibri"/>
                <a:cs typeface="Calibri"/>
                <a:sym typeface="Calibri"/>
              </a:rPr>
              <a:t>Single-step prediction</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Scoring and qualification features</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combined into one model</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8593C"/>
              </a:buClr>
              <a:buSzPts val="1400"/>
              <a:buFont typeface="Calibri"/>
              <a:buNone/>
            </a:pPr>
            <a:r>
              <a:rPr b="1" i="0" lang="en-US" sz="1400" u="none" cap="none" strike="noStrike">
                <a:solidFill>
                  <a:srgbClr val="E8593C"/>
                </a:solidFill>
                <a:latin typeface="Calibri"/>
                <a:ea typeface="Calibri"/>
                <a:cs typeface="Calibri"/>
                <a:sym typeface="Calibri"/>
              </a:rPr>
              <a:t>The gap</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Qualification info is gathered after scoring</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and is not written back to the CRM.</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The integrated model is not available.</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761"/>
        </a:solidFill>
      </p:bgPr>
    </p:bg>
    <p:spTree>
      <p:nvGrpSpPr>
        <p:cNvPr id="52" name="Shape 52"/>
        <p:cNvGrpSpPr/>
        <p:nvPr/>
      </p:nvGrpSpPr>
      <p:grpSpPr>
        <a:xfrm>
          <a:off x="0" y="0"/>
          <a:ext cx="0" cy="0"/>
          <a:chOff x="0" y="0"/>
          <a:chExt cx="0" cy="0"/>
        </a:xfrm>
      </p:grpSpPr>
      <p:pic>
        <p:nvPicPr>
          <p:cNvPr descr="preencoded.png" id="53" name="Google Shape;53;p4"/>
          <p:cNvPicPr preferRelativeResize="0"/>
          <p:nvPr/>
        </p:nvPicPr>
        <p:blipFill rotWithShape="1">
          <a:blip r:embed="rId3">
            <a:alphaModFix/>
          </a:blip>
          <a:srcRect b="0" l="0" r="0" t="0"/>
          <a:stretch/>
        </p:blipFill>
        <p:spPr>
          <a:xfrm>
            <a:off x="731520" y="548640"/>
            <a:ext cx="457200" cy="457200"/>
          </a:xfrm>
          <a:prstGeom prst="rect">
            <a:avLst/>
          </a:prstGeom>
          <a:noFill/>
          <a:ln>
            <a:noFill/>
          </a:ln>
        </p:spPr>
      </p:pic>
      <p:sp>
        <p:nvSpPr>
          <p:cNvPr id="54" name="Google Shape;54;p4"/>
          <p:cNvSpPr/>
          <p:nvPr/>
        </p:nvSpPr>
        <p:spPr>
          <a:xfrm>
            <a:off x="1371600" y="502920"/>
            <a:ext cx="64008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Calibri"/>
              <a:buNone/>
            </a:pPr>
            <a:r>
              <a:rPr b="1" i="0" lang="en-US" sz="2800" u="none" cap="none" strike="noStrike">
                <a:solidFill>
                  <a:srgbClr val="FFFFFF"/>
                </a:solidFill>
                <a:latin typeface="Calibri"/>
                <a:ea typeface="Calibri"/>
                <a:cs typeface="Calibri"/>
                <a:sym typeface="Calibri"/>
              </a:rPr>
              <a:t>Research question</a:t>
            </a:r>
            <a:endParaRPr b="0" i="0" sz="2800" u="none" cap="none" strike="noStrike">
              <a:solidFill>
                <a:schemeClr val="dk1"/>
              </a:solidFill>
              <a:latin typeface="Calibri"/>
              <a:ea typeface="Calibri"/>
              <a:cs typeface="Calibri"/>
              <a:sym typeface="Calibri"/>
            </a:endParaRPr>
          </a:p>
        </p:txBody>
      </p:sp>
      <p:sp>
        <p:nvSpPr>
          <p:cNvPr id="55" name="Google Shape;55;p4"/>
          <p:cNvSpPr/>
          <p:nvPr/>
        </p:nvSpPr>
        <p:spPr>
          <a:xfrm>
            <a:off x="731520" y="1371600"/>
            <a:ext cx="7680960" cy="1280160"/>
          </a:xfrm>
          <a:prstGeom prst="roundRect">
            <a:avLst>
              <a:gd fmla="val 8571" name="adj"/>
            </a:avLst>
          </a:prstGeom>
          <a:solidFill>
            <a:srgbClr val="24338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p4"/>
          <p:cNvSpPr/>
          <p:nvPr/>
        </p:nvSpPr>
        <p:spPr>
          <a:xfrm>
            <a:off x="914400" y="1463040"/>
            <a:ext cx="7315200" cy="10972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Calibri"/>
              <a:buNone/>
            </a:pPr>
            <a:r>
              <a:rPr b="0" i="1" lang="en-US" sz="1600" u="none" cap="none" strike="noStrike">
                <a:solidFill>
                  <a:srgbClr val="FFFFFF"/>
                </a:solidFill>
                <a:latin typeface="Calibri"/>
                <a:ea typeface="Calibri"/>
                <a:cs typeface="Calibri"/>
                <a:sym typeface="Calibri"/>
              </a:rPr>
              <a:t>When a sales team can follow up only K leads, does adding a</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600"/>
              <a:buFont typeface="Calibri"/>
              <a:buNone/>
            </a:pPr>
            <a:r>
              <a:rPr b="0" i="1" lang="en-US" sz="1600" u="none" cap="none" strike="noStrike">
                <a:solidFill>
                  <a:srgbClr val="FFFFFF"/>
                </a:solidFill>
                <a:latin typeface="Calibri"/>
                <a:ea typeface="Calibri"/>
                <a:cs typeface="Calibri"/>
                <a:sym typeface="Calibri"/>
              </a:rPr>
              <a:t>qualification layer on top of an operationally defensible</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600"/>
              <a:buFont typeface="Calibri"/>
              <a:buNone/>
            </a:pPr>
            <a:r>
              <a:rPr b="0" i="1" lang="en-US" sz="1600" u="none" cap="none" strike="noStrike">
                <a:solidFill>
                  <a:srgbClr val="FFFFFF"/>
                </a:solidFill>
                <a:latin typeface="Calibri"/>
                <a:ea typeface="Calibri"/>
                <a:cs typeface="Calibri"/>
                <a:sym typeface="Calibri"/>
              </a:rPr>
              <a:t>lead-scoring model produce better outcomes</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600"/>
              <a:buFont typeface="Calibri"/>
              <a:buNone/>
            </a:pPr>
            <a:r>
              <a:rPr b="0" i="1" lang="en-US" sz="1600" u="none" cap="none" strike="noStrike">
                <a:solidFill>
                  <a:srgbClr val="FFFFFF"/>
                </a:solidFill>
                <a:latin typeface="Calibri"/>
                <a:ea typeface="Calibri"/>
                <a:cs typeface="Calibri"/>
                <a:sym typeface="Calibri"/>
              </a:rPr>
              <a:t>than the scoring model alone?</a:t>
            </a:r>
            <a:endParaRPr b="0" i="0" sz="1600" u="none" cap="none" strike="noStrike">
              <a:solidFill>
                <a:schemeClr val="dk1"/>
              </a:solidFill>
              <a:latin typeface="Calibri"/>
              <a:ea typeface="Calibri"/>
              <a:cs typeface="Calibri"/>
              <a:sym typeface="Calibri"/>
            </a:endParaRPr>
          </a:p>
        </p:txBody>
      </p:sp>
      <p:sp>
        <p:nvSpPr>
          <p:cNvPr id="57" name="Google Shape;57;p4"/>
          <p:cNvSpPr/>
          <p:nvPr/>
        </p:nvSpPr>
        <p:spPr>
          <a:xfrm>
            <a:off x="914400" y="2926080"/>
            <a:ext cx="7315200" cy="1828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400"/>
              <a:buFont typeface="Calibri"/>
              <a:buNone/>
            </a:pPr>
            <a:r>
              <a:rPr b="1" i="0" lang="en-US" sz="1400" u="none" cap="none" strike="noStrike">
                <a:solidFill>
                  <a:srgbClr val="CADCFC"/>
                </a:solidFill>
                <a:latin typeface="Calibri"/>
                <a:ea typeface="Calibri"/>
                <a:cs typeface="Calibri"/>
                <a:sym typeface="Calibri"/>
              </a:rPr>
              <a:t>SQ1  </a:t>
            </a:r>
            <a:r>
              <a:rPr b="0" i="0" lang="en-US" sz="1400" u="none" cap="none" strike="noStrike">
                <a:solidFill>
                  <a:srgbClr val="FFFFFF"/>
                </a:solidFill>
                <a:latin typeface="Calibri"/>
                <a:ea typeface="Calibri"/>
                <a:cs typeface="Calibri"/>
                <a:sym typeface="Calibri"/>
              </a:rPr>
              <a:t>Does the qualification layer improve conversion rate?</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ADCFC"/>
              </a:buClr>
              <a:buSzPts val="1400"/>
              <a:buFont typeface="Calibri"/>
              <a:buNone/>
            </a:pPr>
            <a:r>
              <a:rPr b="1" i="0" lang="en-US" sz="1400" u="none" cap="none" strike="noStrike">
                <a:solidFill>
                  <a:srgbClr val="CADCFC"/>
                </a:solidFill>
                <a:latin typeface="Calibri"/>
                <a:ea typeface="Calibri"/>
                <a:cs typeface="Calibri"/>
                <a:sym typeface="Calibri"/>
              </a:rPr>
              <a:t>SQ2  </a:t>
            </a:r>
            <a:r>
              <a:rPr b="0" i="0" lang="en-US" sz="1400" u="none" cap="none" strike="noStrike">
                <a:solidFill>
                  <a:srgbClr val="FFFFFF"/>
                </a:solidFill>
                <a:latin typeface="Calibri"/>
                <a:ea typeface="Calibri"/>
                <a:cs typeface="Calibri"/>
                <a:sym typeface="Calibri"/>
              </a:rPr>
              <a:t>Is the improvement robust to how the signal is applied</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400"/>
              <a:buFont typeface="Calibri"/>
              <a:buNone/>
            </a:pPr>
            <a:r>
              <a:rPr b="0" i="0" lang="en-US" sz="1400" u="none" cap="none" strike="noStrike">
                <a:solidFill>
                  <a:srgbClr val="FFFFFF"/>
                </a:solidFill>
                <a:latin typeface="Calibri"/>
                <a:ea typeface="Calibri"/>
                <a:cs typeface="Calibri"/>
                <a:sym typeface="Calibri"/>
              </a:rPr>
              <a:t>        (hard tiers vs continuous blend)?</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400"/>
              <a:buFont typeface="Calibri"/>
              <a:buNone/>
            </a:pPr>
            <a:r>
              <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ADCFC"/>
              </a:buClr>
              <a:buSzPts val="1400"/>
              <a:buFont typeface="Calibri"/>
              <a:buNone/>
            </a:pPr>
            <a:r>
              <a:rPr b="1" i="0" lang="en-US" sz="1400" u="none" cap="none" strike="noStrike">
                <a:solidFill>
                  <a:srgbClr val="CADCFC"/>
                </a:solidFill>
                <a:latin typeface="Calibri"/>
                <a:ea typeface="Calibri"/>
                <a:cs typeface="Calibri"/>
                <a:sym typeface="Calibri"/>
              </a:rPr>
              <a:t>SQ3  </a:t>
            </a:r>
            <a:r>
              <a:rPr b="0" i="0" lang="en-US" sz="1400" u="none" cap="none" strike="noStrike">
                <a:solidFill>
                  <a:srgbClr val="FFFFFF"/>
                </a:solidFill>
                <a:latin typeface="Calibri"/>
                <a:ea typeface="Calibri"/>
                <a:cs typeface="Calibri"/>
                <a:sym typeface="Calibri"/>
              </a:rPr>
              <a:t>Is the improvement robust across different capacity</a:t>
            </a:r>
            <a:endParaRPr b="0" i="0" sz="14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400"/>
              <a:buFont typeface="Calibri"/>
              <a:buNone/>
            </a:pPr>
            <a:r>
              <a:rPr b="0" i="0" lang="en-US" sz="1400" u="none" cap="none" strike="noStrike">
                <a:solidFill>
                  <a:srgbClr val="FFFFFF"/>
                </a:solidFill>
                <a:latin typeface="Calibri"/>
                <a:ea typeface="Calibri"/>
                <a:cs typeface="Calibri"/>
                <a:sym typeface="Calibri"/>
              </a:rPr>
              <a:t>        assumptions (varying K)?</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 name="Shape 62"/>
        <p:cNvGrpSpPr/>
        <p:nvPr/>
      </p:nvGrpSpPr>
      <p:grpSpPr>
        <a:xfrm>
          <a:off x="0" y="0"/>
          <a:ext cx="0" cy="0"/>
          <a:chOff x="0" y="0"/>
          <a:chExt cx="0" cy="0"/>
        </a:xfrm>
      </p:grpSpPr>
      <p:sp>
        <p:nvSpPr>
          <p:cNvPr id="63" name="Google Shape;63;p5"/>
          <p:cNvSpPr/>
          <p:nvPr/>
        </p:nvSpPr>
        <p:spPr>
          <a:xfrm>
            <a:off x="731520" y="274320"/>
            <a:ext cx="768096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2761"/>
              </a:buClr>
              <a:buSzPts val="2800"/>
              <a:buFont typeface="Calibri"/>
              <a:buNone/>
            </a:pPr>
            <a:r>
              <a:rPr b="1" i="0" lang="en-US" sz="2800" u="none" cap="none" strike="noStrike">
                <a:solidFill>
                  <a:srgbClr val="1E2761"/>
                </a:solidFill>
                <a:latin typeface="Calibri"/>
                <a:ea typeface="Calibri"/>
                <a:cs typeface="Calibri"/>
                <a:sym typeface="Calibri"/>
              </a:rPr>
              <a:t>Literature review</a:t>
            </a:r>
            <a:endParaRPr b="0" i="0" sz="2800" u="none" cap="none" strike="noStrike">
              <a:solidFill>
                <a:schemeClr val="dk1"/>
              </a:solidFill>
              <a:latin typeface="Calibri"/>
              <a:ea typeface="Calibri"/>
              <a:cs typeface="Calibri"/>
              <a:sym typeface="Calibri"/>
            </a:endParaRPr>
          </a:p>
        </p:txBody>
      </p:sp>
      <p:sp>
        <p:nvSpPr>
          <p:cNvPr id="64" name="Google Shape;64;p5"/>
          <p:cNvSpPr/>
          <p:nvPr/>
        </p:nvSpPr>
        <p:spPr>
          <a:xfrm>
            <a:off x="731520" y="731520"/>
            <a:ext cx="768096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400"/>
              <a:buFont typeface="Calibri"/>
              <a:buNone/>
            </a:pPr>
            <a:r>
              <a:rPr b="0" i="1" lang="en-US" sz="1400" u="none" cap="none" strike="noStrike">
                <a:solidFill>
                  <a:srgbClr val="64748B"/>
                </a:solidFill>
                <a:latin typeface="Calibri"/>
                <a:ea typeface="Calibri"/>
                <a:cs typeface="Calibri"/>
                <a:sym typeface="Calibri"/>
              </a:rPr>
              <a:t>Four approaches to lead selection under capacity constraints</a:t>
            </a:r>
            <a:endParaRPr b="0" i="0" sz="1400" u="none" cap="none" strike="noStrike">
              <a:solidFill>
                <a:schemeClr val="dk1"/>
              </a:solidFill>
              <a:latin typeface="Calibri"/>
              <a:ea typeface="Calibri"/>
              <a:cs typeface="Calibri"/>
              <a:sym typeface="Calibri"/>
            </a:endParaRPr>
          </a:p>
        </p:txBody>
      </p:sp>
      <p:sp>
        <p:nvSpPr>
          <p:cNvPr id="65" name="Google Shape;65;p5"/>
          <p:cNvSpPr/>
          <p:nvPr/>
        </p:nvSpPr>
        <p:spPr>
          <a:xfrm>
            <a:off x="731520" y="1234440"/>
            <a:ext cx="3840480"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2761"/>
              </a:buClr>
              <a:buSzPts val="1100"/>
              <a:buFont typeface="Calibri"/>
              <a:buNone/>
            </a:pPr>
            <a:r>
              <a:rPr b="1" i="0" lang="en-US" sz="1100" u="none" cap="none" strike="noStrike">
                <a:solidFill>
                  <a:srgbClr val="1E2761"/>
                </a:solidFill>
                <a:latin typeface="Calibri"/>
                <a:ea typeface="Calibri"/>
                <a:cs typeface="Calibri"/>
                <a:sym typeface="Calibri"/>
              </a:rPr>
              <a:t>Improving information</a:t>
            </a:r>
            <a:endParaRPr b="0" i="0" sz="1100" u="none" cap="none" strike="noStrike">
              <a:solidFill>
                <a:schemeClr val="dk1"/>
              </a:solidFill>
              <a:latin typeface="Calibri"/>
              <a:ea typeface="Calibri"/>
              <a:cs typeface="Calibri"/>
              <a:sym typeface="Calibri"/>
            </a:endParaRPr>
          </a:p>
        </p:txBody>
      </p:sp>
      <p:sp>
        <p:nvSpPr>
          <p:cNvPr id="66" name="Google Shape;66;p5"/>
          <p:cNvSpPr/>
          <p:nvPr/>
        </p:nvSpPr>
        <p:spPr>
          <a:xfrm>
            <a:off x="4572000" y="1234440"/>
            <a:ext cx="3840480" cy="3200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E8593C"/>
              </a:buClr>
              <a:buSzPts val="1100"/>
              <a:buFont typeface="Calibri"/>
              <a:buNone/>
            </a:pPr>
            <a:r>
              <a:rPr b="1" i="0" lang="en-US" sz="1100" u="none" cap="none" strike="noStrike">
                <a:solidFill>
                  <a:srgbClr val="E8593C"/>
                </a:solidFill>
                <a:latin typeface="Calibri"/>
                <a:ea typeface="Calibri"/>
                <a:cs typeface="Calibri"/>
                <a:sym typeface="Calibri"/>
              </a:rPr>
              <a:t>Improving decisions</a:t>
            </a:r>
            <a:endParaRPr b="0" i="0" sz="1100" u="none" cap="none" strike="noStrike">
              <a:solidFill>
                <a:schemeClr val="dk1"/>
              </a:solidFill>
              <a:latin typeface="Calibri"/>
              <a:ea typeface="Calibri"/>
              <a:cs typeface="Calibri"/>
              <a:sym typeface="Calibri"/>
            </a:endParaRPr>
          </a:p>
        </p:txBody>
      </p:sp>
      <p:sp>
        <p:nvSpPr>
          <p:cNvPr id="67" name="Google Shape;67;p5"/>
          <p:cNvSpPr/>
          <p:nvPr/>
        </p:nvSpPr>
        <p:spPr>
          <a:xfrm>
            <a:off x="731520" y="1600200"/>
            <a:ext cx="1737360" cy="2011680"/>
          </a:xfrm>
          <a:prstGeom prst="roundRect">
            <a:avLst>
              <a:gd fmla="val 6316" name="adj"/>
            </a:avLst>
          </a:prstGeom>
          <a:solidFill>
            <a:srgbClr val="E8EDF5"/>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5"/>
          <p:cNvSpPr/>
          <p:nvPr/>
        </p:nvSpPr>
        <p:spPr>
          <a:xfrm>
            <a:off x="731520" y="1691640"/>
            <a:ext cx="173736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1B3D"/>
              </a:buClr>
              <a:buSzPts val="1300"/>
              <a:buFont typeface="Calibri"/>
              <a:buNone/>
            </a:pPr>
            <a:r>
              <a:rPr b="1" i="0" lang="en-US" sz="1300" u="none" cap="none" strike="noStrike">
                <a:solidFill>
                  <a:srgbClr val="0F1B3D"/>
                </a:solidFill>
                <a:latin typeface="Calibri"/>
                <a:ea typeface="Calibri"/>
                <a:cs typeface="Calibri"/>
                <a:sym typeface="Calibri"/>
              </a:rPr>
              <a:t>Predictive</a:t>
            </a:r>
            <a:endParaRPr b="0" i="0" sz="13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F1B3D"/>
              </a:buClr>
              <a:buSzPts val="1300"/>
              <a:buFont typeface="Calibri"/>
              <a:buNone/>
            </a:pPr>
            <a:r>
              <a:rPr b="1" i="0" lang="en-US" sz="1300" u="none" cap="none" strike="noStrike">
                <a:solidFill>
                  <a:srgbClr val="0F1B3D"/>
                </a:solidFill>
                <a:latin typeface="Calibri"/>
                <a:ea typeface="Calibri"/>
                <a:cs typeface="Calibri"/>
                <a:sym typeface="Calibri"/>
              </a:rPr>
              <a:t>scoring</a:t>
            </a:r>
            <a:endParaRPr b="0" i="0" sz="1300" u="none" cap="none" strike="noStrike">
              <a:solidFill>
                <a:schemeClr val="dk1"/>
              </a:solidFill>
              <a:latin typeface="Calibri"/>
              <a:ea typeface="Calibri"/>
              <a:cs typeface="Calibri"/>
              <a:sym typeface="Calibri"/>
            </a:endParaRPr>
          </a:p>
        </p:txBody>
      </p:sp>
      <p:sp>
        <p:nvSpPr>
          <p:cNvPr id="69" name="Google Shape;69;p5"/>
          <p:cNvSpPr/>
          <p:nvPr/>
        </p:nvSpPr>
        <p:spPr>
          <a:xfrm>
            <a:off x="731520" y="2377440"/>
            <a:ext cx="17373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ML models rank</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by conversion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probability</a:t>
            </a:r>
            <a:endParaRPr b="0" i="0" sz="1100" u="none" cap="none" strike="noStrike">
              <a:solidFill>
                <a:schemeClr val="dk1"/>
              </a:solidFill>
              <a:latin typeface="Calibri"/>
              <a:ea typeface="Calibri"/>
              <a:cs typeface="Calibri"/>
              <a:sym typeface="Calibri"/>
            </a:endParaRPr>
          </a:p>
        </p:txBody>
      </p:sp>
      <p:sp>
        <p:nvSpPr>
          <p:cNvPr id="70" name="Google Shape;70;p5"/>
          <p:cNvSpPr/>
          <p:nvPr/>
        </p:nvSpPr>
        <p:spPr>
          <a:xfrm>
            <a:off x="2743200" y="1600200"/>
            <a:ext cx="1737360" cy="2011680"/>
          </a:xfrm>
          <a:prstGeom prst="roundRect">
            <a:avLst>
              <a:gd fmla="val 6316" name="adj"/>
            </a:avLst>
          </a:prstGeom>
          <a:solidFill>
            <a:srgbClr val="E8EDF5"/>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 name="Google Shape;71;p5"/>
          <p:cNvSpPr/>
          <p:nvPr/>
        </p:nvSpPr>
        <p:spPr>
          <a:xfrm>
            <a:off x="2743200" y="1691640"/>
            <a:ext cx="173736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1B3D"/>
              </a:buClr>
              <a:buSzPts val="1300"/>
              <a:buFont typeface="Calibri"/>
              <a:buNone/>
            </a:pPr>
            <a:r>
              <a:rPr b="1" i="0" lang="en-US" sz="1300" u="none" cap="none" strike="noStrike">
                <a:solidFill>
                  <a:srgbClr val="0F1B3D"/>
                </a:solidFill>
                <a:latin typeface="Calibri"/>
                <a:ea typeface="Calibri"/>
                <a:cs typeface="Calibri"/>
                <a:sym typeface="Calibri"/>
              </a:rPr>
              <a:t>Predict-then-</a:t>
            </a:r>
            <a:endParaRPr b="0" i="0" sz="13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F1B3D"/>
              </a:buClr>
              <a:buSzPts val="1300"/>
              <a:buFont typeface="Calibri"/>
              <a:buNone/>
            </a:pPr>
            <a:r>
              <a:rPr b="1" i="0" lang="en-US" sz="1300" u="none" cap="none" strike="noStrike">
                <a:solidFill>
                  <a:srgbClr val="0F1B3D"/>
                </a:solidFill>
                <a:latin typeface="Calibri"/>
                <a:ea typeface="Calibri"/>
                <a:cs typeface="Calibri"/>
                <a:sym typeface="Calibri"/>
              </a:rPr>
              <a:t>optimise</a:t>
            </a:r>
            <a:endParaRPr b="0" i="0" sz="1300" u="none" cap="none" strike="noStrike">
              <a:solidFill>
                <a:schemeClr val="dk1"/>
              </a:solidFill>
              <a:latin typeface="Calibri"/>
              <a:ea typeface="Calibri"/>
              <a:cs typeface="Calibri"/>
              <a:sym typeface="Calibri"/>
            </a:endParaRPr>
          </a:p>
        </p:txBody>
      </p:sp>
      <p:sp>
        <p:nvSpPr>
          <p:cNvPr id="72" name="Google Shape;72;p5"/>
          <p:cNvSpPr/>
          <p:nvPr/>
        </p:nvSpPr>
        <p:spPr>
          <a:xfrm>
            <a:off x="2743200" y="2377440"/>
            <a:ext cx="17373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Optimisation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over predictions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under constraints</a:t>
            </a:r>
            <a:endParaRPr b="0" i="0" sz="1100" u="none" cap="none" strike="noStrike">
              <a:solidFill>
                <a:schemeClr val="dk1"/>
              </a:solidFill>
              <a:latin typeface="Calibri"/>
              <a:ea typeface="Calibri"/>
              <a:cs typeface="Calibri"/>
              <a:sym typeface="Calibri"/>
            </a:endParaRPr>
          </a:p>
        </p:txBody>
      </p:sp>
      <p:sp>
        <p:nvSpPr>
          <p:cNvPr id="73" name="Google Shape;73;p5"/>
          <p:cNvSpPr/>
          <p:nvPr/>
        </p:nvSpPr>
        <p:spPr>
          <a:xfrm>
            <a:off x="4754880" y="1600200"/>
            <a:ext cx="1737360" cy="2011680"/>
          </a:xfrm>
          <a:prstGeom prst="roundRect">
            <a:avLst>
              <a:gd fmla="val 6316" name="adj"/>
            </a:avLst>
          </a:prstGeom>
          <a:solidFill>
            <a:srgbClr val="FFF0EB"/>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5"/>
          <p:cNvSpPr/>
          <p:nvPr/>
        </p:nvSpPr>
        <p:spPr>
          <a:xfrm>
            <a:off x="4754880" y="1691640"/>
            <a:ext cx="173736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1B3D"/>
              </a:buClr>
              <a:buSzPts val="1300"/>
              <a:buFont typeface="Calibri"/>
              <a:buNone/>
            </a:pPr>
            <a:r>
              <a:rPr b="1" i="0" lang="en-US" sz="1300" u="none" cap="none" strike="noStrike">
                <a:solidFill>
                  <a:srgbClr val="0F1B3D"/>
                </a:solidFill>
                <a:latin typeface="Calibri"/>
                <a:ea typeface="Calibri"/>
                <a:cs typeface="Calibri"/>
                <a:sym typeface="Calibri"/>
              </a:rPr>
              <a:t>Hard</a:t>
            </a:r>
            <a:endParaRPr b="0" i="0" sz="13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F1B3D"/>
              </a:buClr>
              <a:buSzPts val="1300"/>
              <a:buFont typeface="Calibri"/>
              <a:buNone/>
            </a:pPr>
            <a:r>
              <a:rPr b="1" i="0" lang="en-US" sz="1300" u="none" cap="none" strike="noStrike">
                <a:solidFill>
                  <a:srgbClr val="0F1B3D"/>
                </a:solidFill>
                <a:latin typeface="Calibri"/>
                <a:ea typeface="Calibri"/>
                <a:cs typeface="Calibri"/>
                <a:sym typeface="Calibri"/>
              </a:rPr>
              <a:t>constraints</a:t>
            </a:r>
            <a:endParaRPr b="0" i="0" sz="1300" u="none" cap="none" strike="noStrike">
              <a:solidFill>
                <a:schemeClr val="dk1"/>
              </a:solidFill>
              <a:latin typeface="Calibri"/>
              <a:ea typeface="Calibri"/>
              <a:cs typeface="Calibri"/>
              <a:sym typeface="Calibri"/>
            </a:endParaRPr>
          </a:p>
        </p:txBody>
      </p:sp>
      <p:sp>
        <p:nvSpPr>
          <p:cNvPr id="75" name="Google Shape;75;p5"/>
          <p:cNvSpPr/>
          <p:nvPr/>
        </p:nvSpPr>
        <p:spPr>
          <a:xfrm>
            <a:off x="4754880" y="2377440"/>
            <a:ext cx="17373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Remove leads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that cannot be</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pursued</a:t>
            </a:r>
            <a:endParaRPr b="0" i="0" sz="1100" u="none" cap="none" strike="noStrike">
              <a:solidFill>
                <a:schemeClr val="dk1"/>
              </a:solidFill>
              <a:latin typeface="Calibri"/>
              <a:ea typeface="Calibri"/>
              <a:cs typeface="Calibri"/>
              <a:sym typeface="Calibri"/>
            </a:endParaRPr>
          </a:p>
        </p:txBody>
      </p:sp>
      <p:sp>
        <p:nvSpPr>
          <p:cNvPr id="76" name="Google Shape;76;p5"/>
          <p:cNvSpPr/>
          <p:nvPr/>
        </p:nvSpPr>
        <p:spPr>
          <a:xfrm>
            <a:off x="6766560" y="1600200"/>
            <a:ext cx="1737360" cy="2011680"/>
          </a:xfrm>
          <a:prstGeom prst="roundRect">
            <a:avLst>
              <a:gd fmla="val 6316" name="adj"/>
            </a:avLst>
          </a:prstGeom>
          <a:solidFill>
            <a:srgbClr val="FFF0EB"/>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5"/>
          <p:cNvSpPr/>
          <p:nvPr/>
        </p:nvSpPr>
        <p:spPr>
          <a:xfrm>
            <a:off x="6766560" y="1691640"/>
            <a:ext cx="173736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F1B3D"/>
              </a:buClr>
              <a:buSzPts val="1300"/>
              <a:buFont typeface="Calibri"/>
              <a:buNone/>
            </a:pPr>
            <a:r>
              <a:rPr b="1" i="0" lang="en-US" sz="1300" u="none" cap="none" strike="noStrike">
                <a:solidFill>
                  <a:srgbClr val="0F1B3D"/>
                </a:solidFill>
                <a:latin typeface="Calibri"/>
                <a:ea typeface="Calibri"/>
                <a:cs typeface="Calibri"/>
                <a:sym typeface="Calibri"/>
              </a:rPr>
              <a:t>Soft</a:t>
            </a:r>
            <a:endParaRPr b="0" i="0" sz="13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F1B3D"/>
              </a:buClr>
              <a:buSzPts val="1300"/>
              <a:buFont typeface="Calibri"/>
              <a:buNone/>
            </a:pPr>
            <a:r>
              <a:rPr b="1" i="0" lang="en-US" sz="1300" u="none" cap="none" strike="noStrike">
                <a:solidFill>
                  <a:srgbClr val="0F1B3D"/>
                </a:solidFill>
                <a:latin typeface="Calibri"/>
                <a:ea typeface="Calibri"/>
                <a:cs typeface="Calibri"/>
                <a:sym typeface="Calibri"/>
              </a:rPr>
              <a:t>prioritisation</a:t>
            </a:r>
            <a:endParaRPr b="0" i="0" sz="1300" u="none" cap="none" strike="noStrike">
              <a:solidFill>
                <a:schemeClr val="dk1"/>
              </a:solidFill>
              <a:latin typeface="Calibri"/>
              <a:ea typeface="Calibri"/>
              <a:cs typeface="Calibri"/>
              <a:sym typeface="Calibri"/>
            </a:endParaRPr>
          </a:p>
        </p:txBody>
      </p:sp>
      <p:sp>
        <p:nvSpPr>
          <p:cNvPr id="78" name="Google Shape;78;p5"/>
          <p:cNvSpPr/>
          <p:nvPr/>
        </p:nvSpPr>
        <p:spPr>
          <a:xfrm>
            <a:off x="6766560" y="2377440"/>
            <a:ext cx="17373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Re-rank by</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qualification</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policies</a:t>
            </a:r>
            <a:endParaRPr b="0" i="0" sz="1100" u="none" cap="none" strike="noStrike">
              <a:solidFill>
                <a:schemeClr val="dk1"/>
              </a:solidFill>
              <a:latin typeface="Calibri"/>
              <a:ea typeface="Calibri"/>
              <a:cs typeface="Calibri"/>
              <a:sym typeface="Calibri"/>
            </a:endParaRPr>
          </a:p>
        </p:txBody>
      </p:sp>
      <p:sp>
        <p:nvSpPr>
          <p:cNvPr id="79" name="Google Shape;79;p5"/>
          <p:cNvSpPr/>
          <p:nvPr/>
        </p:nvSpPr>
        <p:spPr>
          <a:xfrm>
            <a:off x="731520" y="3840480"/>
            <a:ext cx="7680960" cy="822960"/>
          </a:xfrm>
          <a:prstGeom prst="roundRect">
            <a:avLst>
              <a:gd fmla="val 11111" name="adj"/>
            </a:avLst>
          </a:prstGeom>
          <a:solidFill>
            <a:srgbClr val="FFF8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914400" y="3931920"/>
            <a:ext cx="7315200" cy="6400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Gap: these four approaches have been studied separately. No study has tested whether</a:t>
            </a:r>
            <a:endParaRPr b="0" i="0" sz="12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combining prediction with a separate qualification layer improves outcomes under a capacity constraint.</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 name="Shape 85"/>
        <p:cNvGrpSpPr/>
        <p:nvPr/>
      </p:nvGrpSpPr>
      <p:grpSpPr>
        <a:xfrm>
          <a:off x="0" y="0"/>
          <a:ext cx="0" cy="0"/>
          <a:chOff x="0" y="0"/>
          <a:chExt cx="0" cy="0"/>
        </a:xfrm>
      </p:grpSpPr>
      <p:pic>
        <p:nvPicPr>
          <p:cNvPr descr="preencoded.png" id="86" name="Google Shape;86;p6"/>
          <p:cNvPicPr preferRelativeResize="0"/>
          <p:nvPr/>
        </p:nvPicPr>
        <p:blipFill rotWithShape="1">
          <a:blip r:embed="rId3">
            <a:alphaModFix/>
          </a:blip>
          <a:srcRect b="0" l="0" r="0" t="0"/>
          <a:stretch/>
        </p:blipFill>
        <p:spPr>
          <a:xfrm>
            <a:off x="731520" y="320040"/>
            <a:ext cx="365760" cy="365760"/>
          </a:xfrm>
          <a:prstGeom prst="rect">
            <a:avLst/>
          </a:prstGeom>
          <a:noFill/>
          <a:ln>
            <a:noFill/>
          </a:ln>
        </p:spPr>
      </p:pic>
      <p:sp>
        <p:nvSpPr>
          <p:cNvPr id="87" name="Google Shape;87;p6"/>
          <p:cNvSpPr/>
          <p:nvPr/>
        </p:nvSpPr>
        <p:spPr>
          <a:xfrm>
            <a:off x="1234440" y="274320"/>
            <a:ext cx="64008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2761"/>
              </a:buClr>
              <a:buSzPts val="2800"/>
              <a:buFont typeface="Calibri"/>
              <a:buNone/>
            </a:pPr>
            <a:r>
              <a:rPr b="1" i="0" lang="en-US" sz="2800" u="none" cap="none" strike="noStrike">
                <a:solidFill>
                  <a:srgbClr val="1E2761"/>
                </a:solidFill>
                <a:latin typeface="Calibri"/>
                <a:ea typeface="Calibri"/>
                <a:cs typeface="Calibri"/>
                <a:sym typeface="Calibri"/>
              </a:rPr>
              <a:t>Methodology: three systems</a:t>
            </a:r>
            <a:endParaRPr b="0" i="0" sz="2800" u="none" cap="none" strike="noStrike">
              <a:solidFill>
                <a:schemeClr val="dk1"/>
              </a:solidFill>
              <a:latin typeface="Calibri"/>
              <a:ea typeface="Calibri"/>
              <a:cs typeface="Calibri"/>
              <a:sym typeface="Calibri"/>
            </a:endParaRPr>
          </a:p>
        </p:txBody>
      </p:sp>
      <p:sp>
        <p:nvSpPr>
          <p:cNvPr id="88" name="Google Shape;88;p6"/>
          <p:cNvSpPr/>
          <p:nvPr/>
        </p:nvSpPr>
        <p:spPr>
          <a:xfrm>
            <a:off x="731520" y="777240"/>
            <a:ext cx="768096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300"/>
              <a:buFont typeface="Calibri"/>
              <a:buNone/>
            </a:pPr>
            <a:r>
              <a:rPr b="0" i="1" lang="en-US" sz="1300" u="none" cap="none" strike="noStrike">
                <a:solidFill>
                  <a:srgbClr val="64748B"/>
                </a:solidFill>
                <a:latin typeface="Calibri"/>
                <a:ea typeface="Calibri"/>
                <a:cs typeface="Calibri"/>
                <a:sym typeface="Calibri"/>
              </a:rPr>
              <a:t>Same ML score, same H1 filter, same K — only the qualification policy differs</a:t>
            </a:r>
            <a:endParaRPr b="0" i="0" sz="1300" u="none" cap="none" strike="noStrike">
              <a:solidFill>
                <a:schemeClr val="dk1"/>
              </a:solidFill>
              <a:latin typeface="Calibri"/>
              <a:ea typeface="Calibri"/>
              <a:cs typeface="Calibri"/>
              <a:sym typeface="Calibri"/>
            </a:endParaRPr>
          </a:p>
        </p:txBody>
      </p:sp>
      <p:sp>
        <p:nvSpPr>
          <p:cNvPr id="89" name="Google Shape;89;p6"/>
          <p:cNvSpPr/>
          <p:nvPr/>
        </p:nvSpPr>
        <p:spPr>
          <a:xfrm>
            <a:off x="731520" y="1280160"/>
            <a:ext cx="2468880" cy="2377440"/>
          </a:xfrm>
          <a:prstGeom prst="roundRect">
            <a:avLst>
              <a:gd fmla="val 4615" name="adj"/>
            </a:avLst>
          </a:prstGeom>
          <a:solidFill>
            <a:srgbClr val="E8EDF5"/>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6"/>
          <p:cNvSpPr/>
          <p:nvPr/>
        </p:nvSpPr>
        <p:spPr>
          <a:xfrm>
            <a:off x="731520" y="1371600"/>
            <a:ext cx="24688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E2761"/>
              </a:buClr>
              <a:buSzPts val="1800"/>
              <a:buFont typeface="Calibri"/>
              <a:buNone/>
            </a:pPr>
            <a:r>
              <a:rPr b="1" i="0" lang="en-US" sz="1800" u="none" cap="none" strike="noStrike">
                <a:solidFill>
                  <a:srgbClr val="1E2761"/>
                </a:solidFill>
                <a:latin typeface="Calibri"/>
                <a:ea typeface="Calibri"/>
                <a:cs typeface="Calibri"/>
                <a:sym typeface="Calibri"/>
              </a:rPr>
              <a:t>System 1</a:t>
            </a:r>
            <a:endParaRPr b="0" i="0" sz="1800" u="none" cap="none" strike="noStrike">
              <a:solidFill>
                <a:schemeClr val="dk1"/>
              </a:solidFill>
              <a:latin typeface="Calibri"/>
              <a:ea typeface="Calibri"/>
              <a:cs typeface="Calibri"/>
              <a:sym typeface="Calibri"/>
            </a:endParaRPr>
          </a:p>
        </p:txBody>
      </p:sp>
      <p:sp>
        <p:nvSpPr>
          <p:cNvPr id="91" name="Google Shape;91;p6"/>
          <p:cNvSpPr/>
          <p:nvPr/>
        </p:nvSpPr>
        <p:spPr>
          <a:xfrm>
            <a:off x="731520" y="1737360"/>
            <a:ext cx="246888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200"/>
              <a:buFont typeface="Calibri"/>
              <a:buNone/>
            </a:pPr>
            <a:r>
              <a:rPr b="0" i="1" lang="en-US" sz="1200" u="none" cap="none" strike="noStrike">
                <a:solidFill>
                  <a:srgbClr val="64748B"/>
                </a:solidFill>
                <a:latin typeface="Calibri"/>
                <a:ea typeface="Calibri"/>
                <a:cs typeface="Calibri"/>
                <a:sym typeface="Calibri"/>
              </a:rPr>
              <a:t>ML baseline</a:t>
            </a:r>
            <a:endParaRPr b="0" i="0" sz="1200" u="none" cap="none" strike="noStrike">
              <a:solidFill>
                <a:schemeClr val="dk1"/>
              </a:solidFill>
              <a:latin typeface="Calibri"/>
              <a:ea typeface="Calibri"/>
              <a:cs typeface="Calibri"/>
              <a:sym typeface="Calibri"/>
            </a:endParaRPr>
          </a:p>
        </p:txBody>
      </p:sp>
      <p:sp>
        <p:nvSpPr>
          <p:cNvPr id="92" name="Google Shape;92;p6"/>
          <p:cNvSpPr/>
          <p:nvPr/>
        </p:nvSpPr>
        <p:spPr>
          <a:xfrm>
            <a:off x="914400" y="2194560"/>
            <a:ext cx="210312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XGBoost score only.</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No qualification policy.</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Top K selected by score.</a:t>
            </a:r>
            <a:endParaRPr b="0" i="0" sz="1200" u="none" cap="none" strike="noStrike">
              <a:solidFill>
                <a:schemeClr val="dk1"/>
              </a:solidFill>
              <a:latin typeface="Calibri"/>
              <a:ea typeface="Calibri"/>
              <a:cs typeface="Calibri"/>
              <a:sym typeface="Calibri"/>
            </a:endParaRPr>
          </a:p>
        </p:txBody>
      </p:sp>
      <p:sp>
        <p:nvSpPr>
          <p:cNvPr id="93" name="Google Shape;93;p6"/>
          <p:cNvSpPr/>
          <p:nvPr/>
        </p:nvSpPr>
        <p:spPr>
          <a:xfrm>
            <a:off x="3566160" y="1280160"/>
            <a:ext cx="2468880" cy="2377440"/>
          </a:xfrm>
          <a:prstGeom prst="roundRect">
            <a:avLst>
              <a:gd fmla="val 4615" name="adj"/>
            </a:avLst>
          </a:prstGeom>
          <a:solidFill>
            <a:srgbClr val="FFF0EB"/>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6"/>
          <p:cNvSpPr/>
          <p:nvPr/>
        </p:nvSpPr>
        <p:spPr>
          <a:xfrm>
            <a:off x="3566160" y="1371600"/>
            <a:ext cx="24688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593C"/>
              </a:buClr>
              <a:buSzPts val="1800"/>
              <a:buFont typeface="Calibri"/>
              <a:buNone/>
            </a:pPr>
            <a:r>
              <a:rPr b="1" i="0" lang="en-US" sz="1800" u="none" cap="none" strike="noStrike">
                <a:solidFill>
                  <a:srgbClr val="E8593C"/>
                </a:solidFill>
                <a:latin typeface="Calibri"/>
                <a:ea typeface="Calibri"/>
                <a:cs typeface="Calibri"/>
                <a:sym typeface="Calibri"/>
              </a:rPr>
              <a:t>System 2</a:t>
            </a:r>
            <a:endParaRPr b="0" i="0" sz="1800" u="none" cap="none" strike="noStrike">
              <a:solidFill>
                <a:schemeClr val="dk1"/>
              </a:solidFill>
              <a:latin typeface="Calibri"/>
              <a:ea typeface="Calibri"/>
              <a:cs typeface="Calibri"/>
              <a:sym typeface="Calibri"/>
            </a:endParaRPr>
          </a:p>
        </p:txBody>
      </p:sp>
      <p:sp>
        <p:nvSpPr>
          <p:cNvPr id="95" name="Google Shape;95;p6"/>
          <p:cNvSpPr/>
          <p:nvPr/>
        </p:nvSpPr>
        <p:spPr>
          <a:xfrm>
            <a:off x="3566160" y="1737360"/>
            <a:ext cx="246888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200"/>
              <a:buFont typeface="Calibri"/>
              <a:buNone/>
            </a:pPr>
            <a:r>
              <a:rPr b="0" i="1" lang="en-US" sz="1200" u="none" cap="none" strike="noStrike">
                <a:solidFill>
                  <a:srgbClr val="64748B"/>
                </a:solidFill>
                <a:latin typeface="Calibri"/>
                <a:ea typeface="Calibri"/>
                <a:cs typeface="Calibri"/>
                <a:sym typeface="Calibri"/>
              </a:rPr>
              <a:t>Tier qualification</a:t>
            </a:r>
            <a:endParaRPr b="0" i="0" sz="1200" u="none" cap="none" strike="noStrike">
              <a:solidFill>
                <a:schemeClr val="dk1"/>
              </a:solidFill>
              <a:latin typeface="Calibri"/>
              <a:ea typeface="Calibri"/>
              <a:cs typeface="Calibri"/>
              <a:sym typeface="Calibri"/>
            </a:endParaRPr>
          </a:p>
        </p:txBody>
      </p:sp>
      <p:sp>
        <p:nvSpPr>
          <p:cNvPr id="96" name="Google Shape;96;p6"/>
          <p:cNvSpPr/>
          <p:nvPr/>
        </p:nvSpPr>
        <p:spPr>
          <a:xfrm>
            <a:off x="3749040" y="2194560"/>
            <a:ext cx="210312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P1: Working Professional</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P2: SMS Sent</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Baseline cutoff + tier cap.</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ML rank within tiers.</a:t>
            </a:r>
            <a:endParaRPr b="0" i="0" sz="1200" u="none" cap="none" strike="noStrike">
              <a:solidFill>
                <a:schemeClr val="dk1"/>
              </a:solidFill>
              <a:latin typeface="Calibri"/>
              <a:ea typeface="Calibri"/>
              <a:cs typeface="Calibri"/>
              <a:sym typeface="Calibri"/>
            </a:endParaRPr>
          </a:p>
        </p:txBody>
      </p:sp>
      <p:sp>
        <p:nvSpPr>
          <p:cNvPr id="97" name="Google Shape;97;p6"/>
          <p:cNvSpPr/>
          <p:nvPr/>
        </p:nvSpPr>
        <p:spPr>
          <a:xfrm>
            <a:off x="6400800" y="1280160"/>
            <a:ext cx="2468880" cy="2377440"/>
          </a:xfrm>
          <a:prstGeom prst="roundRect">
            <a:avLst>
              <a:gd fmla="val 4615" name="adj"/>
            </a:avLst>
          </a:prstGeom>
          <a:solidFill>
            <a:srgbClr val="F0F5F0"/>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6"/>
          <p:cNvSpPr/>
          <p:nvPr/>
        </p:nvSpPr>
        <p:spPr>
          <a:xfrm>
            <a:off x="6400800" y="1371600"/>
            <a:ext cx="2468880" cy="4114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2E7D32"/>
              </a:buClr>
              <a:buSzPts val="1800"/>
              <a:buFont typeface="Calibri"/>
              <a:buNone/>
            </a:pPr>
            <a:r>
              <a:rPr b="1" i="0" lang="en-US" sz="1800" u="none" cap="none" strike="noStrike">
                <a:solidFill>
                  <a:srgbClr val="2E7D32"/>
                </a:solidFill>
                <a:latin typeface="Calibri"/>
                <a:ea typeface="Calibri"/>
                <a:cs typeface="Calibri"/>
                <a:sym typeface="Calibri"/>
              </a:rPr>
              <a:t>System 3</a:t>
            </a:r>
            <a:endParaRPr b="0" i="0" sz="1800" u="none" cap="none" strike="noStrike">
              <a:solidFill>
                <a:schemeClr val="dk1"/>
              </a:solidFill>
              <a:latin typeface="Calibri"/>
              <a:ea typeface="Calibri"/>
              <a:cs typeface="Calibri"/>
              <a:sym typeface="Calibri"/>
            </a:endParaRPr>
          </a:p>
        </p:txBody>
      </p:sp>
      <p:sp>
        <p:nvSpPr>
          <p:cNvPr id="99" name="Google Shape;99;p6"/>
          <p:cNvSpPr/>
          <p:nvPr/>
        </p:nvSpPr>
        <p:spPr>
          <a:xfrm>
            <a:off x="6400800" y="1737360"/>
            <a:ext cx="2468880"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200"/>
              <a:buFont typeface="Calibri"/>
              <a:buNone/>
            </a:pPr>
            <a:r>
              <a:rPr b="0" i="1" lang="en-US" sz="1200" u="none" cap="none" strike="noStrike">
                <a:solidFill>
                  <a:srgbClr val="64748B"/>
                </a:solidFill>
                <a:latin typeface="Calibri"/>
                <a:ea typeface="Calibri"/>
                <a:cs typeface="Calibri"/>
                <a:sym typeface="Calibri"/>
              </a:rPr>
              <a:t>Calibrated blend</a:t>
            </a:r>
            <a:endParaRPr b="0" i="0" sz="1200" u="none" cap="none" strike="noStrike">
              <a:solidFill>
                <a:schemeClr val="dk1"/>
              </a:solidFill>
              <a:latin typeface="Calibri"/>
              <a:ea typeface="Calibri"/>
              <a:cs typeface="Calibri"/>
              <a:sym typeface="Calibri"/>
            </a:endParaRPr>
          </a:p>
        </p:txBody>
      </p:sp>
      <p:sp>
        <p:nvSpPr>
          <p:cNvPr id="100" name="Google Shape;100;p6"/>
          <p:cNvSpPr/>
          <p:nvPr/>
        </p:nvSpPr>
        <p:spPr>
          <a:xfrm>
            <a:off x="6583680" y="2194560"/>
            <a:ext cx="210312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90% ML + 10% tier signal.</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Same info, no tiers.</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Robustness check.</a:t>
            </a:r>
            <a:endParaRPr b="0" i="0" sz="1200" u="none" cap="none" strike="noStrike">
              <a:solidFill>
                <a:schemeClr val="dk1"/>
              </a:solidFill>
              <a:latin typeface="Calibri"/>
              <a:ea typeface="Calibri"/>
              <a:cs typeface="Calibri"/>
              <a:sym typeface="Calibri"/>
            </a:endParaRPr>
          </a:p>
        </p:txBody>
      </p:sp>
      <p:sp>
        <p:nvSpPr>
          <p:cNvPr id="101" name="Google Shape;101;p6"/>
          <p:cNvSpPr/>
          <p:nvPr/>
        </p:nvSpPr>
        <p:spPr>
          <a:xfrm>
            <a:off x="731520" y="3931920"/>
            <a:ext cx="7680960"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2761"/>
              </a:buClr>
              <a:buSzPts val="1300"/>
              <a:buFont typeface="Calibri"/>
              <a:buNone/>
            </a:pPr>
            <a:r>
              <a:rPr b="1" i="0" lang="en-US" sz="1300" u="none" cap="none" strike="noStrike">
                <a:solidFill>
                  <a:srgbClr val="1E2761"/>
                </a:solidFill>
                <a:latin typeface="Calibri"/>
                <a:ea typeface="Calibri"/>
                <a:cs typeface="Calibri"/>
                <a:sym typeface="Calibri"/>
              </a:rPr>
              <a:t>Evaluation: Precision@K — what proportion of selected leads actually convert?</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 name="Shape 106"/>
        <p:cNvGrpSpPr/>
        <p:nvPr/>
      </p:nvGrpSpPr>
      <p:grpSpPr>
        <a:xfrm>
          <a:off x="0" y="0"/>
          <a:ext cx="0" cy="0"/>
          <a:chOff x="0" y="0"/>
          <a:chExt cx="0" cy="0"/>
        </a:xfrm>
      </p:grpSpPr>
      <p:sp>
        <p:nvSpPr>
          <p:cNvPr id="107" name="Google Shape;107;p7"/>
          <p:cNvSpPr/>
          <p:nvPr/>
        </p:nvSpPr>
        <p:spPr>
          <a:xfrm>
            <a:off x="731520" y="274320"/>
            <a:ext cx="768096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2761"/>
              </a:buClr>
              <a:buSzPts val="2800"/>
              <a:buFont typeface="Calibri"/>
              <a:buNone/>
            </a:pPr>
            <a:r>
              <a:rPr b="1" i="0" lang="en-US" sz="2800" u="none" cap="none" strike="noStrike">
                <a:solidFill>
                  <a:srgbClr val="1E2761"/>
                </a:solidFill>
                <a:latin typeface="Calibri"/>
                <a:ea typeface="Calibri"/>
                <a:cs typeface="Calibri"/>
                <a:sym typeface="Calibri"/>
              </a:rPr>
              <a:t>How System 2 changes allocation</a:t>
            </a:r>
            <a:endParaRPr b="0" i="0" sz="2800" u="none" cap="none" strike="noStrike">
              <a:solidFill>
                <a:schemeClr val="dk1"/>
              </a:solidFill>
              <a:latin typeface="Calibri"/>
              <a:ea typeface="Calibri"/>
              <a:cs typeface="Calibri"/>
              <a:sym typeface="Calibri"/>
            </a:endParaRPr>
          </a:p>
        </p:txBody>
      </p:sp>
      <p:sp>
        <p:nvSpPr>
          <p:cNvPr id="108" name="Google Shape;108;p7"/>
          <p:cNvSpPr/>
          <p:nvPr/>
        </p:nvSpPr>
        <p:spPr>
          <a:xfrm>
            <a:off x="731520" y="731520"/>
            <a:ext cx="768096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400"/>
              <a:buFont typeface="Calibri"/>
              <a:buNone/>
            </a:pPr>
            <a:r>
              <a:rPr b="0" i="1" lang="en-US" sz="1400" u="none" cap="none" strike="noStrike">
                <a:solidFill>
                  <a:srgbClr val="64748B"/>
                </a:solidFill>
                <a:latin typeface="Calibri"/>
                <a:ea typeface="Calibri"/>
                <a:cs typeface="Calibri"/>
                <a:sym typeface="Calibri"/>
              </a:rPr>
              <a:t>Same K = 302 leads — different composition</a:t>
            </a:r>
            <a:endParaRPr b="0" i="0" sz="1400" u="none" cap="none" strike="noStrike">
              <a:solidFill>
                <a:schemeClr val="dk1"/>
              </a:solidFill>
              <a:latin typeface="Calibri"/>
              <a:ea typeface="Calibri"/>
              <a:cs typeface="Calibri"/>
              <a:sym typeface="Calibri"/>
            </a:endParaRPr>
          </a:p>
        </p:txBody>
      </p:sp>
      <p:sp>
        <p:nvSpPr>
          <p:cNvPr id="109" name="Google Shape;109;p7"/>
          <p:cNvSpPr/>
          <p:nvPr/>
        </p:nvSpPr>
        <p:spPr>
          <a:xfrm>
            <a:off x="731520" y="1371600"/>
            <a:ext cx="1371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761"/>
              </a:buClr>
              <a:buSzPts val="1400"/>
              <a:buFont typeface="Calibri"/>
              <a:buNone/>
            </a:pPr>
            <a:r>
              <a:rPr b="1" i="0" lang="en-US" sz="1400" u="none" cap="none" strike="noStrike">
                <a:solidFill>
                  <a:srgbClr val="1E2761"/>
                </a:solidFill>
                <a:latin typeface="Calibri"/>
                <a:ea typeface="Calibri"/>
                <a:cs typeface="Calibri"/>
                <a:sym typeface="Calibri"/>
              </a:rPr>
              <a:t>System 1</a:t>
            </a:r>
            <a:endParaRPr b="0" i="0" sz="1400" u="none" cap="none" strike="noStrike">
              <a:solidFill>
                <a:schemeClr val="dk1"/>
              </a:solidFill>
              <a:latin typeface="Calibri"/>
              <a:ea typeface="Calibri"/>
              <a:cs typeface="Calibri"/>
              <a:sym typeface="Calibri"/>
            </a:endParaRPr>
          </a:p>
        </p:txBody>
      </p:sp>
      <p:sp>
        <p:nvSpPr>
          <p:cNvPr id="110" name="Google Shape;110;p7"/>
          <p:cNvSpPr/>
          <p:nvPr/>
        </p:nvSpPr>
        <p:spPr>
          <a:xfrm>
            <a:off x="731520" y="1691640"/>
            <a:ext cx="1371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100"/>
              <a:buFont typeface="Calibri"/>
              <a:buNone/>
            </a:pPr>
            <a:r>
              <a:rPr b="0" i="1" lang="en-US" sz="1100" u="none" cap="none" strike="noStrike">
                <a:solidFill>
                  <a:srgbClr val="64748B"/>
                </a:solidFill>
                <a:latin typeface="Calibri"/>
                <a:ea typeface="Calibri"/>
                <a:cs typeface="Calibri"/>
                <a:sym typeface="Calibri"/>
              </a:rPr>
              <a:t>ML baseline</a:t>
            </a:r>
            <a:endParaRPr b="0" i="0" sz="1100" u="none" cap="none" strike="noStrike">
              <a:solidFill>
                <a:schemeClr val="dk1"/>
              </a:solidFill>
              <a:latin typeface="Calibri"/>
              <a:ea typeface="Calibri"/>
              <a:cs typeface="Calibri"/>
              <a:sym typeface="Calibri"/>
            </a:endParaRPr>
          </a:p>
        </p:txBody>
      </p:sp>
      <p:sp>
        <p:nvSpPr>
          <p:cNvPr id="111" name="Google Shape;111;p7"/>
          <p:cNvSpPr/>
          <p:nvPr/>
        </p:nvSpPr>
        <p:spPr>
          <a:xfrm>
            <a:off x="2286000" y="1371600"/>
            <a:ext cx="6126480" cy="640080"/>
          </a:xfrm>
          <a:prstGeom prst="roundRect">
            <a:avLst>
              <a:gd fmla="val 11429" name="adj"/>
            </a:avLst>
          </a:prstGeom>
          <a:solidFill>
            <a:srgbClr val="D6D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7"/>
          <p:cNvSpPr/>
          <p:nvPr/>
        </p:nvSpPr>
        <p:spPr>
          <a:xfrm>
            <a:off x="2286000" y="1371600"/>
            <a:ext cx="6126480" cy="6400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2761"/>
              </a:buClr>
              <a:buSzPts val="1300"/>
              <a:buFont typeface="Calibri"/>
              <a:buNone/>
            </a:pPr>
            <a:r>
              <a:rPr b="0" i="0" lang="en-US" sz="1300" u="none" cap="none" strike="noStrike">
                <a:solidFill>
                  <a:srgbClr val="1E2761"/>
                </a:solidFill>
                <a:latin typeface="Calibri"/>
                <a:ea typeface="Calibri"/>
                <a:cs typeface="Calibri"/>
                <a:sym typeface="Calibri"/>
              </a:rPr>
              <a:t>302 leads ranked by ML score only</a:t>
            </a:r>
            <a:endParaRPr b="0" i="0" sz="1300" u="none" cap="none" strike="noStrike">
              <a:solidFill>
                <a:schemeClr val="dk1"/>
              </a:solidFill>
              <a:latin typeface="Calibri"/>
              <a:ea typeface="Calibri"/>
              <a:cs typeface="Calibri"/>
              <a:sym typeface="Calibri"/>
            </a:endParaRPr>
          </a:p>
        </p:txBody>
      </p:sp>
      <p:sp>
        <p:nvSpPr>
          <p:cNvPr id="113" name="Google Shape;113;p7"/>
          <p:cNvSpPr/>
          <p:nvPr/>
        </p:nvSpPr>
        <p:spPr>
          <a:xfrm>
            <a:off x="6858000" y="2057400"/>
            <a:ext cx="155448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E2761"/>
              </a:buClr>
              <a:buSzPts val="1200"/>
              <a:buFont typeface="Calibri"/>
              <a:buNone/>
            </a:pPr>
            <a:r>
              <a:rPr b="1" i="0" lang="en-US" sz="1200" u="none" cap="none" strike="noStrike">
                <a:solidFill>
                  <a:srgbClr val="1E2761"/>
                </a:solidFill>
                <a:latin typeface="Calibri"/>
                <a:ea typeface="Calibri"/>
                <a:cs typeface="Calibri"/>
                <a:sym typeface="Calibri"/>
              </a:rPr>
              <a:t>26</a:t>
            </a:r>
            <a:r>
              <a:rPr b="1" lang="en-US" sz="1200">
                <a:solidFill>
                  <a:srgbClr val="1E2761"/>
                </a:solidFill>
                <a:latin typeface="Calibri"/>
                <a:ea typeface="Calibri"/>
                <a:cs typeface="Calibri"/>
                <a:sym typeface="Calibri"/>
              </a:rPr>
              <a:t>5</a:t>
            </a:r>
            <a:r>
              <a:rPr b="1" i="0" lang="en-US" sz="1200" u="none" cap="none" strike="noStrike">
                <a:solidFill>
                  <a:srgbClr val="1E2761"/>
                </a:solidFill>
                <a:latin typeface="Calibri"/>
                <a:ea typeface="Calibri"/>
                <a:cs typeface="Calibri"/>
                <a:sym typeface="Calibri"/>
              </a:rPr>
              <a:t> converters</a:t>
            </a:r>
            <a:endParaRPr b="0" i="0" sz="1200" u="none" cap="none" strike="noStrike">
              <a:solidFill>
                <a:schemeClr val="dk1"/>
              </a:solidFill>
              <a:latin typeface="Calibri"/>
              <a:ea typeface="Calibri"/>
              <a:cs typeface="Calibri"/>
              <a:sym typeface="Calibri"/>
            </a:endParaRPr>
          </a:p>
        </p:txBody>
      </p:sp>
      <p:sp>
        <p:nvSpPr>
          <p:cNvPr id="114" name="Google Shape;114;p7"/>
          <p:cNvSpPr/>
          <p:nvPr/>
        </p:nvSpPr>
        <p:spPr>
          <a:xfrm>
            <a:off x="731520" y="2743200"/>
            <a:ext cx="13716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593C"/>
              </a:buClr>
              <a:buSzPts val="1400"/>
              <a:buFont typeface="Calibri"/>
              <a:buNone/>
            </a:pPr>
            <a:r>
              <a:rPr b="1" i="0" lang="en-US" sz="1400" u="none" cap="none" strike="noStrike">
                <a:solidFill>
                  <a:srgbClr val="E8593C"/>
                </a:solidFill>
                <a:latin typeface="Calibri"/>
                <a:ea typeface="Calibri"/>
                <a:cs typeface="Calibri"/>
                <a:sym typeface="Calibri"/>
              </a:rPr>
              <a:t>System 2</a:t>
            </a:r>
            <a:endParaRPr b="0" i="0" sz="1400" u="none" cap="none" strike="noStrike">
              <a:solidFill>
                <a:schemeClr val="dk1"/>
              </a:solidFill>
              <a:latin typeface="Calibri"/>
              <a:ea typeface="Calibri"/>
              <a:cs typeface="Calibri"/>
              <a:sym typeface="Calibri"/>
            </a:endParaRPr>
          </a:p>
        </p:txBody>
      </p:sp>
      <p:sp>
        <p:nvSpPr>
          <p:cNvPr id="115" name="Google Shape;115;p7"/>
          <p:cNvSpPr/>
          <p:nvPr/>
        </p:nvSpPr>
        <p:spPr>
          <a:xfrm>
            <a:off x="731520" y="3063240"/>
            <a:ext cx="13716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100"/>
              <a:buFont typeface="Calibri"/>
              <a:buNone/>
            </a:pPr>
            <a:r>
              <a:rPr b="0" i="1" lang="en-US" sz="1100" u="none" cap="none" strike="noStrike">
                <a:solidFill>
                  <a:srgbClr val="64748B"/>
                </a:solidFill>
                <a:latin typeface="Calibri"/>
                <a:ea typeface="Calibri"/>
                <a:cs typeface="Calibri"/>
                <a:sym typeface="Calibri"/>
              </a:rPr>
              <a:t>Tier qualification</a:t>
            </a:r>
            <a:endParaRPr b="0" i="0" sz="1100" u="none" cap="none" strike="noStrike">
              <a:solidFill>
                <a:schemeClr val="dk1"/>
              </a:solidFill>
              <a:latin typeface="Calibri"/>
              <a:ea typeface="Calibri"/>
              <a:cs typeface="Calibri"/>
              <a:sym typeface="Calibri"/>
            </a:endParaRPr>
          </a:p>
        </p:txBody>
      </p:sp>
      <p:sp>
        <p:nvSpPr>
          <p:cNvPr id="116" name="Google Shape;116;p7"/>
          <p:cNvSpPr/>
          <p:nvPr/>
        </p:nvSpPr>
        <p:spPr>
          <a:xfrm>
            <a:off x="2286000" y="2743200"/>
            <a:ext cx="1828800" cy="640080"/>
          </a:xfrm>
          <a:prstGeom prst="roundRect">
            <a:avLst>
              <a:gd fmla="val 11429" name="adj"/>
            </a:avLst>
          </a:prstGeom>
          <a:solidFill>
            <a:srgbClr val="E859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7"/>
          <p:cNvSpPr/>
          <p:nvPr/>
        </p:nvSpPr>
        <p:spPr>
          <a:xfrm>
            <a:off x="2286000" y="2743200"/>
            <a:ext cx="1828800" cy="6400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P1: 92 leads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FFFFFF"/>
              </a:buClr>
              <a:buSzPts val="1100"/>
              <a:buFont typeface="Calibri"/>
              <a:buNone/>
            </a:pPr>
            <a:r>
              <a:rPr b="1" i="0" lang="en-US" sz="1100" u="none" cap="none" strike="noStrike">
                <a:solidFill>
                  <a:srgbClr val="FFFFFF"/>
                </a:solidFill>
                <a:latin typeface="Calibri"/>
                <a:ea typeface="Calibri"/>
                <a:cs typeface="Calibri"/>
                <a:sym typeface="Calibri"/>
              </a:rPr>
              <a:t>Working </a:t>
            </a:r>
            <a:r>
              <a:rPr b="1" lang="en-US" sz="1100">
                <a:solidFill>
                  <a:srgbClr val="FFFFFF"/>
                </a:solidFill>
                <a:latin typeface="Calibri"/>
                <a:ea typeface="Calibri"/>
                <a:cs typeface="Calibri"/>
                <a:sym typeface="Calibri"/>
              </a:rPr>
              <a:t>Professionals</a:t>
            </a:r>
            <a:endParaRPr b="0" i="0" sz="1100" u="none" cap="none" strike="noStrike">
              <a:solidFill>
                <a:schemeClr val="dk1"/>
              </a:solidFill>
              <a:latin typeface="Calibri"/>
              <a:ea typeface="Calibri"/>
              <a:cs typeface="Calibri"/>
              <a:sym typeface="Calibri"/>
            </a:endParaRPr>
          </a:p>
        </p:txBody>
      </p:sp>
      <p:sp>
        <p:nvSpPr>
          <p:cNvPr id="118" name="Google Shape;118;p7"/>
          <p:cNvSpPr/>
          <p:nvPr/>
        </p:nvSpPr>
        <p:spPr>
          <a:xfrm>
            <a:off x="4160520" y="2743200"/>
            <a:ext cx="2377440" cy="640080"/>
          </a:xfrm>
          <a:prstGeom prst="roundRect">
            <a:avLst>
              <a:gd fmla="val 11429" name="adj"/>
            </a:avLst>
          </a:prstGeom>
          <a:solidFill>
            <a:srgbClr val="F4A26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7"/>
          <p:cNvSpPr/>
          <p:nvPr/>
        </p:nvSpPr>
        <p:spPr>
          <a:xfrm>
            <a:off x="4160520" y="2743200"/>
            <a:ext cx="2377440" cy="6400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F1B3D"/>
              </a:buClr>
              <a:buSzPts val="1100"/>
              <a:buFont typeface="Calibri"/>
              <a:buNone/>
            </a:pPr>
            <a:r>
              <a:rPr b="1" i="0" lang="en-US" sz="1100" u="none" cap="none" strike="noStrike">
                <a:solidFill>
                  <a:srgbClr val="0F1B3D"/>
                </a:solidFill>
                <a:latin typeface="Calibri"/>
                <a:ea typeface="Calibri"/>
                <a:cs typeface="Calibri"/>
                <a:sym typeface="Calibri"/>
              </a:rPr>
              <a:t>P2: 120 leads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F1B3D"/>
              </a:buClr>
              <a:buSzPts val="1100"/>
              <a:buFont typeface="Calibri"/>
              <a:buNone/>
            </a:pPr>
            <a:r>
              <a:rPr b="1" i="0" lang="en-US" sz="1100" u="none" cap="none" strike="noStrike">
                <a:solidFill>
                  <a:srgbClr val="0F1B3D"/>
                </a:solidFill>
                <a:latin typeface="Calibri"/>
                <a:ea typeface="Calibri"/>
                <a:cs typeface="Calibri"/>
                <a:sym typeface="Calibri"/>
              </a:rPr>
              <a:t>SMS Sent</a:t>
            </a:r>
            <a:endParaRPr b="0" i="0" sz="1100" u="none" cap="none" strike="noStrike">
              <a:solidFill>
                <a:schemeClr val="dk1"/>
              </a:solidFill>
              <a:latin typeface="Calibri"/>
              <a:ea typeface="Calibri"/>
              <a:cs typeface="Calibri"/>
              <a:sym typeface="Calibri"/>
            </a:endParaRPr>
          </a:p>
        </p:txBody>
      </p:sp>
      <p:sp>
        <p:nvSpPr>
          <p:cNvPr id="120" name="Google Shape;120;p7"/>
          <p:cNvSpPr/>
          <p:nvPr/>
        </p:nvSpPr>
        <p:spPr>
          <a:xfrm>
            <a:off x="6583680" y="2743200"/>
            <a:ext cx="1828800" cy="640080"/>
          </a:xfrm>
          <a:prstGeom prst="roundRect">
            <a:avLst>
              <a:gd fmla="val 11429" name="adj"/>
            </a:avLst>
          </a:prstGeom>
          <a:solidFill>
            <a:srgbClr val="D6DFE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7"/>
          <p:cNvSpPr/>
          <p:nvPr/>
        </p:nvSpPr>
        <p:spPr>
          <a:xfrm>
            <a:off x="6583680" y="2743200"/>
            <a:ext cx="1828800" cy="6400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2761"/>
              </a:buClr>
              <a:buSzPts val="1100"/>
              <a:buFont typeface="Calibri"/>
              <a:buNone/>
            </a:pPr>
            <a:r>
              <a:rPr b="1" i="0" lang="en-US" sz="1100" u="none" cap="none" strike="noStrike">
                <a:solidFill>
                  <a:srgbClr val="1E2761"/>
                </a:solidFill>
                <a:latin typeface="Calibri"/>
                <a:ea typeface="Calibri"/>
                <a:cs typeface="Calibri"/>
                <a:sym typeface="Calibri"/>
              </a:rPr>
              <a:t>ML: 90 leads</a:t>
            </a:r>
            <a:endParaRPr b="0" i="0" sz="11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1E2761"/>
              </a:buClr>
              <a:buSzPts val="1100"/>
              <a:buFont typeface="Calibri"/>
              <a:buNone/>
            </a:pPr>
            <a:r>
              <a:rPr b="1" i="0" lang="en-US" sz="1100" u="none" cap="none" strike="noStrike">
                <a:solidFill>
                  <a:srgbClr val="1E2761"/>
                </a:solidFill>
                <a:latin typeface="Calibri"/>
                <a:ea typeface="Calibri"/>
                <a:cs typeface="Calibri"/>
                <a:sym typeface="Calibri"/>
              </a:rPr>
              <a:t>Overflow</a:t>
            </a:r>
            <a:endParaRPr b="0" i="0" sz="1100" u="none" cap="none" strike="noStrike">
              <a:solidFill>
                <a:schemeClr val="dk1"/>
              </a:solidFill>
              <a:latin typeface="Calibri"/>
              <a:ea typeface="Calibri"/>
              <a:cs typeface="Calibri"/>
              <a:sym typeface="Calibri"/>
            </a:endParaRPr>
          </a:p>
        </p:txBody>
      </p:sp>
      <p:sp>
        <p:nvSpPr>
          <p:cNvPr id="122" name="Google Shape;122;p7"/>
          <p:cNvSpPr/>
          <p:nvPr/>
        </p:nvSpPr>
        <p:spPr>
          <a:xfrm>
            <a:off x="6858000" y="3429000"/>
            <a:ext cx="155448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E8593C"/>
              </a:buClr>
              <a:buSzPts val="1200"/>
              <a:buFont typeface="Calibri"/>
              <a:buNone/>
            </a:pPr>
            <a:r>
              <a:rPr b="1" i="0" lang="en-US" sz="1200" u="none" cap="none" strike="noStrike">
                <a:solidFill>
                  <a:srgbClr val="E8593C"/>
                </a:solidFill>
                <a:latin typeface="Calibri"/>
                <a:ea typeface="Calibri"/>
                <a:cs typeface="Calibri"/>
                <a:sym typeface="Calibri"/>
              </a:rPr>
              <a:t>2</a:t>
            </a:r>
            <a:r>
              <a:rPr b="1" lang="en-US" sz="1200">
                <a:solidFill>
                  <a:srgbClr val="E8593C"/>
                </a:solidFill>
                <a:latin typeface="Calibri"/>
                <a:ea typeface="Calibri"/>
                <a:cs typeface="Calibri"/>
                <a:sym typeface="Calibri"/>
              </a:rPr>
              <a:t>70</a:t>
            </a:r>
            <a:r>
              <a:rPr b="1" i="0" lang="en-US" sz="1200" u="none" cap="none" strike="noStrike">
                <a:solidFill>
                  <a:srgbClr val="E8593C"/>
                </a:solidFill>
                <a:latin typeface="Calibri"/>
                <a:ea typeface="Calibri"/>
                <a:cs typeface="Calibri"/>
                <a:sym typeface="Calibri"/>
              </a:rPr>
              <a:t> converters (+</a:t>
            </a:r>
            <a:r>
              <a:rPr b="1" lang="en-US" sz="1200">
                <a:solidFill>
                  <a:srgbClr val="E8593C"/>
                </a:solidFill>
                <a:latin typeface="Calibri"/>
                <a:ea typeface="Calibri"/>
                <a:cs typeface="Calibri"/>
                <a:sym typeface="Calibri"/>
              </a:rPr>
              <a:t>5</a:t>
            </a:r>
            <a:r>
              <a:rPr b="1" i="0" lang="en-US" sz="1200" u="none" cap="none" strike="noStrike">
                <a:solidFill>
                  <a:srgbClr val="E8593C"/>
                </a:solidFill>
                <a:latin typeface="Calibri"/>
                <a:ea typeface="Calibri"/>
                <a:cs typeface="Calibri"/>
                <a:sym typeface="Calibri"/>
              </a:rPr>
              <a:t>)</a:t>
            </a:r>
            <a:endParaRPr b="0" i="0" sz="1200" u="none" cap="none" strike="noStrike">
              <a:solidFill>
                <a:schemeClr val="dk1"/>
              </a:solidFill>
              <a:latin typeface="Calibri"/>
              <a:ea typeface="Calibri"/>
              <a:cs typeface="Calibri"/>
              <a:sym typeface="Calibri"/>
            </a:endParaRPr>
          </a:p>
        </p:txBody>
      </p:sp>
      <p:sp>
        <p:nvSpPr>
          <p:cNvPr id="123" name="Google Shape;123;p7"/>
          <p:cNvSpPr/>
          <p:nvPr/>
        </p:nvSpPr>
        <p:spPr>
          <a:xfrm>
            <a:off x="731520" y="3931920"/>
            <a:ext cx="7680960" cy="731520"/>
          </a:xfrm>
          <a:prstGeom prst="roundRect">
            <a:avLst>
              <a:gd fmla="val 12500" name="adj"/>
            </a:avLst>
          </a:prstGeom>
          <a:solidFill>
            <a:srgbClr val="FFF8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7"/>
          <p:cNvSpPr/>
          <p:nvPr/>
        </p:nvSpPr>
        <p:spPr>
          <a:xfrm>
            <a:off x="914400" y="3977640"/>
            <a:ext cx="7315200" cy="6400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F1B3D"/>
              </a:buClr>
              <a:buSzPts val="1300"/>
              <a:buFont typeface="Calibri"/>
              <a:buNone/>
            </a:pPr>
            <a:r>
              <a:rPr b="0" i="0" lang="en-US" sz="1300" u="none" cap="none" strike="noStrike">
                <a:solidFill>
                  <a:srgbClr val="0F1B3D"/>
                </a:solidFill>
                <a:latin typeface="Calibri"/>
                <a:ea typeface="Calibri"/>
                <a:cs typeface="Calibri"/>
                <a:sym typeface="Calibri"/>
              </a:rPr>
              <a:t>System 2 changed who entered the follow-up budget.</a:t>
            </a:r>
            <a:endParaRPr b="0" i="0" sz="13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F1B3D"/>
              </a:buClr>
              <a:buSzPts val="1300"/>
              <a:buFont typeface="Calibri"/>
              <a:buNone/>
            </a:pPr>
            <a:r>
              <a:rPr b="0" i="0" lang="en-US" sz="1300" u="none" cap="none" strike="noStrike">
                <a:solidFill>
                  <a:srgbClr val="0F1B3D"/>
                </a:solidFill>
                <a:latin typeface="Calibri"/>
                <a:ea typeface="Calibri"/>
                <a:cs typeface="Calibri"/>
                <a:sym typeface="Calibri"/>
              </a:rPr>
              <a:t>Tier membership takes precedence over score — but ML ranking is preserved within each tier.</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8"/>
          <p:cNvSpPr/>
          <p:nvPr/>
        </p:nvSpPr>
        <p:spPr>
          <a:xfrm>
            <a:off x="731520" y="274320"/>
            <a:ext cx="768096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2761"/>
              </a:buClr>
              <a:buSzPts val="2800"/>
              <a:buFont typeface="Calibri"/>
              <a:buNone/>
            </a:pPr>
            <a:r>
              <a:rPr b="1" i="0" lang="en-US" sz="2800" u="none" cap="none" strike="noStrike">
                <a:solidFill>
                  <a:srgbClr val="1E2761"/>
                </a:solidFill>
                <a:latin typeface="Calibri"/>
                <a:ea typeface="Calibri"/>
                <a:cs typeface="Calibri"/>
                <a:sym typeface="Calibri"/>
              </a:rPr>
              <a:t>Signal separation design</a:t>
            </a:r>
            <a:endParaRPr b="0" i="0" sz="2800" u="none" cap="none" strike="noStrike">
              <a:solidFill>
                <a:schemeClr val="dk1"/>
              </a:solidFill>
              <a:latin typeface="Calibri"/>
              <a:ea typeface="Calibri"/>
              <a:cs typeface="Calibri"/>
              <a:sym typeface="Calibri"/>
            </a:endParaRPr>
          </a:p>
        </p:txBody>
      </p:sp>
      <p:sp>
        <p:nvSpPr>
          <p:cNvPr id="131" name="Google Shape;131;p8"/>
          <p:cNvSpPr/>
          <p:nvPr/>
        </p:nvSpPr>
        <p:spPr>
          <a:xfrm>
            <a:off x="731520" y="731520"/>
            <a:ext cx="768096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200"/>
              <a:buFont typeface="Calibri"/>
              <a:buNone/>
            </a:pPr>
            <a:r>
              <a:rPr b="0" i="1" lang="en-US" sz="1200" u="none" cap="none" strike="noStrike">
                <a:solidFill>
                  <a:srgbClr val="64748B"/>
                </a:solidFill>
                <a:latin typeface="Calibri"/>
                <a:ea typeface="Calibri"/>
                <a:cs typeface="Calibri"/>
                <a:sym typeface="Calibri"/>
              </a:rPr>
              <a:t>Two signals withheld from ML model — reserved for qualification layer</a:t>
            </a:r>
            <a:endParaRPr b="0" i="0" sz="1200" u="none" cap="none" strike="noStrike">
              <a:solidFill>
                <a:schemeClr val="dk1"/>
              </a:solidFill>
              <a:latin typeface="Calibri"/>
              <a:ea typeface="Calibri"/>
              <a:cs typeface="Calibri"/>
              <a:sym typeface="Calibri"/>
            </a:endParaRPr>
          </a:p>
        </p:txBody>
      </p:sp>
      <p:sp>
        <p:nvSpPr>
          <p:cNvPr id="132" name="Google Shape;132;p8"/>
          <p:cNvSpPr/>
          <p:nvPr/>
        </p:nvSpPr>
        <p:spPr>
          <a:xfrm>
            <a:off x="731520" y="1234440"/>
            <a:ext cx="7680960" cy="1280160"/>
          </a:xfrm>
          <a:prstGeom prst="roundRect">
            <a:avLst>
              <a:gd fmla="val 8571" name="adj"/>
            </a:avLst>
          </a:prstGeom>
          <a:solidFill>
            <a:srgbClr val="F2F4F8"/>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8"/>
          <p:cNvSpPr/>
          <p:nvPr/>
        </p:nvSpPr>
        <p:spPr>
          <a:xfrm>
            <a:off x="914400" y="1325880"/>
            <a:ext cx="20116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593C"/>
              </a:buClr>
              <a:buSzPts val="1400"/>
              <a:buFont typeface="Calibri"/>
              <a:buNone/>
            </a:pPr>
            <a:r>
              <a:rPr b="1" i="0" lang="en-US" sz="1400" u="none" cap="none" strike="noStrike">
                <a:solidFill>
                  <a:srgbClr val="E8593C"/>
                </a:solidFill>
                <a:latin typeface="Calibri"/>
                <a:ea typeface="Calibri"/>
                <a:cs typeface="Calibri"/>
                <a:sym typeface="Calibri"/>
              </a:rPr>
              <a:t>P1 — Tier 1</a:t>
            </a:r>
            <a:endParaRPr b="0" i="0" sz="1400" u="none" cap="none" strike="noStrike">
              <a:solidFill>
                <a:schemeClr val="dk1"/>
              </a:solidFill>
              <a:latin typeface="Calibri"/>
              <a:ea typeface="Calibri"/>
              <a:cs typeface="Calibri"/>
              <a:sym typeface="Calibri"/>
            </a:endParaRPr>
          </a:p>
        </p:txBody>
      </p:sp>
      <p:sp>
        <p:nvSpPr>
          <p:cNvPr id="134" name="Google Shape;134;p8"/>
          <p:cNvSpPr/>
          <p:nvPr/>
        </p:nvSpPr>
        <p:spPr>
          <a:xfrm>
            <a:off x="914400" y="1645920"/>
            <a:ext cx="20116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B3D"/>
              </a:buClr>
              <a:buSzPts val="1800"/>
              <a:buFont typeface="Calibri"/>
              <a:buNone/>
            </a:pPr>
            <a:r>
              <a:rPr b="1" i="0" lang="en-US" sz="1800" u="none" cap="none" strike="noStrike">
                <a:solidFill>
                  <a:srgbClr val="0F1B3D"/>
                </a:solidFill>
                <a:latin typeface="Calibri"/>
                <a:ea typeface="Calibri"/>
                <a:cs typeface="Calibri"/>
                <a:sym typeface="Calibri"/>
              </a:rPr>
              <a:t>Working Professional</a:t>
            </a:r>
            <a:endParaRPr b="0" i="0" sz="1800" u="none" cap="none" strike="noStrike">
              <a:solidFill>
                <a:schemeClr val="dk1"/>
              </a:solidFill>
              <a:latin typeface="Calibri"/>
              <a:ea typeface="Calibri"/>
              <a:cs typeface="Calibri"/>
              <a:sym typeface="Calibri"/>
            </a:endParaRPr>
          </a:p>
        </p:txBody>
      </p:sp>
      <p:sp>
        <p:nvSpPr>
          <p:cNvPr id="135" name="Google Shape;135;p8"/>
          <p:cNvSpPr/>
          <p:nvPr/>
        </p:nvSpPr>
        <p:spPr>
          <a:xfrm>
            <a:off x="914400" y="2011680"/>
            <a:ext cx="20116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593C"/>
              </a:buClr>
              <a:buSzPts val="1400"/>
              <a:buFont typeface="Calibri"/>
              <a:buNone/>
            </a:pPr>
            <a:r>
              <a:rPr b="1" i="0" lang="en-US" sz="1400" u="none" cap="none" strike="noStrike">
                <a:solidFill>
                  <a:srgbClr val="E8593C"/>
                </a:solidFill>
                <a:latin typeface="Calibri"/>
                <a:ea typeface="Calibri"/>
                <a:cs typeface="Calibri"/>
                <a:sym typeface="Calibri"/>
              </a:rPr>
              <a:t>91% conversion</a:t>
            </a:r>
            <a:endParaRPr b="0" i="0" sz="1400" u="none" cap="none" strike="noStrike">
              <a:solidFill>
                <a:schemeClr val="dk1"/>
              </a:solidFill>
              <a:latin typeface="Calibri"/>
              <a:ea typeface="Calibri"/>
              <a:cs typeface="Calibri"/>
              <a:sym typeface="Calibri"/>
            </a:endParaRPr>
          </a:p>
        </p:txBody>
      </p:sp>
      <p:sp>
        <p:nvSpPr>
          <p:cNvPr id="136" name="Google Shape;136;p8"/>
          <p:cNvSpPr/>
          <p:nvPr/>
        </p:nvSpPr>
        <p:spPr>
          <a:xfrm>
            <a:off x="3200400" y="1371600"/>
            <a:ext cx="2286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761"/>
              </a:buClr>
              <a:buSzPts val="1300"/>
              <a:buFont typeface="Calibri"/>
              <a:buNone/>
            </a:pPr>
            <a:r>
              <a:rPr b="1" i="0" lang="en-US" sz="1300" u="none" cap="none" strike="noStrike">
                <a:solidFill>
                  <a:srgbClr val="1E2761"/>
                </a:solidFill>
                <a:latin typeface="Calibri"/>
                <a:ea typeface="Calibri"/>
                <a:cs typeface="Calibri"/>
                <a:sym typeface="Calibri"/>
              </a:rPr>
              <a:t>Commercial attractiveness</a:t>
            </a:r>
            <a:endParaRPr b="0" i="0" sz="1300" u="none" cap="none" strike="noStrike">
              <a:solidFill>
                <a:schemeClr val="dk1"/>
              </a:solidFill>
              <a:latin typeface="Calibri"/>
              <a:ea typeface="Calibri"/>
              <a:cs typeface="Calibri"/>
              <a:sym typeface="Calibri"/>
            </a:endParaRPr>
          </a:p>
        </p:txBody>
      </p:sp>
      <p:sp>
        <p:nvSpPr>
          <p:cNvPr id="137" name="Google Shape;137;p8"/>
          <p:cNvSpPr/>
          <p:nvPr/>
        </p:nvSpPr>
        <p:spPr>
          <a:xfrm>
            <a:off x="3200400" y="1691640"/>
            <a:ext cx="49377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Occupation confirmed through SDR</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interaction — plausibly post-scoring</a:t>
            </a:r>
            <a:endParaRPr b="0" i="0" sz="1200" u="none" cap="none" strike="noStrike">
              <a:solidFill>
                <a:schemeClr val="dk1"/>
              </a:solidFill>
              <a:latin typeface="Calibri"/>
              <a:ea typeface="Calibri"/>
              <a:cs typeface="Calibri"/>
              <a:sym typeface="Calibri"/>
            </a:endParaRPr>
          </a:p>
        </p:txBody>
      </p:sp>
      <p:sp>
        <p:nvSpPr>
          <p:cNvPr id="138" name="Google Shape;138;p8"/>
          <p:cNvSpPr/>
          <p:nvPr/>
        </p:nvSpPr>
        <p:spPr>
          <a:xfrm>
            <a:off x="731520" y="2743200"/>
            <a:ext cx="7680960" cy="1280160"/>
          </a:xfrm>
          <a:prstGeom prst="roundRect">
            <a:avLst>
              <a:gd fmla="val 8571" name="adj"/>
            </a:avLst>
          </a:prstGeom>
          <a:solidFill>
            <a:srgbClr val="F2F4F8"/>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8"/>
          <p:cNvSpPr/>
          <p:nvPr/>
        </p:nvSpPr>
        <p:spPr>
          <a:xfrm>
            <a:off x="914400" y="2834640"/>
            <a:ext cx="20116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593C"/>
              </a:buClr>
              <a:buSzPts val="1400"/>
              <a:buFont typeface="Calibri"/>
              <a:buNone/>
            </a:pPr>
            <a:r>
              <a:rPr b="1" i="0" lang="en-US" sz="1400" u="none" cap="none" strike="noStrike">
                <a:solidFill>
                  <a:srgbClr val="E8593C"/>
                </a:solidFill>
                <a:latin typeface="Calibri"/>
                <a:ea typeface="Calibri"/>
                <a:cs typeface="Calibri"/>
                <a:sym typeface="Calibri"/>
              </a:rPr>
              <a:t>P2 — Tier 2</a:t>
            </a:r>
            <a:endParaRPr b="0" i="0" sz="1400" u="none" cap="none" strike="noStrike">
              <a:solidFill>
                <a:schemeClr val="dk1"/>
              </a:solidFill>
              <a:latin typeface="Calibri"/>
              <a:ea typeface="Calibri"/>
              <a:cs typeface="Calibri"/>
              <a:sym typeface="Calibri"/>
            </a:endParaRPr>
          </a:p>
        </p:txBody>
      </p:sp>
      <p:sp>
        <p:nvSpPr>
          <p:cNvPr id="140" name="Google Shape;140;p8"/>
          <p:cNvSpPr/>
          <p:nvPr/>
        </p:nvSpPr>
        <p:spPr>
          <a:xfrm>
            <a:off x="914400" y="3154680"/>
            <a:ext cx="20116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B3D"/>
              </a:buClr>
              <a:buSzPts val="1800"/>
              <a:buFont typeface="Calibri"/>
              <a:buNone/>
            </a:pPr>
            <a:r>
              <a:rPr b="1" i="0" lang="en-US" sz="1800" u="none" cap="none" strike="noStrike">
                <a:solidFill>
                  <a:srgbClr val="0F1B3D"/>
                </a:solidFill>
                <a:latin typeface="Calibri"/>
                <a:ea typeface="Calibri"/>
                <a:cs typeface="Calibri"/>
                <a:sym typeface="Calibri"/>
              </a:rPr>
              <a:t>SMS Sent</a:t>
            </a:r>
            <a:endParaRPr b="0" i="0" sz="1800" u="none" cap="none" strike="noStrike">
              <a:solidFill>
                <a:schemeClr val="dk1"/>
              </a:solidFill>
              <a:latin typeface="Calibri"/>
              <a:ea typeface="Calibri"/>
              <a:cs typeface="Calibri"/>
              <a:sym typeface="Calibri"/>
            </a:endParaRPr>
          </a:p>
        </p:txBody>
      </p:sp>
      <p:sp>
        <p:nvSpPr>
          <p:cNvPr id="141" name="Google Shape;141;p8"/>
          <p:cNvSpPr/>
          <p:nvPr/>
        </p:nvSpPr>
        <p:spPr>
          <a:xfrm>
            <a:off x="914400" y="3520440"/>
            <a:ext cx="201168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593C"/>
              </a:buClr>
              <a:buSzPts val="1400"/>
              <a:buFont typeface="Calibri"/>
              <a:buNone/>
            </a:pPr>
            <a:r>
              <a:rPr b="1" i="0" lang="en-US" sz="1400" u="none" cap="none" strike="noStrike">
                <a:solidFill>
                  <a:srgbClr val="E8593C"/>
                </a:solidFill>
                <a:latin typeface="Calibri"/>
                <a:ea typeface="Calibri"/>
                <a:cs typeface="Calibri"/>
                <a:sym typeface="Calibri"/>
              </a:rPr>
              <a:t>59% conversion</a:t>
            </a:r>
            <a:endParaRPr b="0" i="0" sz="1400" u="none" cap="none" strike="noStrike">
              <a:solidFill>
                <a:schemeClr val="dk1"/>
              </a:solidFill>
              <a:latin typeface="Calibri"/>
              <a:ea typeface="Calibri"/>
              <a:cs typeface="Calibri"/>
              <a:sym typeface="Calibri"/>
            </a:endParaRPr>
          </a:p>
        </p:txBody>
      </p:sp>
      <p:sp>
        <p:nvSpPr>
          <p:cNvPr id="142" name="Google Shape;142;p8"/>
          <p:cNvSpPr/>
          <p:nvPr/>
        </p:nvSpPr>
        <p:spPr>
          <a:xfrm>
            <a:off x="3200400" y="2880360"/>
            <a:ext cx="2286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761"/>
              </a:buClr>
              <a:buSzPts val="1300"/>
              <a:buFont typeface="Calibri"/>
              <a:buNone/>
            </a:pPr>
            <a:r>
              <a:rPr b="1" i="0" lang="en-US" sz="1300" u="none" cap="none" strike="noStrike">
                <a:solidFill>
                  <a:srgbClr val="1E2761"/>
                </a:solidFill>
                <a:latin typeface="Calibri"/>
                <a:ea typeface="Calibri"/>
                <a:cs typeface="Calibri"/>
                <a:sym typeface="Calibri"/>
              </a:rPr>
              <a:t>Timing proxy</a:t>
            </a:r>
            <a:endParaRPr b="0" i="0" sz="1300" u="none" cap="none" strike="noStrike">
              <a:solidFill>
                <a:schemeClr val="dk1"/>
              </a:solidFill>
              <a:latin typeface="Calibri"/>
              <a:ea typeface="Calibri"/>
              <a:cs typeface="Calibri"/>
              <a:sym typeface="Calibri"/>
            </a:endParaRPr>
          </a:p>
        </p:txBody>
      </p:sp>
      <p:sp>
        <p:nvSpPr>
          <p:cNvPr id="143" name="Google Shape;143;p8"/>
          <p:cNvSpPr/>
          <p:nvPr/>
        </p:nvSpPr>
        <p:spPr>
          <a:xfrm>
            <a:off x="3200400" y="3200400"/>
            <a:ext cx="493776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SDR-initiated interaction —</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4748B"/>
              </a:buClr>
              <a:buSzPts val="1200"/>
              <a:buFont typeface="Calibri"/>
              <a:buNone/>
            </a:pPr>
            <a:r>
              <a:rPr b="0" i="0" lang="en-US" sz="1200" u="none" cap="none" strike="noStrike">
                <a:solidFill>
                  <a:srgbClr val="64748B"/>
                </a:solidFill>
                <a:latin typeface="Calibri"/>
                <a:ea typeface="Calibri"/>
                <a:cs typeface="Calibri"/>
                <a:sym typeface="Calibri"/>
              </a:rPr>
              <a:t>definitionally post-origination</a:t>
            </a:r>
            <a:endParaRPr b="0" i="0" sz="1200" u="none" cap="none" strike="noStrike">
              <a:solidFill>
                <a:schemeClr val="dk1"/>
              </a:solidFill>
              <a:latin typeface="Calibri"/>
              <a:ea typeface="Calibri"/>
              <a:cs typeface="Calibri"/>
              <a:sym typeface="Calibri"/>
            </a:endParaRPr>
          </a:p>
        </p:txBody>
      </p:sp>
      <p:sp>
        <p:nvSpPr>
          <p:cNvPr id="144" name="Google Shape;144;p8"/>
          <p:cNvSpPr/>
          <p:nvPr/>
        </p:nvSpPr>
        <p:spPr>
          <a:xfrm>
            <a:off x="731520" y="3749040"/>
            <a:ext cx="7680960" cy="822960"/>
          </a:xfrm>
          <a:prstGeom prst="roundRect">
            <a:avLst>
              <a:gd fmla="val 11111" name="adj"/>
            </a:avLst>
          </a:prstGeom>
          <a:solidFill>
            <a:srgbClr val="FFF8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8"/>
          <p:cNvSpPr/>
          <p:nvPr/>
        </p:nvSpPr>
        <p:spPr>
          <a:xfrm>
            <a:off x="914400" y="3840480"/>
            <a:ext cx="7315200" cy="6400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F1B3D"/>
              </a:buClr>
              <a:buSzPts val="1300"/>
              <a:buFont typeface="Calibri"/>
              <a:buNone/>
            </a:pPr>
            <a:r>
              <a:rPr b="0" i="0" lang="en-US" sz="1300" u="none" cap="none" strike="noStrike">
                <a:solidFill>
                  <a:srgbClr val="0F1B3D"/>
                </a:solidFill>
                <a:latin typeface="Calibri"/>
                <a:ea typeface="Calibri"/>
                <a:cs typeface="Calibri"/>
                <a:sym typeface="Calibri"/>
              </a:rPr>
              <a:t>Both signals are withheld from the ML model → the qualification layer operates</a:t>
            </a:r>
            <a:endParaRPr b="0" i="0" sz="13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0F1B3D"/>
              </a:buClr>
              <a:buSzPts val="1300"/>
              <a:buFont typeface="Calibri"/>
              <a:buNone/>
            </a:pPr>
            <a:r>
              <a:rPr b="0" i="0" lang="en-US" sz="1300" u="none" cap="none" strike="noStrike">
                <a:solidFill>
                  <a:srgbClr val="0F1B3D"/>
                </a:solidFill>
                <a:latin typeface="Calibri"/>
                <a:ea typeface="Calibri"/>
                <a:cs typeface="Calibri"/>
                <a:sym typeface="Calibri"/>
              </a:rPr>
              <a:t>on information the predictive score cannot access</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761"/>
        </a:solidFill>
      </p:bgPr>
    </p:bg>
    <p:spTree>
      <p:nvGrpSpPr>
        <p:cNvPr id="150" name="Shape 150"/>
        <p:cNvGrpSpPr/>
        <p:nvPr/>
      </p:nvGrpSpPr>
      <p:grpSpPr>
        <a:xfrm>
          <a:off x="0" y="0"/>
          <a:ext cx="0" cy="0"/>
          <a:chOff x="0" y="0"/>
          <a:chExt cx="0" cy="0"/>
        </a:xfrm>
      </p:grpSpPr>
      <p:pic>
        <p:nvPicPr>
          <p:cNvPr descr="preencoded.png" id="151" name="Google Shape;151;p9"/>
          <p:cNvPicPr preferRelativeResize="0"/>
          <p:nvPr/>
        </p:nvPicPr>
        <p:blipFill rotWithShape="1">
          <a:blip r:embed="rId3">
            <a:alphaModFix/>
          </a:blip>
          <a:srcRect b="0" l="0" r="0" t="0"/>
          <a:stretch/>
        </p:blipFill>
        <p:spPr>
          <a:xfrm>
            <a:off x="731520" y="411480"/>
            <a:ext cx="365760" cy="365760"/>
          </a:xfrm>
          <a:prstGeom prst="rect">
            <a:avLst/>
          </a:prstGeom>
          <a:noFill/>
          <a:ln>
            <a:noFill/>
          </a:ln>
        </p:spPr>
      </p:pic>
      <p:sp>
        <p:nvSpPr>
          <p:cNvPr id="152" name="Google Shape;152;p9"/>
          <p:cNvSpPr/>
          <p:nvPr/>
        </p:nvSpPr>
        <p:spPr>
          <a:xfrm>
            <a:off x="1234440" y="365760"/>
            <a:ext cx="64008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Calibri"/>
              <a:buNone/>
            </a:pPr>
            <a:r>
              <a:rPr b="1" i="0" lang="en-US" sz="2800" u="none" cap="none" strike="noStrike">
                <a:solidFill>
                  <a:srgbClr val="FFFFFF"/>
                </a:solidFill>
                <a:latin typeface="Calibri"/>
                <a:ea typeface="Calibri"/>
                <a:cs typeface="Calibri"/>
                <a:sym typeface="Calibri"/>
              </a:rPr>
              <a:t>Results: main finding</a:t>
            </a:r>
            <a:endParaRPr b="0" i="0" sz="2800" u="none" cap="none" strike="noStrike">
              <a:solidFill>
                <a:schemeClr val="dk1"/>
              </a:solidFill>
              <a:latin typeface="Calibri"/>
              <a:ea typeface="Calibri"/>
              <a:cs typeface="Calibri"/>
              <a:sym typeface="Calibri"/>
            </a:endParaRPr>
          </a:p>
        </p:txBody>
      </p:sp>
      <p:sp>
        <p:nvSpPr>
          <p:cNvPr id="153" name="Google Shape;153;p9"/>
          <p:cNvSpPr/>
          <p:nvPr/>
        </p:nvSpPr>
        <p:spPr>
          <a:xfrm>
            <a:off x="457200" y="1005840"/>
            <a:ext cx="3657600" cy="1463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593C"/>
              </a:buClr>
              <a:buSzPts val="8000"/>
              <a:buFont typeface="Calibri"/>
              <a:buNone/>
            </a:pPr>
            <a:r>
              <a:rPr b="1" i="0" lang="en-US" sz="8000" u="none" cap="none" strike="noStrike">
                <a:solidFill>
                  <a:srgbClr val="E8593C"/>
                </a:solidFill>
                <a:latin typeface="Calibri"/>
                <a:ea typeface="Calibri"/>
                <a:cs typeface="Calibri"/>
                <a:sym typeface="Calibri"/>
              </a:rPr>
              <a:t>+</a:t>
            </a:r>
            <a:r>
              <a:rPr b="1" lang="en-US" sz="8000">
                <a:solidFill>
                  <a:srgbClr val="E8593C"/>
                </a:solidFill>
                <a:latin typeface="Calibri"/>
                <a:ea typeface="Calibri"/>
                <a:cs typeface="Calibri"/>
                <a:sym typeface="Calibri"/>
              </a:rPr>
              <a:t>1</a:t>
            </a:r>
            <a:r>
              <a:rPr b="1" i="0" lang="en-US" sz="8000" u="none" cap="none" strike="noStrike">
                <a:solidFill>
                  <a:srgbClr val="E8593C"/>
                </a:solidFill>
                <a:latin typeface="Calibri"/>
                <a:ea typeface="Calibri"/>
                <a:cs typeface="Calibri"/>
                <a:sym typeface="Calibri"/>
              </a:rPr>
              <a:t>.</a:t>
            </a:r>
            <a:r>
              <a:rPr b="1" lang="en-US" sz="8000">
                <a:solidFill>
                  <a:srgbClr val="E8593C"/>
                </a:solidFill>
                <a:latin typeface="Calibri"/>
                <a:ea typeface="Calibri"/>
                <a:cs typeface="Calibri"/>
                <a:sym typeface="Calibri"/>
              </a:rPr>
              <a:t>7</a:t>
            </a:r>
            <a:r>
              <a:rPr b="1" i="0" lang="en-US" sz="8000" u="none" cap="none" strike="noStrike">
                <a:solidFill>
                  <a:srgbClr val="E8593C"/>
                </a:solidFill>
                <a:latin typeface="Calibri"/>
                <a:ea typeface="Calibri"/>
                <a:cs typeface="Calibri"/>
                <a:sym typeface="Calibri"/>
              </a:rPr>
              <a:t> pp</a:t>
            </a:r>
            <a:endParaRPr b="0" i="0" sz="8000" u="none" cap="none" strike="noStrike">
              <a:solidFill>
                <a:schemeClr val="dk1"/>
              </a:solidFill>
              <a:latin typeface="Calibri"/>
              <a:ea typeface="Calibri"/>
              <a:cs typeface="Calibri"/>
              <a:sym typeface="Calibri"/>
            </a:endParaRPr>
          </a:p>
        </p:txBody>
      </p:sp>
      <p:sp>
        <p:nvSpPr>
          <p:cNvPr id="154" name="Google Shape;154;p9"/>
          <p:cNvSpPr/>
          <p:nvPr/>
        </p:nvSpPr>
        <p:spPr>
          <a:xfrm>
            <a:off x="457200" y="2468880"/>
            <a:ext cx="365760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CADCFC"/>
              </a:buClr>
              <a:buSzPts val="1600"/>
              <a:buFont typeface="Calibri"/>
              <a:buNone/>
            </a:pPr>
            <a:r>
              <a:rPr b="0" i="0" lang="en-US" sz="1600" u="none" cap="none" strike="noStrike">
                <a:solidFill>
                  <a:srgbClr val="CADCFC"/>
                </a:solidFill>
                <a:latin typeface="Calibri"/>
                <a:ea typeface="Calibri"/>
                <a:cs typeface="Calibri"/>
                <a:sym typeface="Calibri"/>
              </a:rPr>
              <a:t>= </a:t>
            </a:r>
            <a:r>
              <a:rPr lang="en-US" sz="1600">
                <a:solidFill>
                  <a:srgbClr val="CADCFC"/>
                </a:solidFill>
                <a:latin typeface="Calibri"/>
                <a:ea typeface="Calibri"/>
                <a:cs typeface="Calibri"/>
                <a:sym typeface="Calibri"/>
              </a:rPr>
              <a:t>5</a:t>
            </a:r>
            <a:r>
              <a:rPr b="0" i="0" lang="en-US" sz="1600" u="none" cap="none" strike="noStrike">
                <a:solidFill>
                  <a:srgbClr val="CADCFC"/>
                </a:solidFill>
                <a:latin typeface="Calibri"/>
                <a:ea typeface="Calibri"/>
                <a:cs typeface="Calibri"/>
                <a:sym typeface="Calibri"/>
              </a:rPr>
              <a:t> additional converters</a:t>
            </a:r>
            <a:endParaRPr b="0" i="0" sz="16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CADCFC"/>
              </a:buClr>
              <a:buSzPts val="1600"/>
              <a:buFont typeface="Calibri"/>
              <a:buNone/>
            </a:pPr>
            <a:r>
              <a:rPr b="0" i="0" lang="en-US" sz="1600" u="none" cap="none" strike="noStrike">
                <a:solidFill>
                  <a:srgbClr val="CADCFC"/>
                </a:solidFill>
                <a:latin typeface="Calibri"/>
                <a:ea typeface="Calibri"/>
                <a:cs typeface="Calibri"/>
                <a:sym typeface="Calibri"/>
              </a:rPr>
              <a:t>same sales capacity</a:t>
            </a:r>
            <a:endParaRPr b="0" i="0" sz="1600" u="none" cap="none" strike="noStrike">
              <a:solidFill>
                <a:schemeClr val="dk1"/>
              </a:solidFill>
              <a:latin typeface="Calibri"/>
              <a:ea typeface="Calibri"/>
              <a:cs typeface="Calibri"/>
              <a:sym typeface="Calibri"/>
            </a:endParaRPr>
          </a:p>
        </p:txBody>
      </p:sp>
      <p:graphicFrame>
        <p:nvGraphicFramePr>
          <p:cNvPr id="155" name="Google Shape;155;p9"/>
          <p:cNvGraphicFramePr/>
          <p:nvPr/>
        </p:nvGraphicFramePr>
        <p:xfrm>
          <a:off x="4389120" y="1188720"/>
          <a:ext cx="3000000" cy="3000000"/>
        </p:xfrm>
        <a:graphic>
          <a:graphicData uri="http://schemas.openxmlformats.org/drawingml/2006/table">
            <a:tbl>
              <a:tblPr>
                <a:noFill/>
                <a:tableStyleId>{510F0B6E-511E-4486-9144-9411189B104C}</a:tableStyleId>
              </a:tblPr>
              <a:tblGrid>
                <a:gridCol w="1920250"/>
                <a:gridCol w="1280150"/>
                <a:gridCol w="1097275"/>
              </a:tblGrid>
              <a:tr h="365750">
                <a:tc>
                  <a:txBody>
                    <a:bodyPr/>
                    <a:lstStyle/>
                    <a:p>
                      <a:pPr indent="0" lvl="0" marL="0" marR="0" rtl="0" algn="ctr">
                        <a:spcBef>
                          <a:spcPts val="0"/>
                        </a:spcBef>
                        <a:spcAft>
                          <a:spcPts val="0"/>
                        </a:spcAft>
                        <a:buClr>
                          <a:srgbClr val="FFFFFF"/>
                        </a:buClr>
                        <a:buSzPts val="1300"/>
                        <a:buFont typeface="Calibri"/>
                        <a:buNone/>
                      </a:pPr>
                      <a:r>
                        <a:rPr b="1" lang="en-US" sz="1300" u="none" cap="none" strike="noStrike">
                          <a:solidFill>
                            <a:srgbClr val="FFFFFF"/>
                          </a:solidFill>
                          <a:latin typeface="Calibri"/>
                          <a:ea typeface="Calibri"/>
                          <a:cs typeface="Calibri"/>
                          <a:sym typeface="Calibri"/>
                        </a:rPr>
                        <a:t>System</a:t>
                      </a:r>
                      <a:endParaRPr sz="1300" u="none" cap="none" strike="noStrike">
                        <a:latin typeface="Calibri"/>
                        <a:ea typeface="Calibri"/>
                        <a:cs typeface="Calibri"/>
                        <a:sym typeface="Calibri"/>
                      </a:endParaRPr>
                    </a:p>
                  </a:txBody>
                  <a:tcPr marT="45725" marB="45725" marR="91450" marL="91450" anchor="ctr">
                    <a:lnL cap="flat" cmpd="sng" w="9525">
                      <a:solidFill>
                        <a:srgbClr val="3A4580"/>
                      </a:solidFill>
                      <a:prstDash val="solid"/>
                      <a:round/>
                      <a:headEnd len="sm" w="sm" type="none"/>
                      <a:tailEnd len="sm" w="sm" type="none"/>
                    </a:lnL>
                    <a:lnR cap="flat" cmpd="sng" w="9525">
                      <a:solidFill>
                        <a:srgbClr val="3A4580"/>
                      </a:solidFill>
                      <a:prstDash val="solid"/>
                      <a:round/>
                      <a:headEnd len="sm" w="sm" type="none"/>
                      <a:tailEnd len="sm" w="sm" type="none"/>
                    </a:lnR>
                    <a:lnT cap="flat" cmpd="sng" w="9525">
                      <a:solidFill>
                        <a:srgbClr val="3A4580"/>
                      </a:solidFill>
                      <a:prstDash val="solid"/>
                      <a:round/>
                      <a:headEnd len="sm" w="sm" type="none"/>
                      <a:tailEnd len="sm" w="sm" type="none"/>
                    </a:lnT>
                    <a:lnB cap="flat" cmpd="sng" w="9525">
                      <a:solidFill>
                        <a:srgbClr val="3A4580"/>
                      </a:solidFill>
                      <a:prstDash val="solid"/>
                      <a:round/>
                      <a:headEnd len="sm" w="sm" type="none"/>
                      <a:tailEnd len="sm" w="sm" type="none"/>
                    </a:lnB>
                    <a:solidFill>
                      <a:srgbClr val="243380"/>
                    </a:solidFill>
                  </a:tcPr>
                </a:tc>
                <a:tc>
                  <a:txBody>
                    <a:bodyPr/>
                    <a:lstStyle/>
                    <a:p>
                      <a:pPr indent="0" lvl="0" marL="0" marR="0" rtl="0" algn="ctr">
                        <a:spcBef>
                          <a:spcPts val="0"/>
                        </a:spcBef>
                        <a:spcAft>
                          <a:spcPts val="0"/>
                        </a:spcAft>
                        <a:buClr>
                          <a:srgbClr val="FFFFFF"/>
                        </a:buClr>
                        <a:buSzPts val="1300"/>
                        <a:buFont typeface="Calibri"/>
                        <a:buNone/>
                      </a:pPr>
                      <a:r>
                        <a:rPr b="1" lang="en-US" sz="1300" u="none" cap="none" strike="noStrike">
                          <a:solidFill>
                            <a:srgbClr val="FFFFFF"/>
                          </a:solidFill>
                          <a:latin typeface="Calibri"/>
                          <a:ea typeface="Calibri"/>
                          <a:cs typeface="Calibri"/>
                          <a:sym typeface="Calibri"/>
                        </a:rPr>
                        <a:t>Precision@K</a:t>
                      </a:r>
                      <a:endParaRPr sz="1300" u="none" cap="none" strike="noStrike">
                        <a:latin typeface="Calibri"/>
                        <a:ea typeface="Calibri"/>
                        <a:cs typeface="Calibri"/>
                        <a:sym typeface="Calibri"/>
                      </a:endParaRPr>
                    </a:p>
                  </a:txBody>
                  <a:tcPr marT="45725" marB="45725" marR="91450" marL="91450" anchor="ctr">
                    <a:lnL cap="flat" cmpd="sng" w="9525">
                      <a:solidFill>
                        <a:srgbClr val="3A4580"/>
                      </a:solidFill>
                      <a:prstDash val="solid"/>
                      <a:round/>
                      <a:headEnd len="sm" w="sm" type="none"/>
                      <a:tailEnd len="sm" w="sm" type="none"/>
                    </a:lnL>
                    <a:lnR cap="flat" cmpd="sng" w="9525">
                      <a:solidFill>
                        <a:srgbClr val="3A4580"/>
                      </a:solidFill>
                      <a:prstDash val="solid"/>
                      <a:round/>
                      <a:headEnd len="sm" w="sm" type="none"/>
                      <a:tailEnd len="sm" w="sm" type="none"/>
                    </a:lnR>
                    <a:lnT cap="flat" cmpd="sng" w="9525">
                      <a:solidFill>
                        <a:srgbClr val="3A4580"/>
                      </a:solidFill>
                      <a:prstDash val="solid"/>
                      <a:round/>
                      <a:headEnd len="sm" w="sm" type="none"/>
                      <a:tailEnd len="sm" w="sm" type="none"/>
                    </a:lnT>
                    <a:lnB cap="flat" cmpd="sng" w="9525">
                      <a:solidFill>
                        <a:srgbClr val="3A4580"/>
                      </a:solidFill>
                      <a:prstDash val="solid"/>
                      <a:round/>
                      <a:headEnd len="sm" w="sm" type="none"/>
                      <a:tailEnd len="sm" w="sm" type="none"/>
                    </a:lnB>
                    <a:solidFill>
                      <a:srgbClr val="243380"/>
                    </a:solidFill>
                  </a:tcPr>
                </a:tc>
                <a:tc>
                  <a:txBody>
                    <a:bodyPr/>
                    <a:lstStyle/>
                    <a:p>
                      <a:pPr indent="0" lvl="0" marL="0" marR="0" rtl="0" algn="ctr">
                        <a:spcBef>
                          <a:spcPts val="0"/>
                        </a:spcBef>
                        <a:spcAft>
                          <a:spcPts val="0"/>
                        </a:spcAft>
                        <a:buClr>
                          <a:srgbClr val="FFFFFF"/>
                        </a:buClr>
                        <a:buSzPts val="1300"/>
                        <a:buFont typeface="Calibri"/>
                        <a:buNone/>
                      </a:pPr>
                      <a:r>
                        <a:rPr b="1" lang="en-US" sz="1300" u="none" cap="none" strike="noStrike">
                          <a:solidFill>
                            <a:srgbClr val="FFFFFF"/>
                          </a:solidFill>
                          <a:latin typeface="Calibri"/>
                          <a:ea typeface="Calibri"/>
                          <a:cs typeface="Calibri"/>
                          <a:sym typeface="Calibri"/>
                        </a:rPr>
                        <a:t>vs S1</a:t>
                      </a:r>
                      <a:endParaRPr sz="1300" u="none" cap="none" strike="noStrike">
                        <a:latin typeface="Calibri"/>
                        <a:ea typeface="Calibri"/>
                        <a:cs typeface="Calibri"/>
                        <a:sym typeface="Calibri"/>
                      </a:endParaRPr>
                    </a:p>
                  </a:txBody>
                  <a:tcPr marT="45725" marB="45725" marR="91450" marL="91450" anchor="ctr">
                    <a:lnL cap="flat" cmpd="sng" w="9525">
                      <a:solidFill>
                        <a:srgbClr val="3A4580"/>
                      </a:solidFill>
                      <a:prstDash val="solid"/>
                      <a:round/>
                      <a:headEnd len="sm" w="sm" type="none"/>
                      <a:tailEnd len="sm" w="sm" type="none"/>
                    </a:lnL>
                    <a:lnR cap="flat" cmpd="sng" w="9525">
                      <a:solidFill>
                        <a:srgbClr val="3A4580"/>
                      </a:solidFill>
                      <a:prstDash val="solid"/>
                      <a:round/>
                      <a:headEnd len="sm" w="sm" type="none"/>
                      <a:tailEnd len="sm" w="sm" type="none"/>
                    </a:lnR>
                    <a:lnT cap="flat" cmpd="sng" w="9525">
                      <a:solidFill>
                        <a:srgbClr val="3A4580"/>
                      </a:solidFill>
                      <a:prstDash val="solid"/>
                      <a:round/>
                      <a:headEnd len="sm" w="sm" type="none"/>
                      <a:tailEnd len="sm" w="sm" type="none"/>
                    </a:lnT>
                    <a:lnB cap="flat" cmpd="sng" w="9525">
                      <a:solidFill>
                        <a:srgbClr val="3A4580"/>
                      </a:solidFill>
                      <a:prstDash val="solid"/>
                      <a:round/>
                      <a:headEnd len="sm" w="sm" type="none"/>
                      <a:tailEnd len="sm" w="sm" type="none"/>
                    </a:lnB>
                    <a:solidFill>
                      <a:srgbClr val="243380"/>
                    </a:solidFill>
                  </a:tcPr>
                </a:tc>
              </a:tr>
              <a:tr h="365750">
                <a:tc>
                  <a:txBody>
                    <a:bodyPr/>
                    <a:lstStyle/>
                    <a:p>
                      <a:pPr indent="0" lvl="0" marL="0" marR="0" rtl="0" algn="ctr">
                        <a:spcBef>
                          <a:spcPts val="0"/>
                        </a:spcBef>
                        <a:spcAft>
                          <a:spcPts val="0"/>
                        </a:spcAft>
                        <a:buClr>
                          <a:srgbClr val="FFFFFF"/>
                        </a:buClr>
                        <a:buSzPts val="1300"/>
                        <a:buFont typeface="Calibri"/>
                        <a:buNone/>
                      </a:pPr>
                      <a:r>
                        <a:rPr lang="en-US" sz="1300" u="none" cap="none" strike="noStrike">
                          <a:solidFill>
                            <a:srgbClr val="FFFFFF"/>
                          </a:solidFill>
                          <a:latin typeface="Calibri"/>
                          <a:ea typeface="Calibri"/>
                          <a:cs typeface="Calibri"/>
                          <a:sym typeface="Calibri"/>
                        </a:rPr>
                        <a:t>S1 — ML baseline</a:t>
                      </a:r>
                      <a:endParaRPr sz="1300" u="none" cap="none" strike="noStrike">
                        <a:latin typeface="Calibri"/>
                        <a:ea typeface="Calibri"/>
                        <a:cs typeface="Calibri"/>
                        <a:sym typeface="Calibri"/>
                      </a:endParaRPr>
                    </a:p>
                  </a:txBody>
                  <a:tcPr marT="45725" marB="45725" marR="91450" marL="91450" anchor="ctr">
                    <a:lnL cap="flat" cmpd="sng" w="9525">
                      <a:solidFill>
                        <a:srgbClr val="3A4580"/>
                      </a:solidFill>
                      <a:prstDash val="solid"/>
                      <a:round/>
                      <a:headEnd len="sm" w="sm" type="none"/>
                      <a:tailEnd len="sm" w="sm" type="none"/>
                    </a:lnL>
                    <a:lnR cap="flat" cmpd="sng" w="9525">
                      <a:solidFill>
                        <a:srgbClr val="3A4580"/>
                      </a:solidFill>
                      <a:prstDash val="solid"/>
                      <a:round/>
                      <a:headEnd len="sm" w="sm" type="none"/>
                      <a:tailEnd len="sm" w="sm" type="none"/>
                    </a:lnR>
                    <a:lnT cap="flat" cmpd="sng" w="9525">
                      <a:solidFill>
                        <a:srgbClr val="3A4580"/>
                      </a:solidFill>
                      <a:prstDash val="solid"/>
                      <a:round/>
                      <a:headEnd len="sm" w="sm" type="none"/>
                      <a:tailEnd len="sm" w="sm" type="none"/>
                    </a:lnT>
                    <a:lnB cap="flat" cmpd="sng" w="9525">
                      <a:solidFill>
                        <a:srgbClr val="3A4580"/>
                      </a:solidFill>
                      <a:prstDash val="solid"/>
                      <a:round/>
                      <a:headEnd len="sm" w="sm" type="none"/>
                      <a:tailEnd len="sm" w="sm" type="none"/>
                    </a:lnB>
                    <a:solidFill>
                      <a:srgbClr val="1E2F6E"/>
                    </a:solidFill>
                  </a:tcPr>
                </a:tc>
                <a:tc>
                  <a:txBody>
                    <a:bodyPr/>
                    <a:lstStyle/>
                    <a:p>
                      <a:pPr indent="0" lvl="0" marL="0" marR="0" rtl="0" algn="ctr">
                        <a:spcBef>
                          <a:spcPts val="0"/>
                        </a:spcBef>
                        <a:spcAft>
                          <a:spcPts val="0"/>
                        </a:spcAft>
                        <a:buClr>
                          <a:srgbClr val="FFFFFF"/>
                        </a:buClr>
                        <a:buSzPts val="1300"/>
                        <a:buFont typeface="Calibri"/>
                        <a:buNone/>
                      </a:pPr>
                      <a:r>
                        <a:rPr lang="en-US" sz="1300" u="none" cap="none" strike="noStrike">
                          <a:solidFill>
                            <a:srgbClr val="FFFFFF"/>
                          </a:solidFill>
                          <a:latin typeface="Calibri"/>
                          <a:ea typeface="Calibri"/>
                          <a:cs typeface="Calibri"/>
                          <a:sym typeface="Calibri"/>
                        </a:rPr>
                        <a:t>8</a:t>
                      </a:r>
                      <a:r>
                        <a:rPr lang="en-US" sz="1300">
                          <a:solidFill>
                            <a:srgbClr val="FFFFFF"/>
                          </a:solidFill>
                          <a:latin typeface="Calibri"/>
                          <a:ea typeface="Calibri"/>
                          <a:cs typeface="Calibri"/>
                          <a:sym typeface="Calibri"/>
                        </a:rPr>
                        <a:t>7</a:t>
                      </a:r>
                      <a:r>
                        <a:rPr lang="en-US" sz="1300" u="none" cap="none" strike="noStrike">
                          <a:solidFill>
                            <a:srgbClr val="FFFFFF"/>
                          </a:solidFill>
                          <a:latin typeface="Calibri"/>
                          <a:ea typeface="Calibri"/>
                          <a:cs typeface="Calibri"/>
                          <a:sym typeface="Calibri"/>
                        </a:rPr>
                        <a:t>.</a:t>
                      </a:r>
                      <a:r>
                        <a:rPr lang="en-US" sz="1300">
                          <a:solidFill>
                            <a:srgbClr val="FFFFFF"/>
                          </a:solidFill>
                          <a:latin typeface="Calibri"/>
                          <a:ea typeface="Calibri"/>
                          <a:cs typeface="Calibri"/>
                          <a:sym typeface="Calibri"/>
                        </a:rPr>
                        <a:t>7</a:t>
                      </a:r>
                      <a:r>
                        <a:rPr lang="en-US" sz="1300" u="none" cap="none" strike="noStrike">
                          <a:solidFill>
                            <a:srgbClr val="FFFFFF"/>
                          </a:solidFill>
                          <a:latin typeface="Calibri"/>
                          <a:ea typeface="Calibri"/>
                          <a:cs typeface="Calibri"/>
                          <a:sym typeface="Calibri"/>
                        </a:rPr>
                        <a:t>%</a:t>
                      </a:r>
                      <a:endParaRPr sz="1300" u="none" cap="none" strike="noStrike">
                        <a:latin typeface="Calibri"/>
                        <a:ea typeface="Calibri"/>
                        <a:cs typeface="Calibri"/>
                        <a:sym typeface="Calibri"/>
                      </a:endParaRPr>
                    </a:p>
                  </a:txBody>
                  <a:tcPr marT="45725" marB="45725" marR="91450" marL="91450" anchor="ctr">
                    <a:lnL cap="flat" cmpd="sng" w="9525">
                      <a:solidFill>
                        <a:srgbClr val="3A4580"/>
                      </a:solidFill>
                      <a:prstDash val="solid"/>
                      <a:round/>
                      <a:headEnd len="sm" w="sm" type="none"/>
                      <a:tailEnd len="sm" w="sm" type="none"/>
                    </a:lnL>
                    <a:lnR cap="flat" cmpd="sng" w="9525">
                      <a:solidFill>
                        <a:srgbClr val="3A4580"/>
                      </a:solidFill>
                      <a:prstDash val="solid"/>
                      <a:round/>
                      <a:headEnd len="sm" w="sm" type="none"/>
                      <a:tailEnd len="sm" w="sm" type="none"/>
                    </a:lnR>
                    <a:lnT cap="flat" cmpd="sng" w="9525">
                      <a:solidFill>
                        <a:srgbClr val="3A4580"/>
                      </a:solidFill>
                      <a:prstDash val="solid"/>
                      <a:round/>
                      <a:headEnd len="sm" w="sm" type="none"/>
                      <a:tailEnd len="sm" w="sm" type="none"/>
                    </a:lnT>
                    <a:lnB cap="flat" cmpd="sng" w="9525">
                      <a:solidFill>
                        <a:srgbClr val="3A4580"/>
                      </a:solidFill>
                      <a:prstDash val="solid"/>
                      <a:round/>
                      <a:headEnd len="sm" w="sm" type="none"/>
                      <a:tailEnd len="sm" w="sm" type="none"/>
                    </a:lnB>
                    <a:solidFill>
                      <a:srgbClr val="1E2F6E"/>
                    </a:solidFill>
                  </a:tcPr>
                </a:tc>
                <a:tc>
                  <a:txBody>
                    <a:bodyPr/>
                    <a:lstStyle/>
                    <a:p>
                      <a:pPr indent="0" lvl="0" marL="0" marR="0" rtl="0" algn="ctr">
                        <a:spcBef>
                          <a:spcPts val="0"/>
                        </a:spcBef>
                        <a:spcAft>
                          <a:spcPts val="0"/>
                        </a:spcAft>
                        <a:buClr>
                          <a:srgbClr val="FFFFFF"/>
                        </a:buClr>
                        <a:buSzPts val="1300"/>
                        <a:buFont typeface="Calibri"/>
                        <a:buNone/>
                      </a:pPr>
                      <a:r>
                        <a:rPr lang="en-US" sz="1300" u="none" cap="none" strike="noStrike">
                          <a:solidFill>
                            <a:srgbClr val="FFFFFF"/>
                          </a:solidFill>
                          <a:latin typeface="Calibri"/>
                          <a:ea typeface="Calibri"/>
                          <a:cs typeface="Calibri"/>
                          <a:sym typeface="Calibri"/>
                        </a:rPr>
                        <a:t>—</a:t>
                      </a:r>
                      <a:endParaRPr sz="1300" u="none" cap="none" strike="noStrike">
                        <a:latin typeface="Calibri"/>
                        <a:ea typeface="Calibri"/>
                        <a:cs typeface="Calibri"/>
                        <a:sym typeface="Calibri"/>
                      </a:endParaRPr>
                    </a:p>
                  </a:txBody>
                  <a:tcPr marT="45725" marB="45725" marR="91450" marL="91450" anchor="ctr">
                    <a:lnL cap="flat" cmpd="sng" w="9525">
                      <a:solidFill>
                        <a:srgbClr val="3A4580"/>
                      </a:solidFill>
                      <a:prstDash val="solid"/>
                      <a:round/>
                      <a:headEnd len="sm" w="sm" type="none"/>
                      <a:tailEnd len="sm" w="sm" type="none"/>
                    </a:lnL>
                    <a:lnR cap="flat" cmpd="sng" w="9525">
                      <a:solidFill>
                        <a:srgbClr val="3A4580"/>
                      </a:solidFill>
                      <a:prstDash val="solid"/>
                      <a:round/>
                      <a:headEnd len="sm" w="sm" type="none"/>
                      <a:tailEnd len="sm" w="sm" type="none"/>
                    </a:lnR>
                    <a:lnT cap="flat" cmpd="sng" w="9525">
                      <a:solidFill>
                        <a:srgbClr val="3A4580"/>
                      </a:solidFill>
                      <a:prstDash val="solid"/>
                      <a:round/>
                      <a:headEnd len="sm" w="sm" type="none"/>
                      <a:tailEnd len="sm" w="sm" type="none"/>
                    </a:lnT>
                    <a:lnB cap="flat" cmpd="sng" w="9525">
                      <a:solidFill>
                        <a:srgbClr val="3A4580"/>
                      </a:solidFill>
                      <a:prstDash val="solid"/>
                      <a:round/>
                      <a:headEnd len="sm" w="sm" type="none"/>
                      <a:tailEnd len="sm" w="sm" type="none"/>
                    </a:lnB>
                    <a:solidFill>
                      <a:srgbClr val="1E2F6E"/>
                    </a:solidFill>
                  </a:tcPr>
                </a:tc>
              </a:tr>
              <a:tr h="411475">
                <a:tc>
                  <a:txBody>
                    <a:bodyPr/>
                    <a:lstStyle/>
                    <a:p>
                      <a:pPr indent="0" lvl="0" marL="0" marR="0" rtl="0" algn="ctr">
                        <a:spcBef>
                          <a:spcPts val="0"/>
                        </a:spcBef>
                        <a:spcAft>
                          <a:spcPts val="0"/>
                        </a:spcAft>
                        <a:buClr>
                          <a:srgbClr val="FFFFFF"/>
                        </a:buClr>
                        <a:buSzPts val="1300"/>
                        <a:buFont typeface="Calibri"/>
                        <a:buNone/>
                      </a:pPr>
                      <a:r>
                        <a:rPr b="1" lang="en-US" sz="1300" u="none" cap="none" strike="noStrike">
                          <a:solidFill>
                            <a:srgbClr val="FFFFFF"/>
                          </a:solidFill>
                          <a:latin typeface="Calibri"/>
                          <a:ea typeface="Calibri"/>
                          <a:cs typeface="Calibri"/>
                          <a:sym typeface="Calibri"/>
                        </a:rPr>
                        <a:t>S2 — Tier qualification</a:t>
                      </a:r>
                      <a:endParaRPr sz="1300" u="none" cap="none" strike="noStrike">
                        <a:latin typeface="Calibri"/>
                        <a:ea typeface="Calibri"/>
                        <a:cs typeface="Calibri"/>
                        <a:sym typeface="Calibri"/>
                      </a:endParaRPr>
                    </a:p>
                  </a:txBody>
                  <a:tcPr marT="45725" marB="45725" marR="91450" marL="91450" anchor="ctr">
                    <a:lnL cap="flat" cmpd="sng" w="9525">
                      <a:solidFill>
                        <a:srgbClr val="3A4580"/>
                      </a:solidFill>
                      <a:prstDash val="solid"/>
                      <a:round/>
                      <a:headEnd len="sm" w="sm" type="none"/>
                      <a:tailEnd len="sm" w="sm" type="none"/>
                    </a:lnL>
                    <a:lnR cap="flat" cmpd="sng" w="9525">
                      <a:solidFill>
                        <a:srgbClr val="3A4580"/>
                      </a:solidFill>
                      <a:prstDash val="solid"/>
                      <a:round/>
                      <a:headEnd len="sm" w="sm" type="none"/>
                      <a:tailEnd len="sm" w="sm" type="none"/>
                    </a:lnR>
                    <a:lnT cap="flat" cmpd="sng" w="9525">
                      <a:solidFill>
                        <a:srgbClr val="3A4580"/>
                      </a:solidFill>
                      <a:prstDash val="solid"/>
                      <a:round/>
                      <a:headEnd len="sm" w="sm" type="none"/>
                      <a:tailEnd len="sm" w="sm" type="none"/>
                    </a:lnT>
                    <a:lnB cap="flat" cmpd="sng" w="9525">
                      <a:solidFill>
                        <a:srgbClr val="3A4580"/>
                      </a:solidFill>
                      <a:prstDash val="solid"/>
                      <a:round/>
                      <a:headEnd len="sm" w="sm" type="none"/>
                      <a:tailEnd len="sm" w="sm" type="none"/>
                    </a:lnB>
                    <a:solidFill>
                      <a:srgbClr val="3A1A0A"/>
                    </a:solidFill>
                  </a:tcPr>
                </a:tc>
                <a:tc>
                  <a:txBody>
                    <a:bodyPr/>
                    <a:lstStyle/>
                    <a:p>
                      <a:pPr indent="0" lvl="0" marL="0" marR="0" rtl="0" algn="ctr">
                        <a:spcBef>
                          <a:spcPts val="0"/>
                        </a:spcBef>
                        <a:spcAft>
                          <a:spcPts val="0"/>
                        </a:spcAft>
                        <a:buClr>
                          <a:srgbClr val="FFFFFF"/>
                        </a:buClr>
                        <a:buSzPts val="1300"/>
                        <a:buFont typeface="Calibri"/>
                        <a:buNone/>
                      </a:pPr>
                      <a:r>
                        <a:rPr b="1" lang="en-US" sz="1300" u="none" cap="none" strike="noStrike">
                          <a:solidFill>
                            <a:srgbClr val="FFFFFF"/>
                          </a:solidFill>
                          <a:latin typeface="Calibri"/>
                          <a:ea typeface="Calibri"/>
                          <a:cs typeface="Calibri"/>
                          <a:sym typeface="Calibri"/>
                        </a:rPr>
                        <a:t>8</a:t>
                      </a:r>
                      <a:r>
                        <a:rPr b="1" lang="en-US" sz="1300">
                          <a:solidFill>
                            <a:srgbClr val="FFFFFF"/>
                          </a:solidFill>
                          <a:latin typeface="Calibri"/>
                          <a:ea typeface="Calibri"/>
                          <a:cs typeface="Calibri"/>
                          <a:sym typeface="Calibri"/>
                        </a:rPr>
                        <a:t>9</a:t>
                      </a:r>
                      <a:r>
                        <a:rPr b="1" lang="en-US" sz="1300" u="none" cap="none" strike="noStrike">
                          <a:solidFill>
                            <a:srgbClr val="FFFFFF"/>
                          </a:solidFill>
                          <a:latin typeface="Calibri"/>
                          <a:ea typeface="Calibri"/>
                          <a:cs typeface="Calibri"/>
                          <a:sym typeface="Calibri"/>
                        </a:rPr>
                        <a:t>.</a:t>
                      </a:r>
                      <a:r>
                        <a:rPr b="1" lang="en-US" sz="1300">
                          <a:solidFill>
                            <a:srgbClr val="FFFFFF"/>
                          </a:solidFill>
                          <a:latin typeface="Calibri"/>
                          <a:ea typeface="Calibri"/>
                          <a:cs typeface="Calibri"/>
                          <a:sym typeface="Calibri"/>
                        </a:rPr>
                        <a:t>4</a:t>
                      </a:r>
                      <a:r>
                        <a:rPr b="1" lang="en-US" sz="1300" u="none" cap="none" strike="noStrike">
                          <a:solidFill>
                            <a:srgbClr val="FFFFFF"/>
                          </a:solidFill>
                          <a:latin typeface="Calibri"/>
                          <a:ea typeface="Calibri"/>
                          <a:cs typeface="Calibri"/>
                          <a:sym typeface="Calibri"/>
                        </a:rPr>
                        <a:t>%</a:t>
                      </a:r>
                      <a:endParaRPr sz="1300" u="none" cap="none" strike="noStrike">
                        <a:latin typeface="Calibri"/>
                        <a:ea typeface="Calibri"/>
                        <a:cs typeface="Calibri"/>
                        <a:sym typeface="Calibri"/>
                      </a:endParaRPr>
                    </a:p>
                  </a:txBody>
                  <a:tcPr marT="45725" marB="45725" marR="91450" marL="91450" anchor="ctr">
                    <a:lnL cap="flat" cmpd="sng" w="9525">
                      <a:solidFill>
                        <a:srgbClr val="3A4580"/>
                      </a:solidFill>
                      <a:prstDash val="solid"/>
                      <a:round/>
                      <a:headEnd len="sm" w="sm" type="none"/>
                      <a:tailEnd len="sm" w="sm" type="none"/>
                    </a:lnL>
                    <a:lnR cap="flat" cmpd="sng" w="9525">
                      <a:solidFill>
                        <a:srgbClr val="3A4580"/>
                      </a:solidFill>
                      <a:prstDash val="solid"/>
                      <a:round/>
                      <a:headEnd len="sm" w="sm" type="none"/>
                      <a:tailEnd len="sm" w="sm" type="none"/>
                    </a:lnR>
                    <a:lnT cap="flat" cmpd="sng" w="9525">
                      <a:solidFill>
                        <a:srgbClr val="3A4580"/>
                      </a:solidFill>
                      <a:prstDash val="solid"/>
                      <a:round/>
                      <a:headEnd len="sm" w="sm" type="none"/>
                      <a:tailEnd len="sm" w="sm" type="none"/>
                    </a:lnT>
                    <a:lnB cap="flat" cmpd="sng" w="9525">
                      <a:solidFill>
                        <a:srgbClr val="3A4580"/>
                      </a:solidFill>
                      <a:prstDash val="solid"/>
                      <a:round/>
                      <a:headEnd len="sm" w="sm" type="none"/>
                      <a:tailEnd len="sm" w="sm" type="none"/>
                    </a:lnB>
                    <a:solidFill>
                      <a:srgbClr val="3A1A0A"/>
                    </a:solidFill>
                  </a:tcPr>
                </a:tc>
                <a:tc>
                  <a:txBody>
                    <a:bodyPr/>
                    <a:lstStyle/>
                    <a:p>
                      <a:pPr indent="0" lvl="0" marL="0" marR="0" rtl="0" algn="ctr">
                        <a:spcBef>
                          <a:spcPts val="0"/>
                        </a:spcBef>
                        <a:spcAft>
                          <a:spcPts val="0"/>
                        </a:spcAft>
                        <a:buClr>
                          <a:srgbClr val="E8593C"/>
                        </a:buClr>
                        <a:buSzPts val="1300"/>
                        <a:buFont typeface="Calibri"/>
                        <a:buNone/>
                      </a:pPr>
                      <a:r>
                        <a:rPr b="1" lang="en-US" sz="1300" u="none" cap="none" strike="noStrike">
                          <a:solidFill>
                            <a:srgbClr val="E8593C"/>
                          </a:solidFill>
                          <a:latin typeface="Calibri"/>
                          <a:ea typeface="Calibri"/>
                          <a:cs typeface="Calibri"/>
                          <a:sym typeface="Calibri"/>
                        </a:rPr>
                        <a:t>+</a:t>
                      </a:r>
                      <a:r>
                        <a:rPr b="1" lang="en-US" sz="1300">
                          <a:solidFill>
                            <a:srgbClr val="E8593C"/>
                          </a:solidFill>
                          <a:latin typeface="Calibri"/>
                          <a:ea typeface="Calibri"/>
                          <a:cs typeface="Calibri"/>
                          <a:sym typeface="Calibri"/>
                        </a:rPr>
                        <a:t>1.7</a:t>
                      </a:r>
                      <a:r>
                        <a:rPr b="1" lang="en-US" sz="1300" u="none" cap="none" strike="noStrike">
                          <a:solidFill>
                            <a:srgbClr val="E8593C"/>
                          </a:solidFill>
                          <a:latin typeface="Calibri"/>
                          <a:ea typeface="Calibri"/>
                          <a:cs typeface="Calibri"/>
                          <a:sym typeface="Calibri"/>
                        </a:rPr>
                        <a:t> pp</a:t>
                      </a:r>
                      <a:endParaRPr sz="1300" u="none" cap="none" strike="noStrike">
                        <a:latin typeface="Calibri"/>
                        <a:ea typeface="Calibri"/>
                        <a:cs typeface="Calibri"/>
                        <a:sym typeface="Calibri"/>
                      </a:endParaRPr>
                    </a:p>
                  </a:txBody>
                  <a:tcPr marT="45725" marB="45725" marR="91450" marL="91450" anchor="ctr">
                    <a:lnL cap="flat" cmpd="sng" w="9525">
                      <a:solidFill>
                        <a:srgbClr val="3A4580"/>
                      </a:solidFill>
                      <a:prstDash val="solid"/>
                      <a:round/>
                      <a:headEnd len="sm" w="sm" type="none"/>
                      <a:tailEnd len="sm" w="sm" type="none"/>
                    </a:lnL>
                    <a:lnR cap="flat" cmpd="sng" w="9525">
                      <a:solidFill>
                        <a:srgbClr val="3A4580"/>
                      </a:solidFill>
                      <a:prstDash val="solid"/>
                      <a:round/>
                      <a:headEnd len="sm" w="sm" type="none"/>
                      <a:tailEnd len="sm" w="sm" type="none"/>
                    </a:lnR>
                    <a:lnT cap="flat" cmpd="sng" w="9525">
                      <a:solidFill>
                        <a:srgbClr val="3A4580"/>
                      </a:solidFill>
                      <a:prstDash val="solid"/>
                      <a:round/>
                      <a:headEnd len="sm" w="sm" type="none"/>
                      <a:tailEnd len="sm" w="sm" type="none"/>
                    </a:lnT>
                    <a:lnB cap="flat" cmpd="sng" w="9525">
                      <a:solidFill>
                        <a:srgbClr val="3A4580"/>
                      </a:solidFill>
                      <a:prstDash val="solid"/>
                      <a:round/>
                      <a:headEnd len="sm" w="sm" type="none"/>
                      <a:tailEnd len="sm" w="sm" type="none"/>
                    </a:lnB>
                    <a:solidFill>
                      <a:srgbClr val="3A1A0A"/>
                    </a:solidFill>
                  </a:tcPr>
                </a:tc>
              </a:tr>
              <a:tr h="365750">
                <a:tc>
                  <a:txBody>
                    <a:bodyPr/>
                    <a:lstStyle/>
                    <a:p>
                      <a:pPr indent="0" lvl="0" marL="0" marR="0" rtl="0" algn="ctr">
                        <a:spcBef>
                          <a:spcPts val="0"/>
                        </a:spcBef>
                        <a:spcAft>
                          <a:spcPts val="0"/>
                        </a:spcAft>
                        <a:buClr>
                          <a:srgbClr val="FFFFFF"/>
                        </a:buClr>
                        <a:buSzPts val="1300"/>
                        <a:buFont typeface="Calibri"/>
                        <a:buNone/>
                      </a:pPr>
                      <a:r>
                        <a:rPr lang="en-US" sz="1300" u="none" cap="none" strike="noStrike">
                          <a:solidFill>
                            <a:srgbClr val="FFFFFF"/>
                          </a:solidFill>
                          <a:latin typeface="Calibri"/>
                          <a:ea typeface="Calibri"/>
                          <a:cs typeface="Calibri"/>
                          <a:sym typeface="Calibri"/>
                        </a:rPr>
                        <a:t>S3 — Calibrated blend</a:t>
                      </a:r>
                      <a:endParaRPr sz="1300" u="none" cap="none" strike="noStrike">
                        <a:latin typeface="Calibri"/>
                        <a:ea typeface="Calibri"/>
                        <a:cs typeface="Calibri"/>
                        <a:sym typeface="Calibri"/>
                      </a:endParaRPr>
                    </a:p>
                  </a:txBody>
                  <a:tcPr marT="45725" marB="45725" marR="91450" marL="91450" anchor="ctr">
                    <a:lnL cap="flat" cmpd="sng" w="9525">
                      <a:solidFill>
                        <a:srgbClr val="3A4580"/>
                      </a:solidFill>
                      <a:prstDash val="solid"/>
                      <a:round/>
                      <a:headEnd len="sm" w="sm" type="none"/>
                      <a:tailEnd len="sm" w="sm" type="none"/>
                    </a:lnL>
                    <a:lnR cap="flat" cmpd="sng" w="9525">
                      <a:solidFill>
                        <a:srgbClr val="3A4580"/>
                      </a:solidFill>
                      <a:prstDash val="solid"/>
                      <a:round/>
                      <a:headEnd len="sm" w="sm" type="none"/>
                      <a:tailEnd len="sm" w="sm" type="none"/>
                    </a:lnR>
                    <a:lnT cap="flat" cmpd="sng" w="9525">
                      <a:solidFill>
                        <a:srgbClr val="3A4580"/>
                      </a:solidFill>
                      <a:prstDash val="solid"/>
                      <a:round/>
                      <a:headEnd len="sm" w="sm" type="none"/>
                      <a:tailEnd len="sm" w="sm" type="none"/>
                    </a:lnT>
                    <a:lnB cap="flat" cmpd="sng" w="9525">
                      <a:solidFill>
                        <a:srgbClr val="3A4580"/>
                      </a:solidFill>
                      <a:prstDash val="solid"/>
                      <a:round/>
                      <a:headEnd len="sm" w="sm" type="none"/>
                      <a:tailEnd len="sm" w="sm" type="none"/>
                    </a:lnB>
                    <a:solidFill>
                      <a:srgbClr val="1E2F6E"/>
                    </a:solidFill>
                  </a:tcPr>
                </a:tc>
                <a:tc>
                  <a:txBody>
                    <a:bodyPr/>
                    <a:lstStyle/>
                    <a:p>
                      <a:pPr indent="0" lvl="0" marL="0" marR="0" rtl="0" algn="ctr">
                        <a:spcBef>
                          <a:spcPts val="0"/>
                        </a:spcBef>
                        <a:spcAft>
                          <a:spcPts val="0"/>
                        </a:spcAft>
                        <a:buClr>
                          <a:srgbClr val="FFFFFF"/>
                        </a:buClr>
                        <a:buSzPts val="1300"/>
                        <a:buFont typeface="Calibri"/>
                        <a:buNone/>
                      </a:pPr>
                      <a:r>
                        <a:rPr lang="en-US" sz="1300" u="none" cap="none" strike="noStrike">
                          <a:solidFill>
                            <a:srgbClr val="FFFFFF"/>
                          </a:solidFill>
                          <a:latin typeface="Calibri"/>
                          <a:ea typeface="Calibri"/>
                          <a:cs typeface="Calibri"/>
                          <a:sym typeface="Calibri"/>
                        </a:rPr>
                        <a:t>8</a:t>
                      </a:r>
                      <a:r>
                        <a:rPr lang="en-US" sz="1300">
                          <a:solidFill>
                            <a:srgbClr val="FFFFFF"/>
                          </a:solidFill>
                          <a:latin typeface="Calibri"/>
                          <a:ea typeface="Calibri"/>
                          <a:cs typeface="Calibri"/>
                          <a:sym typeface="Calibri"/>
                        </a:rPr>
                        <a:t>8</a:t>
                      </a:r>
                      <a:r>
                        <a:rPr lang="en-US" sz="1300" u="none" cap="none" strike="noStrike">
                          <a:solidFill>
                            <a:srgbClr val="FFFFFF"/>
                          </a:solidFill>
                          <a:latin typeface="Calibri"/>
                          <a:ea typeface="Calibri"/>
                          <a:cs typeface="Calibri"/>
                          <a:sym typeface="Calibri"/>
                        </a:rPr>
                        <a:t>.1%</a:t>
                      </a:r>
                      <a:endParaRPr sz="1300" u="none" cap="none" strike="noStrike">
                        <a:latin typeface="Calibri"/>
                        <a:ea typeface="Calibri"/>
                        <a:cs typeface="Calibri"/>
                        <a:sym typeface="Calibri"/>
                      </a:endParaRPr>
                    </a:p>
                  </a:txBody>
                  <a:tcPr marT="45725" marB="45725" marR="91450" marL="91450" anchor="ctr">
                    <a:lnL cap="flat" cmpd="sng" w="9525">
                      <a:solidFill>
                        <a:srgbClr val="3A4580"/>
                      </a:solidFill>
                      <a:prstDash val="solid"/>
                      <a:round/>
                      <a:headEnd len="sm" w="sm" type="none"/>
                      <a:tailEnd len="sm" w="sm" type="none"/>
                    </a:lnL>
                    <a:lnR cap="flat" cmpd="sng" w="9525">
                      <a:solidFill>
                        <a:srgbClr val="3A4580"/>
                      </a:solidFill>
                      <a:prstDash val="solid"/>
                      <a:round/>
                      <a:headEnd len="sm" w="sm" type="none"/>
                      <a:tailEnd len="sm" w="sm" type="none"/>
                    </a:lnR>
                    <a:lnT cap="flat" cmpd="sng" w="9525">
                      <a:solidFill>
                        <a:srgbClr val="3A4580"/>
                      </a:solidFill>
                      <a:prstDash val="solid"/>
                      <a:round/>
                      <a:headEnd len="sm" w="sm" type="none"/>
                      <a:tailEnd len="sm" w="sm" type="none"/>
                    </a:lnT>
                    <a:lnB cap="flat" cmpd="sng" w="9525">
                      <a:solidFill>
                        <a:srgbClr val="3A4580"/>
                      </a:solidFill>
                      <a:prstDash val="solid"/>
                      <a:round/>
                      <a:headEnd len="sm" w="sm" type="none"/>
                      <a:tailEnd len="sm" w="sm" type="none"/>
                    </a:lnB>
                    <a:solidFill>
                      <a:srgbClr val="1E2F6E"/>
                    </a:solidFill>
                  </a:tcPr>
                </a:tc>
                <a:tc>
                  <a:txBody>
                    <a:bodyPr/>
                    <a:lstStyle/>
                    <a:p>
                      <a:pPr indent="0" lvl="0" marL="0" marR="0" rtl="0" algn="ctr">
                        <a:spcBef>
                          <a:spcPts val="0"/>
                        </a:spcBef>
                        <a:spcAft>
                          <a:spcPts val="0"/>
                        </a:spcAft>
                        <a:buClr>
                          <a:srgbClr val="FFFFFF"/>
                        </a:buClr>
                        <a:buSzPts val="1300"/>
                        <a:buFont typeface="Calibri"/>
                        <a:buNone/>
                      </a:pPr>
                      <a:r>
                        <a:rPr lang="en-US" sz="1300" u="none" cap="none" strike="noStrike">
                          <a:solidFill>
                            <a:srgbClr val="FFFFFF"/>
                          </a:solidFill>
                          <a:latin typeface="Calibri"/>
                          <a:ea typeface="Calibri"/>
                          <a:cs typeface="Calibri"/>
                          <a:sym typeface="Calibri"/>
                        </a:rPr>
                        <a:t>+0.</a:t>
                      </a:r>
                      <a:r>
                        <a:rPr lang="en-US" sz="1300">
                          <a:solidFill>
                            <a:srgbClr val="FFFFFF"/>
                          </a:solidFill>
                          <a:latin typeface="Calibri"/>
                          <a:ea typeface="Calibri"/>
                          <a:cs typeface="Calibri"/>
                          <a:sym typeface="Calibri"/>
                        </a:rPr>
                        <a:t>3</a:t>
                      </a:r>
                      <a:r>
                        <a:rPr lang="en-US" sz="1300" u="none" cap="none" strike="noStrike">
                          <a:solidFill>
                            <a:srgbClr val="FFFFFF"/>
                          </a:solidFill>
                          <a:latin typeface="Calibri"/>
                          <a:ea typeface="Calibri"/>
                          <a:cs typeface="Calibri"/>
                          <a:sym typeface="Calibri"/>
                        </a:rPr>
                        <a:t>pp</a:t>
                      </a:r>
                      <a:endParaRPr sz="1300" u="none" cap="none" strike="noStrike">
                        <a:latin typeface="Calibri"/>
                        <a:ea typeface="Calibri"/>
                        <a:cs typeface="Calibri"/>
                        <a:sym typeface="Calibri"/>
                      </a:endParaRPr>
                    </a:p>
                  </a:txBody>
                  <a:tcPr marT="45725" marB="45725" marR="91450" marL="91450" anchor="ctr">
                    <a:lnL cap="flat" cmpd="sng" w="9525">
                      <a:solidFill>
                        <a:srgbClr val="3A4580"/>
                      </a:solidFill>
                      <a:prstDash val="solid"/>
                      <a:round/>
                      <a:headEnd len="sm" w="sm" type="none"/>
                      <a:tailEnd len="sm" w="sm" type="none"/>
                    </a:lnL>
                    <a:lnR cap="flat" cmpd="sng" w="9525">
                      <a:solidFill>
                        <a:srgbClr val="3A4580"/>
                      </a:solidFill>
                      <a:prstDash val="solid"/>
                      <a:round/>
                      <a:headEnd len="sm" w="sm" type="none"/>
                      <a:tailEnd len="sm" w="sm" type="none"/>
                    </a:lnR>
                    <a:lnT cap="flat" cmpd="sng" w="9525">
                      <a:solidFill>
                        <a:srgbClr val="3A4580"/>
                      </a:solidFill>
                      <a:prstDash val="solid"/>
                      <a:round/>
                      <a:headEnd len="sm" w="sm" type="none"/>
                      <a:tailEnd len="sm" w="sm" type="none"/>
                    </a:lnT>
                    <a:lnB cap="flat" cmpd="sng" w="9525">
                      <a:solidFill>
                        <a:srgbClr val="3A4580"/>
                      </a:solidFill>
                      <a:prstDash val="solid"/>
                      <a:round/>
                      <a:headEnd len="sm" w="sm" type="none"/>
                      <a:tailEnd len="sm" w="sm" type="none"/>
                    </a:lnB>
                    <a:solidFill>
                      <a:srgbClr val="1E2F6E"/>
                    </a:solidFill>
                  </a:tcPr>
                </a:tc>
              </a:tr>
            </a:tbl>
          </a:graphicData>
        </a:graphic>
      </p:graphicFrame>
      <p:sp>
        <p:nvSpPr>
          <p:cNvPr id="156" name="Google Shape;156;p9"/>
          <p:cNvSpPr/>
          <p:nvPr/>
        </p:nvSpPr>
        <p:spPr>
          <a:xfrm>
            <a:off x="731520" y="3474720"/>
            <a:ext cx="768096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ADCFC"/>
              </a:buClr>
              <a:buSzPts val="1300"/>
              <a:buFont typeface="Calibri"/>
              <a:buNone/>
            </a:pPr>
            <a:r>
              <a:rPr b="1" i="0" lang="en-US" sz="1300" u="none" cap="none" strike="noStrike">
                <a:solidFill>
                  <a:srgbClr val="CADCFC"/>
                </a:solidFill>
                <a:latin typeface="Calibri"/>
                <a:ea typeface="Calibri"/>
                <a:cs typeface="Calibri"/>
                <a:sym typeface="Calibri"/>
              </a:rPr>
              <a:t>Directional finding: </a:t>
            </a:r>
            <a:r>
              <a:rPr b="0" i="0" lang="en-US" sz="1300" u="none" cap="none" strike="noStrike">
                <a:solidFill>
                  <a:srgbClr val="CADCFC"/>
                </a:solidFill>
                <a:latin typeface="Calibri"/>
                <a:ea typeface="Calibri"/>
                <a:cs typeface="Calibri"/>
                <a:sym typeface="Calibri"/>
              </a:rPr>
              <a:t>bootstrap CIs overlap. Consistent across all K values.</a:t>
            </a:r>
            <a:endParaRPr b="0" i="0" sz="1300" u="none" cap="none" strike="noStrike">
              <a:solidFill>
                <a:schemeClr val="dk1"/>
              </a:solidFill>
              <a:latin typeface="Calibri"/>
              <a:ea typeface="Calibri"/>
              <a:cs typeface="Calibri"/>
              <a:sym typeface="Calibri"/>
            </a:endParaRPr>
          </a:p>
        </p:txBody>
      </p:sp>
      <p:sp>
        <p:nvSpPr>
          <p:cNvPr id="157" name="Google Shape;157;p9"/>
          <p:cNvSpPr/>
          <p:nvPr/>
        </p:nvSpPr>
        <p:spPr>
          <a:xfrm>
            <a:off x="731520" y="4023360"/>
            <a:ext cx="7680960" cy="548640"/>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i="1" lang="en-US" sz="1300">
                <a:solidFill>
                  <a:srgbClr val="64748B"/>
                </a:solidFill>
                <a:latin typeface="Calibri"/>
                <a:ea typeface="Calibri"/>
                <a:cs typeface="Calibri"/>
                <a:sym typeface="Calibri"/>
              </a:rPr>
              <a:t>S3 improved slightly (+0.3pp), suggesting the qualification signal itself contains useful information.</a:t>
            </a:r>
            <a:endParaRPr i="1" sz="1300">
              <a:solidFill>
                <a:srgbClr val="64748B"/>
              </a:solidFill>
              <a:latin typeface="Calibri"/>
              <a:ea typeface="Calibri"/>
              <a:cs typeface="Calibri"/>
              <a:sym typeface="Calibri"/>
            </a:endParaRPr>
          </a:p>
          <a:p>
            <a:pPr indent="0" lvl="0" marL="0" marR="0" rtl="0" algn="l">
              <a:spcBef>
                <a:spcPts val="0"/>
              </a:spcBef>
              <a:spcAft>
                <a:spcPts val="0"/>
              </a:spcAft>
              <a:buClr>
                <a:srgbClr val="64748B"/>
              </a:buClr>
              <a:buSzPts val="1300"/>
              <a:buFont typeface="Calibri"/>
              <a:buNone/>
            </a:pPr>
            <a:r>
              <a:rPr i="1" lang="en-US" sz="1300">
                <a:solidFill>
                  <a:srgbClr val="64748B"/>
                </a:solidFill>
                <a:latin typeface="Calibri"/>
                <a:ea typeface="Calibri"/>
                <a:cs typeface="Calibri"/>
                <a:sym typeface="Calibri"/>
              </a:rPr>
              <a:t>However, the much larger gain from System 2 shows that the prioritisation mechanism matters more than the signal alone.</a:t>
            </a:r>
            <a:endParaRPr i="1" sz="1300">
              <a:solidFill>
                <a:srgbClr val="64748B"/>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p10"/>
          <p:cNvSpPr/>
          <p:nvPr/>
        </p:nvSpPr>
        <p:spPr>
          <a:xfrm>
            <a:off x="731520" y="274320"/>
            <a:ext cx="768096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2761"/>
              </a:buClr>
              <a:buSzPts val="2800"/>
              <a:buFont typeface="Calibri"/>
              <a:buNone/>
            </a:pPr>
            <a:r>
              <a:rPr b="1" i="0" lang="en-US" sz="2800" u="none" cap="none" strike="noStrike">
                <a:solidFill>
                  <a:srgbClr val="1E2761"/>
                </a:solidFill>
                <a:latin typeface="Calibri"/>
                <a:ea typeface="Calibri"/>
                <a:cs typeface="Calibri"/>
                <a:sym typeface="Calibri"/>
              </a:rPr>
              <a:t>Sensitivity analysis</a:t>
            </a:r>
            <a:endParaRPr b="0" i="0" sz="2800" u="none" cap="none" strike="noStrike">
              <a:solidFill>
                <a:schemeClr val="dk1"/>
              </a:solidFill>
              <a:latin typeface="Calibri"/>
              <a:ea typeface="Calibri"/>
              <a:cs typeface="Calibri"/>
              <a:sym typeface="Calibri"/>
            </a:endParaRPr>
          </a:p>
        </p:txBody>
      </p:sp>
      <p:sp>
        <p:nvSpPr>
          <p:cNvPr id="164" name="Google Shape;164;p10"/>
          <p:cNvSpPr/>
          <p:nvPr/>
        </p:nvSpPr>
        <p:spPr>
          <a:xfrm>
            <a:off x="731520" y="1005840"/>
            <a:ext cx="7680960" cy="1051560"/>
          </a:xfrm>
          <a:prstGeom prst="roundRect">
            <a:avLst>
              <a:gd fmla="val 8696" name="adj"/>
            </a:avLst>
          </a:prstGeom>
          <a:solidFill>
            <a:srgbClr val="F2F4F8"/>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0"/>
          <p:cNvSpPr/>
          <p:nvPr/>
        </p:nvSpPr>
        <p:spPr>
          <a:xfrm>
            <a:off x="914400" y="1097280"/>
            <a:ext cx="2286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761"/>
              </a:buClr>
              <a:buSzPts val="1500"/>
              <a:buFont typeface="Calibri"/>
              <a:buNone/>
            </a:pPr>
            <a:r>
              <a:rPr b="1" i="0" lang="en-US" sz="1500" u="none" cap="none" strike="noStrike">
                <a:solidFill>
                  <a:srgbClr val="1E2761"/>
                </a:solidFill>
                <a:latin typeface="Calibri"/>
                <a:ea typeface="Calibri"/>
                <a:cs typeface="Calibri"/>
                <a:sym typeface="Calibri"/>
              </a:rPr>
              <a:t>K sensitivity</a:t>
            </a:r>
            <a:endParaRPr b="0" i="0" sz="1500" u="none" cap="none" strike="noStrike">
              <a:solidFill>
                <a:schemeClr val="dk1"/>
              </a:solidFill>
              <a:latin typeface="Calibri"/>
              <a:ea typeface="Calibri"/>
              <a:cs typeface="Calibri"/>
              <a:sym typeface="Calibri"/>
            </a:endParaRPr>
          </a:p>
        </p:txBody>
      </p:sp>
      <p:sp>
        <p:nvSpPr>
          <p:cNvPr id="166" name="Google Shape;166;p10"/>
          <p:cNvSpPr/>
          <p:nvPr/>
        </p:nvSpPr>
        <p:spPr>
          <a:xfrm>
            <a:off x="914400" y="1417320"/>
            <a:ext cx="45720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S2 exceeds S1 at K=20% and K=30%.</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Converges at K=10% (tier saturation).</a:t>
            </a:r>
            <a:endParaRPr b="0" i="0" sz="1200" u="none" cap="none" strike="noStrike">
              <a:solidFill>
                <a:schemeClr val="dk1"/>
              </a:solidFill>
              <a:latin typeface="Calibri"/>
              <a:ea typeface="Calibri"/>
              <a:cs typeface="Calibri"/>
              <a:sym typeface="Calibri"/>
            </a:endParaRPr>
          </a:p>
        </p:txBody>
      </p:sp>
      <p:sp>
        <p:nvSpPr>
          <p:cNvPr id="167" name="Google Shape;167;p10"/>
          <p:cNvSpPr/>
          <p:nvPr/>
        </p:nvSpPr>
        <p:spPr>
          <a:xfrm>
            <a:off x="5943600" y="1234440"/>
            <a:ext cx="22860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E7D32"/>
              </a:buClr>
              <a:buSzPts val="1200"/>
              <a:buFont typeface="Calibri"/>
              <a:buNone/>
            </a:pPr>
            <a:r>
              <a:rPr b="1" i="0" lang="en-US" sz="1200" u="none" cap="none" strike="noStrike">
                <a:solidFill>
                  <a:srgbClr val="2E7D32"/>
                </a:solidFill>
                <a:latin typeface="Calibri"/>
                <a:ea typeface="Calibri"/>
                <a:cs typeface="Calibri"/>
                <a:sym typeface="Calibri"/>
              </a:rPr>
              <a:t>Stable in</a:t>
            </a:r>
            <a:endParaRPr b="0" i="0" sz="1200" u="none" cap="none" strike="noStrike">
              <a:solidFill>
                <a:schemeClr val="dk1"/>
              </a:solidFill>
              <a:latin typeface="Calibri"/>
              <a:ea typeface="Calibri"/>
              <a:cs typeface="Calibri"/>
              <a:sym typeface="Calibri"/>
            </a:endParaRPr>
          </a:p>
          <a:p>
            <a:pPr indent="0" lvl="0" marL="0" marR="0" rtl="0" algn="r">
              <a:spcBef>
                <a:spcPts val="0"/>
              </a:spcBef>
              <a:spcAft>
                <a:spcPts val="0"/>
              </a:spcAft>
              <a:buClr>
                <a:srgbClr val="2E7D32"/>
              </a:buClr>
              <a:buSzPts val="1200"/>
              <a:buFont typeface="Calibri"/>
              <a:buNone/>
            </a:pPr>
            <a:r>
              <a:rPr b="1" i="0" lang="en-US" sz="1200" u="none" cap="none" strike="noStrike">
                <a:solidFill>
                  <a:srgbClr val="2E7D32"/>
                </a:solidFill>
                <a:latin typeface="Calibri"/>
                <a:ea typeface="Calibri"/>
                <a:cs typeface="Calibri"/>
                <a:sym typeface="Calibri"/>
              </a:rPr>
              <a:t>operational range</a:t>
            </a:r>
            <a:endParaRPr b="0" i="0" sz="1200" u="none" cap="none" strike="noStrike">
              <a:solidFill>
                <a:schemeClr val="dk1"/>
              </a:solidFill>
              <a:latin typeface="Calibri"/>
              <a:ea typeface="Calibri"/>
              <a:cs typeface="Calibri"/>
              <a:sym typeface="Calibri"/>
            </a:endParaRPr>
          </a:p>
        </p:txBody>
      </p:sp>
      <p:sp>
        <p:nvSpPr>
          <p:cNvPr id="168" name="Google Shape;168;p10"/>
          <p:cNvSpPr/>
          <p:nvPr/>
        </p:nvSpPr>
        <p:spPr>
          <a:xfrm>
            <a:off x="731520" y="2240280"/>
            <a:ext cx="7680960" cy="1051560"/>
          </a:xfrm>
          <a:prstGeom prst="roundRect">
            <a:avLst>
              <a:gd fmla="val 8696" name="adj"/>
            </a:avLst>
          </a:prstGeom>
          <a:solidFill>
            <a:srgbClr val="F2F4F8"/>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0"/>
          <p:cNvSpPr/>
          <p:nvPr/>
        </p:nvSpPr>
        <p:spPr>
          <a:xfrm>
            <a:off x="914400" y="2331720"/>
            <a:ext cx="2286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761"/>
              </a:buClr>
              <a:buSzPts val="1500"/>
              <a:buFont typeface="Calibri"/>
              <a:buNone/>
            </a:pPr>
            <a:r>
              <a:rPr b="1" i="0" lang="en-US" sz="1500" u="none" cap="none" strike="noStrike">
                <a:solidFill>
                  <a:srgbClr val="1E2761"/>
                </a:solidFill>
                <a:latin typeface="Calibri"/>
                <a:ea typeface="Calibri"/>
                <a:cs typeface="Calibri"/>
                <a:sym typeface="Calibri"/>
              </a:rPr>
              <a:t>Tier cap sensitivity</a:t>
            </a:r>
            <a:endParaRPr b="0" i="0" sz="1500" u="none" cap="none" strike="noStrike">
              <a:solidFill>
                <a:schemeClr val="dk1"/>
              </a:solidFill>
              <a:latin typeface="Calibri"/>
              <a:ea typeface="Calibri"/>
              <a:cs typeface="Calibri"/>
              <a:sym typeface="Calibri"/>
            </a:endParaRPr>
          </a:p>
        </p:txBody>
      </p:sp>
      <p:sp>
        <p:nvSpPr>
          <p:cNvPr id="170" name="Google Shape;170;p10"/>
          <p:cNvSpPr/>
          <p:nvPr/>
        </p:nvSpPr>
        <p:spPr>
          <a:xfrm>
            <a:off x="914400" y="2651760"/>
            <a:ext cx="45720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Flat at cap 20%–40%.</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Decays above 40% as low-quality</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leads enter the tier.</a:t>
            </a:r>
            <a:endParaRPr b="0" i="0" sz="1200" u="none" cap="none" strike="noStrike">
              <a:solidFill>
                <a:schemeClr val="dk1"/>
              </a:solidFill>
              <a:latin typeface="Calibri"/>
              <a:ea typeface="Calibri"/>
              <a:cs typeface="Calibri"/>
              <a:sym typeface="Calibri"/>
            </a:endParaRPr>
          </a:p>
        </p:txBody>
      </p:sp>
      <p:sp>
        <p:nvSpPr>
          <p:cNvPr id="171" name="Google Shape;171;p10"/>
          <p:cNvSpPr/>
          <p:nvPr/>
        </p:nvSpPr>
        <p:spPr>
          <a:xfrm>
            <a:off x="5943600" y="2468880"/>
            <a:ext cx="22860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E7D32"/>
              </a:buClr>
              <a:buSzPts val="1200"/>
              <a:buFont typeface="Calibri"/>
              <a:buNone/>
            </a:pPr>
            <a:r>
              <a:rPr b="1" i="0" lang="en-US" sz="1200" u="none" cap="none" strike="noStrike">
                <a:solidFill>
                  <a:srgbClr val="2E7D32"/>
                </a:solidFill>
                <a:latin typeface="Calibri"/>
                <a:ea typeface="Calibri"/>
                <a:cs typeface="Calibri"/>
                <a:sym typeface="Calibri"/>
              </a:rPr>
              <a:t>Not knife-edge</a:t>
            </a:r>
            <a:endParaRPr b="0" i="0" sz="1200" u="none" cap="none" strike="noStrike">
              <a:solidFill>
                <a:schemeClr val="dk1"/>
              </a:solidFill>
              <a:latin typeface="Calibri"/>
              <a:ea typeface="Calibri"/>
              <a:cs typeface="Calibri"/>
              <a:sym typeface="Calibri"/>
            </a:endParaRPr>
          </a:p>
          <a:p>
            <a:pPr indent="0" lvl="0" marL="0" marR="0" rtl="0" algn="r">
              <a:spcBef>
                <a:spcPts val="0"/>
              </a:spcBef>
              <a:spcAft>
                <a:spcPts val="0"/>
              </a:spcAft>
              <a:buClr>
                <a:srgbClr val="2E7D32"/>
              </a:buClr>
              <a:buSzPts val="1200"/>
              <a:buFont typeface="Calibri"/>
              <a:buNone/>
            </a:pPr>
            <a:r>
              <a:rPr b="1" i="0" lang="en-US" sz="1200" u="none" cap="none" strike="noStrike">
                <a:solidFill>
                  <a:srgbClr val="2E7D32"/>
                </a:solidFill>
                <a:latin typeface="Calibri"/>
                <a:ea typeface="Calibri"/>
                <a:cs typeface="Calibri"/>
                <a:sym typeface="Calibri"/>
              </a:rPr>
              <a:t>tuned</a:t>
            </a:r>
            <a:endParaRPr b="0" i="0" sz="1200" u="none" cap="none" strike="noStrike">
              <a:solidFill>
                <a:schemeClr val="dk1"/>
              </a:solidFill>
              <a:latin typeface="Calibri"/>
              <a:ea typeface="Calibri"/>
              <a:cs typeface="Calibri"/>
              <a:sym typeface="Calibri"/>
            </a:endParaRPr>
          </a:p>
        </p:txBody>
      </p:sp>
      <p:sp>
        <p:nvSpPr>
          <p:cNvPr id="172" name="Google Shape;172;p10"/>
          <p:cNvSpPr/>
          <p:nvPr/>
        </p:nvSpPr>
        <p:spPr>
          <a:xfrm>
            <a:off x="731525" y="3474726"/>
            <a:ext cx="7680900" cy="1236600"/>
          </a:xfrm>
          <a:prstGeom prst="roundRect">
            <a:avLst>
              <a:gd fmla="val 8696" name="adj"/>
            </a:avLst>
          </a:prstGeom>
          <a:solidFill>
            <a:srgbClr val="F2F4F8"/>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0"/>
          <p:cNvSpPr/>
          <p:nvPr/>
        </p:nvSpPr>
        <p:spPr>
          <a:xfrm>
            <a:off x="914400" y="3566160"/>
            <a:ext cx="2286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2761"/>
              </a:buClr>
              <a:buSzPts val="1500"/>
              <a:buFont typeface="Calibri"/>
              <a:buNone/>
            </a:pPr>
            <a:r>
              <a:rPr b="1" i="0" lang="en-US" sz="1500" u="none" cap="none" strike="noStrike">
                <a:solidFill>
                  <a:srgbClr val="1E2761"/>
                </a:solidFill>
                <a:latin typeface="Calibri"/>
                <a:ea typeface="Calibri"/>
                <a:cs typeface="Calibri"/>
                <a:sym typeface="Calibri"/>
              </a:rPr>
              <a:t>Blend weight (S3)</a:t>
            </a:r>
            <a:endParaRPr b="0" i="0" sz="1500" u="none" cap="none" strike="noStrike">
              <a:solidFill>
                <a:schemeClr val="dk1"/>
              </a:solidFill>
              <a:latin typeface="Calibri"/>
              <a:ea typeface="Calibri"/>
              <a:cs typeface="Calibri"/>
              <a:sym typeface="Calibri"/>
            </a:endParaRPr>
          </a:p>
        </p:txBody>
      </p:sp>
      <p:sp>
        <p:nvSpPr>
          <p:cNvPr id="174" name="Google Shape;174;p10"/>
          <p:cNvSpPr/>
          <p:nvPr/>
        </p:nvSpPr>
        <p:spPr>
          <a:xfrm>
            <a:off x="914400" y="3886200"/>
            <a:ext cx="4572000" cy="825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F1B3D"/>
              </a:buClr>
              <a:buSzPts val="1200"/>
              <a:buFont typeface="Calibri"/>
              <a:buNone/>
            </a:pPr>
            <a:r>
              <a:rPr b="0" i="0" lang="en-US" sz="1200" u="none" cap="none" strike="noStrike">
                <a:solidFill>
                  <a:srgbClr val="0F1B3D"/>
                </a:solidFill>
                <a:latin typeface="Calibri"/>
                <a:ea typeface="Calibri"/>
                <a:cs typeface="Calibri"/>
                <a:sym typeface="Calibri"/>
              </a:rPr>
              <a:t>Stable across w = 0.80, 0.90, 0.95.</a:t>
            </a:r>
            <a:endParaRPr b="0" i="0" sz="1200" u="none" cap="none" strike="noStrike">
              <a:solidFill>
                <a:schemeClr val="dk1"/>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rPr lang="en-US" sz="1200">
                <a:solidFill>
                  <a:srgbClr val="0F1B3D"/>
                </a:solidFill>
                <a:latin typeface="Calibri"/>
                <a:ea typeface="Calibri"/>
                <a:cs typeface="Calibri"/>
                <a:sym typeface="Calibri"/>
              </a:rPr>
              <a:t>Blend produces a small improvement</a:t>
            </a:r>
            <a:endParaRPr sz="1200">
              <a:solidFill>
                <a:srgbClr val="0F1B3D"/>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rPr lang="en-US" sz="1200">
                <a:solidFill>
                  <a:srgbClr val="0F1B3D"/>
                </a:solidFill>
                <a:latin typeface="Calibri"/>
                <a:ea typeface="Calibri"/>
                <a:cs typeface="Calibri"/>
                <a:sym typeface="Calibri"/>
              </a:rPr>
              <a:t>over baseline across tested weights,</a:t>
            </a:r>
            <a:endParaRPr sz="1200">
              <a:solidFill>
                <a:srgbClr val="0F1B3D"/>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rPr lang="en-US" sz="1200">
                <a:solidFill>
                  <a:srgbClr val="0F1B3D"/>
                </a:solidFill>
                <a:latin typeface="Calibri"/>
                <a:ea typeface="Calibri"/>
                <a:cs typeface="Calibri"/>
                <a:sym typeface="Calibri"/>
              </a:rPr>
              <a:t>but remains materially below System 2.</a:t>
            </a:r>
            <a:endParaRPr sz="1200">
              <a:solidFill>
                <a:srgbClr val="0F1B3D"/>
              </a:solidFill>
              <a:latin typeface="Calibri"/>
              <a:ea typeface="Calibri"/>
              <a:cs typeface="Calibri"/>
              <a:sym typeface="Calibri"/>
            </a:endParaRPr>
          </a:p>
          <a:p>
            <a:pPr indent="0" lvl="0" marL="0" marR="0" rtl="0" algn="l">
              <a:spcBef>
                <a:spcPts val="0"/>
              </a:spcBef>
              <a:spcAft>
                <a:spcPts val="0"/>
              </a:spcAft>
              <a:buClr>
                <a:srgbClr val="0F1B3D"/>
              </a:buClr>
              <a:buSzPts val="1200"/>
              <a:buFont typeface="Calibri"/>
              <a:buNone/>
            </a:pPr>
            <a:r>
              <a:t/>
            </a:r>
            <a:endParaRPr sz="1200">
              <a:solidFill>
                <a:srgbClr val="0F1B3D"/>
              </a:solidFill>
              <a:latin typeface="Calibri"/>
              <a:ea typeface="Calibri"/>
              <a:cs typeface="Calibri"/>
              <a:sym typeface="Calibri"/>
            </a:endParaRPr>
          </a:p>
        </p:txBody>
      </p:sp>
      <p:sp>
        <p:nvSpPr>
          <p:cNvPr id="175" name="Google Shape;175;p10"/>
          <p:cNvSpPr/>
          <p:nvPr/>
        </p:nvSpPr>
        <p:spPr>
          <a:xfrm>
            <a:off x="5943600" y="3703320"/>
            <a:ext cx="22860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2E7D32"/>
              </a:buClr>
              <a:buSzPts val="1200"/>
              <a:buFont typeface="Calibri"/>
              <a:buNone/>
            </a:pPr>
            <a:r>
              <a:rPr b="1" i="0" lang="en-US" sz="1200" u="none" cap="none" strike="noStrike">
                <a:solidFill>
                  <a:srgbClr val="2E7D32"/>
                </a:solidFill>
                <a:latin typeface="Calibri"/>
                <a:ea typeface="Calibri"/>
                <a:cs typeface="Calibri"/>
                <a:sym typeface="Calibri"/>
              </a:rPr>
              <a:t>Tier mechanism</a:t>
            </a:r>
            <a:endParaRPr b="0" i="0" sz="1200" u="none" cap="none" strike="noStrike">
              <a:solidFill>
                <a:schemeClr val="dk1"/>
              </a:solidFill>
              <a:latin typeface="Calibri"/>
              <a:ea typeface="Calibri"/>
              <a:cs typeface="Calibri"/>
              <a:sym typeface="Calibri"/>
            </a:endParaRPr>
          </a:p>
          <a:p>
            <a:pPr indent="0" lvl="0" marL="0" marR="0" rtl="0" algn="r">
              <a:spcBef>
                <a:spcPts val="0"/>
              </a:spcBef>
              <a:spcAft>
                <a:spcPts val="0"/>
              </a:spcAft>
              <a:buClr>
                <a:srgbClr val="2E7D32"/>
              </a:buClr>
              <a:buSzPts val="1200"/>
              <a:buFont typeface="Calibri"/>
              <a:buNone/>
            </a:pPr>
            <a:r>
              <a:rPr b="1" i="0" lang="en-US" sz="1200" u="none" cap="none" strike="noStrike">
                <a:solidFill>
                  <a:srgbClr val="2E7D32"/>
                </a:solidFill>
                <a:latin typeface="Calibri"/>
                <a:ea typeface="Calibri"/>
                <a:cs typeface="Calibri"/>
                <a:sym typeface="Calibri"/>
              </a:rPr>
              <a:t>is key</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 name="Shape 180"/>
        <p:cNvGrpSpPr/>
        <p:nvPr/>
      </p:nvGrpSpPr>
      <p:grpSpPr>
        <a:xfrm>
          <a:off x="0" y="0"/>
          <a:ext cx="0" cy="0"/>
          <a:chOff x="0" y="0"/>
          <a:chExt cx="0" cy="0"/>
        </a:xfrm>
      </p:grpSpPr>
      <p:sp>
        <p:nvSpPr>
          <p:cNvPr id="181" name="Google Shape;181;p12"/>
          <p:cNvSpPr/>
          <p:nvPr/>
        </p:nvSpPr>
        <p:spPr>
          <a:xfrm>
            <a:off x="731520" y="274320"/>
            <a:ext cx="768096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2761"/>
              </a:buClr>
              <a:buSzPts val="2800"/>
              <a:buFont typeface="Calibri"/>
              <a:buNone/>
            </a:pPr>
            <a:r>
              <a:rPr b="1" i="0" lang="en-US" sz="2800" u="none" cap="none" strike="noStrike">
                <a:solidFill>
                  <a:srgbClr val="1E2761"/>
                </a:solidFill>
                <a:latin typeface="Calibri"/>
                <a:ea typeface="Calibri"/>
                <a:cs typeface="Calibri"/>
                <a:sym typeface="Calibri"/>
              </a:rPr>
              <a:t>The mechanism</a:t>
            </a:r>
            <a:endParaRPr b="0" i="0" sz="2800" u="none" cap="none" strike="noStrike">
              <a:solidFill>
                <a:schemeClr val="dk1"/>
              </a:solidFill>
              <a:latin typeface="Calibri"/>
              <a:ea typeface="Calibri"/>
              <a:cs typeface="Calibri"/>
              <a:sym typeface="Calibri"/>
            </a:endParaRPr>
          </a:p>
        </p:txBody>
      </p:sp>
      <p:sp>
        <p:nvSpPr>
          <p:cNvPr id="182" name="Google Shape;182;p12"/>
          <p:cNvSpPr/>
          <p:nvPr/>
        </p:nvSpPr>
        <p:spPr>
          <a:xfrm>
            <a:off x="2286000" y="1005840"/>
            <a:ext cx="4572000" cy="731520"/>
          </a:xfrm>
          <a:prstGeom prst="roundRect">
            <a:avLst>
              <a:gd fmla="val 12500" name="adj"/>
            </a:avLst>
          </a:prstGeom>
          <a:solidFill>
            <a:srgbClr val="FFF0EB"/>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12"/>
          <p:cNvSpPr/>
          <p:nvPr/>
        </p:nvSpPr>
        <p:spPr>
          <a:xfrm>
            <a:off x="2286000" y="1005840"/>
            <a:ext cx="4572000" cy="7315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E8593C"/>
              </a:buClr>
              <a:buSzPts val="1500"/>
              <a:buFont typeface="Calibri"/>
              <a:buNone/>
            </a:pPr>
            <a:r>
              <a:rPr b="1" lang="en-US" sz="1500">
                <a:solidFill>
                  <a:srgbClr val="E8593C"/>
                </a:solidFill>
                <a:latin typeface="Calibri"/>
                <a:ea typeface="Calibri"/>
                <a:cs typeface="Calibri"/>
                <a:sym typeface="Calibri"/>
              </a:rPr>
              <a:t>Qualification identifies high-conversion pockets</a:t>
            </a:r>
            <a:endParaRPr b="0" i="0" sz="1500" u="none" cap="none" strike="noStrike">
              <a:solidFill>
                <a:schemeClr val="dk1"/>
              </a:solidFill>
              <a:latin typeface="Calibri"/>
              <a:ea typeface="Calibri"/>
              <a:cs typeface="Calibri"/>
              <a:sym typeface="Calibri"/>
            </a:endParaRPr>
          </a:p>
        </p:txBody>
      </p:sp>
      <p:sp>
        <p:nvSpPr>
          <p:cNvPr id="184" name="Google Shape;184;p12"/>
          <p:cNvSpPr/>
          <p:nvPr/>
        </p:nvSpPr>
        <p:spPr>
          <a:xfrm>
            <a:off x="2286000" y="1508760"/>
            <a:ext cx="45720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Working Prof 91%  |  SMS Sent 59%  |  Baseline 39.8%</a:t>
            </a:r>
            <a:endParaRPr b="0" i="0" sz="1100" u="none" cap="none" strike="noStrike">
              <a:solidFill>
                <a:schemeClr val="dk1"/>
              </a:solidFill>
              <a:latin typeface="Calibri"/>
              <a:ea typeface="Calibri"/>
              <a:cs typeface="Calibri"/>
              <a:sym typeface="Calibri"/>
            </a:endParaRPr>
          </a:p>
        </p:txBody>
      </p:sp>
      <p:cxnSp>
        <p:nvCxnSpPr>
          <p:cNvPr id="185" name="Google Shape;185;p12"/>
          <p:cNvCxnSpPr/>
          <p:nvPr/>
        </p:nvCxnSpPr>
        <p:spPr>
          <a:xfrm>
            <a:off x="4572000" y="1828800"/>
            <a:ext cx="0" cy="457200"/>
          </a:xfrm>
          <a:prstGeom prst="straightConnector1">
            <a:avLst/>
          </a:prstGeom>
          <a:noFill/>
          <a:ln cap="flat" cmpd="sng" w="25400">
            <a:solidFill>
              <a:srgbClr val="64748B"/>
            </a:solidFill>
            <a:prstDash val="solid"/>
            <a:round/>
            <a:headEnd len="sm" w="sm" type="none"/>
            <a:tailEnd len="sm" w="sm" type="none"/>
          </a:ln>
        </p:spPr>
      </p:cxnSp>
      <p:sp>
        <p:nvSpPr>
          <p:cNvPr id="186" name="Google Shape;186;p12"/>
          <p:cNvSpPr/>
          <p:nvPr/>
        </p:nvSpPr>
        <p:spPr>
          <a:xfrm>
            <a:off x="2286000" y="2286000"/>
            <a:ext cx="4572000" cy="731520"/>
          </a:xfrm>
          <a:prstGeom prst="roundRect">
            <a:avLst>
              <a:gd fmla="val 12500" name="adj"/>
            </a:avLst>
          </a:prstGeom>
          <a:solidFill>
            <a:srgbClr val="E8EDF5"/>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12"/>
          <p:cNvSpPr/>
          <p:nvPr/>
        </p:nvSpPr>
        <p:spPr>
          <a:xfrm>
            <a:off x="2286000" y="2286000"/>
            <a:ext cx="4572000" cy="7315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E2761"/>
              </a:buClr>
              <a:buSzPts val="1500"/>
              <a:buFont typeface="Calibri"/>
              <a:buNone/>
            </a:pPr>
            <a:r>
              <a:rPr b="1" i="0" lang="en-US" sz="1500" u="none" cap="none" strike="noStrike">
                <a:solidFill>
                  <a:srgbClr val="1E2761"/>
                </a:solidFill>
                <a:latin typeface="Calibri"/>
                <a:ea typeface="Calibri"/>
                <a:cs typeface="Calibri"/>
                <a:sym typeface="Calibri"/>
              </a:rPr>
              <a:t>ML score filters within the pocket</a:t>
            </a:r>
            <a:endParaRPr b="0" i="0" sz="1500" u="none" cap="none" strike="noStrike">
              <a:solidFill>
                <a:schemeClr val="dk1"/>
              </a:solidFill>
              <a:latin typeface="Calibri"/>
              <a:ea typeface="Calibri"/>
              <a:cs typeface="Calibri"/>
              <a:sym typeface="Calibri"/>
            </a:endParaRPr>
          </a:p>
        </p:txBody>
      </p:sp>
      <p:sp>
        <p:nvSpPr>
          <p:cNvPr id="188" name="Google Shape;188;p12"/>
          <p:cNvSpPr/>
          <p:nvPr/>
        </p:nvSpPr>
        <p:spPr>
          <a:xfrm>
            <a:off x="2286000" y="2788920"/>
            <a:ext cx="45720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Baseline cutoff: leads below 39.8% drop to overflow pool</a:t>
            </a:r>
            <a:endParaRPr b="0" i="0" sz="1100" u="none" cap="none" strike="noStrike">
              <a:solidFill>
                <a:schemeClr val="dk1"/>
              </a:solidFill>
              <a:latin typeface="Calibri"/>
              <a:ea typeface="Calibri"/>
              <a:cs typeface="Calibri"/>
              <a:sym typeface="Calibri"/>
            </a:endParaRPr>
          </a:p>
        </p:txBody>
      </p:sp>
      <p:cxnSp>
        <p:nvCxnSpPr>
          <p:cNvPr id="189" name="Google Shape;189;p12"/>
          <p:cNvCxnSpPr/>
          <p:nvPr/>
        </p:nvCxnSpPr>
        <p:spPr>
          <a:xfrm>
            <a:off x="4572000" y="3108960"/>
            <a:ext cx="0" cy="457200"/>
          </a:xfrm>
          <a:prstGeom prst="straightConnector1">
            <a:avLst/>
          </a:prstGeom>
          <a:noFill/>
          <a:ln cap="flat" cmpd="sng" w="25400">
            <a:solidFill>
              <a:srgbClr val="64748B"/>
            </a:solidFill>
            <a:prstDash val="solid"/>
            <a:round/>
            <a:headEnd len="sm" w="sm" type="none"/>
            <a:tailEnd len="sm" w="sm" type="none"/>
          </a:ln>
        </p:spPr>
      </p:cxnSp>
      <p:sp>
        <p:nvSpPr>
          <p:cNvPr id="190" name="Google Shape;190;p12"/>
          <p:cNvSpPr/>
          <p:nvPr/>
        </p:nvSpPr>
        <p:spPr>
          <a:xfrm>
            <a:off x="2286000" y="3566160"/>
            <a:ext cx="4572000" cy="731520"/>
          </a:xfrm>
          <a:prstGeom prst="roundRect">
            <a:avLst>
              <a:gd fmla="val 12500" name="adj"/>
            </a:avLst>
          </a:prstGeom>
          <a:solidFill>
            <a:srgbClr val="F0F5F0"/>
          </a:solidFill>
          <a:ln>
            <a:noFill/>
          </a:ln>
          <a:effectLst>
            <a:outerShdw blurRad="76200" rotWithShape="0" algn="bl" dir="27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12"/>
          <p:cNvSpPr/>
          <p:nvPr/>
        </p:nvSpPr>
        <p:spPr>
          <a:xfrm>
            <a:off x="2286000" y="3566160"/>
            <a:ext cx="4572000" cy="7315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2E7D32"/>
              </a:buClr>
              <a:buSzPts val="1500"/>
              <a:buFont typeface="Calibri"/>
              <a:buNone/>
            </a:pPr>
            <a:r>
              <a:rPr b="1" i="0" lang="en-US" sz="1500" u="none" cap="none" strike="noStrike">
                <a:solidFill>
                  <a:srgbClr val="2E7D32"/>
                </a:solidFill>
                <a:latin typeface="Calibri"/>
                <a:ea typeface="Calibri"/>
                <a:cs typeface="Calibri"/>
                <a:sym typeface="Calibri"/>
              </a:rPr>
              <a:t>Higher Precision@K</a:t>
            </a:r>
            <a:endParaRPr b="0" i="0" sz="1500" u="none" cap="none" strike="noStrike">
              <a:solidFill>
                <a:schemeClr val="dk1"/>
              </a:solidFill>
              <a:latin typeface="Calibri"/>
              <a:ea typeface="Calibri"/>
              <a:cs typeface="Calibri"/>
              <a:sym typeface="Calibri"/>
            </a:endParaRPr>
          </a:p>
        </p:txBody>
      </p:sp>
      <p:sp>
        <p:nvSpPr>
          <p:cNvPr id="192" name="Google Shape;192;p12"/>
          <p:cNvSpPr/>
          <p:nvPr/>
        </p:nvSpPr>
        <p:spPr>
          <a:xfrm>
            <a:off x="2286000" y="4069080"/>
            <a:ext cx="457200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4748B"/>
              </a:buClr>
              <a:buSzPts val="1100"/>
              <a:buFont typeface="Calibri"/>
              <a:buNone/>
            </a:pPr>
            <a:r>
              <a:rPr b="0" i="0" lang="en-US" sz="1100" u="none" cap="none" strike="noStrike">
                <a:solidFill>
                  <a:srgbClr val="64748B"/>
                </a:solidFill>
                <a:latin typeface="Calibri"/>
                <a:ea typeface="Calibri"/>
                <a:cs typeface="Calibri"/>
                <a:sym typeface="Calibri"/>
              </a:rPr>
              <a:t>Neither component works alone — tier cap decay confirms this</a:t>
            </a:r>
            <a:endParaRPr b="0" i="0" sz="1100" u="none" cap="none" strike="noStrike">
              <a:solidFill>
                <a:schemeClr val="dk1"/>
              </a:solidFill>
              <a:latin typeface="Calibri"/>
              <a:ea typeface="Calibri"/>
              <a:cs typeface="Calibri"/>
              <a:sym typeface="Calibri"/>
            </a:endParaRPr>
          </a:p>
        </p:txBody>
      </p:sp>
      <p:sp>
        <p:nvSpPr>
          <p:cNvPr id="193" name="Google Shape;193;p12"/>
          <p:cNvSpPr/>
          <p:nvPr/>
        </p:nvSpPr>
        <p:spPr>
          <a:xfrm>
            <a:off x="312950" y="4572000"/>
            <a:ext cx="8448900" cy="457200"/>
          </a:xfrm>
          <a:prstGeom prst="roundRect">
            <a:avLst>
              <a:gd fmla="val 8696" name="adj"/>
            </a:avLst>
          </a:prstGeom>
          <a:solidFill>
            <a:srgbClr val="F2F4F8"/>
          </a:solidFill>
          <a:ln>
            <a:noFill/>
          </a:ln>
          <a:effectLst>
            <a:outerShdw blurRad="76200" rotWithShape="0" algn="bl" dir="2700000" dist="25400">
              <a:srgbClr val="000000">
                <a:alpha val="10199"/>
              </a:srgbClr>
            </a:outerShdw>
          </a:effectLst>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900"/>
              <a:t>System 3 shows the signal contains useful information.</a:t>
            </a:r>
            <a:endParaRPr sz="900"/>
          </a:p>
          <a:p>
            <a:pPr indent="0" lvl="0" marL="0" rtl="0" algn="l">
              <a:spcBef>
                <a:spcPts val="0"/>
              </a:spcBef>
              <a:spcAft>
                <a:spcPts val="0"/>
              </a:spcAft>
              <a:buNone/>
            </a:pPr>
            <a:r>
              <a:rPr lang="en-US" sz="900"/>
              <a:t>System 2 shows that explicitly prioritising those groups is more effective than simply adjusting scores.</a:t>
            </a:r>
            <a:endParaRPr sz="9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761"/>
        </a:solidFill>
      </p:bgPr>
    </p:bg>
    <p:spTree>
      <p:nvGrpSpPr>
        <p:cNvPr id="198" name="Shape 198"/>
        <p:cNvGrpSpPr/>
        <p:nvPr/>
      </p:nvGrpSpPr>
      <p:grpSpPr>
        <a:xfrm>
          <a:off x="0" y="0"/>
          <a:ext cx="0" cy="0"/>
          <a:chOff x="0" y="0"/>
          <a:chExt cx="0" cy="0"/>
        </a:xfrm>
      </p:grpSpPr>
      <p:pic>
        <p:nvPicPr>
          <p:cNvPr descr="preencoded.png" id="199" name="Google Shape;199;p13"/>
          <p:cNvPicPr preferRelativeResize="0"/>
          <p:nvPr/>
        </p:nvPicPr>
        <p:blipFill rotWithShape="1">
          <a:blip r:embed="rId3">
            <a:alphaModFix/>
          </a:blip>
          <a:srcRect b="0" l="0" r="0" t="0"/>
          <a:stretch/>
        </p:blipFill>
        <p:spPr>
          <a:xfrm>
            <a:off x="731520" y="411480"/>
            <a:ext cx="365760" cy="365760"/>
          </a:xfrm>
          <a:prstGeom prst="rect">
            <a:avLst/>
          </a:prstGeom>
          <a:noFill/>
          <a:ln>
            <a:noFill/>
          </a:ln>
        </p:spPr>
      </p:pic>
      <p:sp>
        <p:nvSpPr>
          <p:cNvPr id="200" name="Google Shape;200;p13"/>
          <p:cNvSpPr/>
          <p:nvPr/>
        </p:nvSpPr>
        <p:spPr>
          <a:xfrm>
            <a:off x="1234440" y="365760"/>
            <a:ext cx="64008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800"/>
              <a:buFont typeface="Calibri"/>
              <a:buNone/>
            </a:pPr>
            <a:r>
              <a:rPr b="1" i="0" lang="en-US" sz="2800" u="none" cap="none" strike="noStrike">
                <a:solidFill>
                  <a:srgbClr val="FFFFFF"/>
                </a:solidFill>
                <a:latin typeface="Calibri"/>
                <a:ea typeface="Calibri"/>
                <a:cs typeface="Calibri"/>
                <a:sym typeface="Calibri"/>
              </a:rPr>
              <a:t>Conclusion</a:t>
            </a:r>
            <a:endParaRPr b="0" i="0" sz="2800" u="none" cap="none" strike="noStrike">
              <a:solidFill>
                <a:schemeClr val="dk1"/>
              </a:solidFill>
              <a:latin typeface="Calibri"/>
              <a:ea typeface="Calibri"/>
              <a:cs typeface="Calibri"/>
              <a:sym typeface="Calibri"/>
            </a:endParaRPr>
          </a:p>
        </p:txBody>
      </p:sp>
      <p:sp>
        <p:nvSpPr>
          <p:cNvPr id="201" name="Google Shape;201;p13"/>
          <p:cNvSpPr/>
          <p:nvPr/>
        </p:nvSpPr>
        <p:spPr>
          <a:xfrm>
            <a:off x="731520" y="1188720"/>
            <a:ext cx="201168" cy="201168"/>
          </a:xfrm>
          <a:prstGeom prst="ellipse">
            <a:avLst/>
          </a:prstGeom>
          <a:solidFill>
            <a:srgbClr val="E859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13"/>
          <p:cNvSpPr/>
          <p:nvPr/>
        </p:nvSpPr>
        <p:spPr>
          <a:xfrm>
            <a:off x="1097280" y="1097280"/>
            <a:ext cx="731520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 qualification layer can improve lead selection beyond predictive scoring</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alone </a:t>
            </a:r>
            <a:r>
              <a:rPr lang="en-US" sz="1300">
                <a:solidFill>
                  <a:srgbClr val="FFFFFF"/>
                </a:solidFill>
                <a:latin typeface="Calibri"/>
                <a:ea typeface="Calibri"/>
                <a:cs typeface="Calibri"/>
                <a:sym typeface="Calibri"/>
              </a:rPr>
              <a:t>-</a:t>
            </a:r>
            <a:r>
              <a:rPr b="0" i="0" lang="en-US" sz="1300" u="none" cap="none" strike="noStrike">
                <a:solidFill>
                  <a:srgbClr val="FFFFFF"/>
                </a:solidFill>
                <a:latin typeface="Calibri"/>
                <a:ea typeface="Calibri"/>
                <a:cs typeface="Calibri"/>
                <a:sym typeface="Calibri"/>
              </a:rPr>
              <a:t> when it introduces information unavailable at the point of scoring</a:t>
            </a:r>
            <a:endParaRPr b="0" i="0" sz="1300" u="none" cap="none" strike="noStrike">
              <a:solidFill>
                <a:schemeClr val="dk1"/>
              </a:solidFill>
              <a:latin typeface="Calibri"/>
              <a:ea typeface="Calibri"/>
              <a:cs typeface="Calibri"/>
              <a:sym typeface="Calibri"/>
            </a:endParaRPr>
          </a:p>
        </p:txBody>
      </p:sp>
      <p:sp>
        <p:nvSpPr>
          <p:cNvPr id="203" name="Google Shape;203;p13"/>
          <p:cNvSpPr/>
          <p:nvPr/>
        </p:nvSpPr>
        <p:spPr>
          <a:xfrm>
            <a:off x="731520" y="2011680"/>
            <a:ext cx="201168" cy="201168"/>
          </a:xfrm>
          <a:prstGeom prst="ellipse">
            <a:avLst/>
          </a:prstGeom>
          <a:solidFill>
            <a:srgbClr val="E859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13"/>
          <p:cNvSpPr/>
          <p:nvPr/>
        </p:nvSpPr>
        <p:spPr>
          <a:xfrm>
            <a:off x="1097280" y="1920240"/>
            <a:ext cx="731520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1100"/>
              <a:buFont typeface="Arial"/>
              <a:buNone/>
            </a:pPr>
            <a:r>
              <a:rPr lang="en-US" sz="1300">
                <a:solidFill>
                  <a:srgbClr val="FFFFFF"/>
                </a:solidFill>
                <a:latin typeface="Calibri"/>
                <a:ea typeface="Calibri"/>
                <a:cs typeface="Calibri"/>
                <a:sym typeface="Calibri"/>
              </a:rPr>
              <a:t>The improvement is directional (+1.7 pp, 5 additional converters) and</a:t>
            </a:r>
            <a:endParaRPr sz="1300">
              <a:solidFill>
                <a:srgbClr val="FFFFFF"/>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rPr lang="en-US" sz="1300">
                <a:solidFill>
                  <a:srgbClr val="FFFFFF"/>
                </a:solidFill>
                <a:latin typeface="Calibri"/>
                <a:ea typeface="Calibri"/>
                <a:cs typeface="Calibri"/>
                <a:sym typeface="Calibri"/>
              </a:rPr>
              <a:t>consistent across capacity assumptions, though not statistically conclusive</a:t>
            </a:r>
            <a:endParaRPr sz="1300">
              <a:solidFill>
                <a:srgbClr val="FFFFFF"/>
              </a:solidFill>
              <a:latin typeface="Calibri"/>
              <a:ea typeface="Calibri"/>
              <a:cs typeface="Calibri"/>
              <a:sym typeface="Calibri"/>
            </a:endParaRPr>
          </a:p>
        </p:txBody>
      </p:sp>
      <p:sp>
        <p:nvSpPr>
          <p:cNvPr id="205" name="Google Shape;205;p13"/>
          <p:cNvSpPr/>
          <p:nvPr/>
        </p:nvSpPr>
        <p:spPr>
          <a:xfrm>
            <a:off x="731520" y="2834640"/>
            <a:ext cx="201168" cy="201168"/>
          </a:xfrm>
          <a:prstGeom prst="ellipse">
            <a:avLst/>
          </a:prstGeom>
          <a:solidFill>
            <a:srgbClr val="E859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3"/>
          <p:cNvSpPr/>
          <p:nvPr/>
        </p:nvSpPr>
        <p:spPr>
          <a:xfrm>
            <a:off x="1097280" y="2743200"/>
            <a:ext cx="7315200" cy="7315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1"/>
              </a:buClr>
              <a:buSzPts val="1100"/>
              <a:buFont typeface="Arial"/>
              <a:buNone/>
            </a:pPr>
            <a:r>
              <a:rPr lang="en-US" sz="1300">
                <a:solidFill>
                  <a:srgbClr val="FFFFFF"/>
                </a:solidFill>
                <a:latin typeface="Calibri"/>
                <a:ea typeface="Calibri"/>
                <a:cs typeface="Calibri"/>
                <a:sym typeface="Calibri"/>
              </a:rPr>
              <a:t>The qualification layer complements rather than replaces the ML score -</a:t>
            </a:r>
            <a:endParaRPr sz="1300">
              <a:solidFill>
                <a:srgbClr val="FFFFFF"/>
              </a:solidFill>
              <a:latin typeface="Calibri"/>
              <a:ea typeface="Calibri"/>
              <a:cs typeface="Calibri"/>
              <a:sym typeface="Calibri"/>
            </a:endParaRPr>
          </a:p>
          <a:p>
            <a:pPr indent="0" lvl="0" marL="0" rtl="0" algn="l">
              <a:spcBef>
                <a:spcPts val="0"/>
              </a:spcBef>
              <a:spcAft>
                <a:spcPts val="0"/>
              </a:spcAft>
              <a:buClr>
                <a:schemeClr val="dk1"/>
              </a:buClr>
              <a:buSzPts val="1100"/>
              <a:buFont typeface="Arial"/>
              <a:buNone/>
            </a:pPr>
            <a:r>
              <a:rPr lang="en-US" sz="1300">
                <a:solidFill>
                  <a:srgbClr val="FFFFFF"/>
                </a:solidFill>
                <a:latin typeface="Calibri"/>
                <a:ea typeface="Calibri"/>
                <a:cs typeface="Calibri"/>
                <a:sym typeface="Calibri"/>
              </a:rPr>
              <a:t>the tier locates high-conversion groups, the score filters within them</a:t>
            </a:r>
            <a:endParaRPr sz="1300">
              <a:solidFill>
                <a:srgbClr val="FFFFFF"/>
              </a:solidFill>
              <a:latin typeface="Calibri"/>
              <a:ea typeface="Calibri"/>
              <a:cs typeface="Calibri"/>
              <a:sym typeface="Calibri"/>
            </a:endParaRPr>
          </a:p>
        </p:txBody>
      </p:sp>
      <p:sp>
        <p:nvSpPr>
          <p:cNvPr id="207" name="Google Shape;207;p13"/>
          <p:cNvSpPr/>
          <p:nvPr/>
        </p:nvSpPr>
        <p:spPr>
          <a:xfrm>
            <a:off x="731520" y="3657600"/>
            <a:ext cx="201168" cy="201168"/>
          </a:xfrm>
          <a:prstGeom prst="ellipse">
            <a:avLst/>
          </a:prstGeom>
          <a:solidFill>
            <a:srgbClr val="E8593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3"/>
          <p:cNvSpPr/>
          <p:nvPr/>
        </p:nvSpPr>
        <p:spPr>
          <a:xfrm>
            <a:off x="1097280" y="3566160"/>
            <a:ext cx="7315200" cy="7315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This provides empirical support for the industry practice of layering</a:t>
            </a:r>
            <a:endParaRPr b="0" i="0" sz="13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1300"/>
              <a:buFont typeface="Calibri"/>
              <a:buNone/>
            </a:pPr>
            <a:r>
              <a:rPr b="0" i="0" lang="en-US" sz="1300" u="none" cap="none" strike="noStrike">
                <a:solidFill>
                  <a:srgbClr val="FFFFFF"/>
                </a:solidFill>
                <a:latin typeface="Calibri"/>
                <a:ea typeface="Calibri"/>
                <a:cs typeface="Calibri"/>
                <a:sym typeface="Calibri"/>
              </a:rPr>
              <a:t>qualification policies on top of lead scoring systems</a:t>
            </a:r>
            <a:endParaRPr b="0" i="0" sz="1300" u="none" cap="none" strike="noStrike">
              <a:solidFill>
                <a:schemeClr val="dk1"/>
              </a:solidFill>
              <a:latin typeface="Calibri"/>
              <a:ea typeface="Calibri"/>
              <a:cs typeface="Calibri"/>
              <a:sym typeface="Calibri"/>
            </a:endParaRPr>
          </a:p>
        </p:txBody>
      </p:sp>
      <p:sp>
        <p:nvSpPr>
          <p:cNvPr id="209" name="Google Shape;209;p13"/>
          <p:cNvSpPr/>
          <p:nvPr/>
        </p:nvSpPr>
        <p:spPr>
          <a:xfrm>
            <a:off x="731520" y="4297680"/>
            <a:ext cx="7680960" cy="502920"/>
          </a:xfrm>
          <a:prstGeom prst="roundRect">
            <a:avLst>
              <a:gd fmla="val 14545" name="adj"/>
            </a:avLst>
          </a:prstGeom>
          <a:solidFill>
            <a:srgbClr val="24338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13"/>
          <p:cNvSpPr/>
          <p:nvPr/>
        </p:nvSpPr>
        <p:spPr>
          <a:xfrm>
            <a:off x="914400" y="4343400"/>
            <a:ext cx="7315200" cy="4114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ADCFC"/>
              </a:buClr>
              <a:buSzPts val="1300"/>
              <a:buFont typeface="Calibri"/>
              <a:buNone/>
            </a:pPr>
            <a:r>
              <a:rPr b="0" i="1" lang="en-US" sz="1300" u="none" cap="none" strike="noStrike">
                <a:solidFill>
                  <a:srgbClr val="CADCFC"/>
                </a:solidFill>
                <a:latin typeface="Calibri"/>
                <a:ea typeface="Calibri"/>
                <a:cs typeface="Calibri"/>
                <a:sym typeface="Calibri"/>
              </a:rPr>
              <a:t>The contribution is not that rules beat ML. It is identifying when a two-stage architecture outperforms scoring alone.</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 name="Shape 215"/>
        <p:cNvGrpSpPr/>
        <p:nvPr/>
      </p:nvGrpSpPr>
      <p:grpSpPr>
        <a:xfrm>
          <a:off x="0" y="0"/>
          <a:ext cx="0" cy="0"/>
          <a:chOff x="0" y="0"/>
          <a:chExt cx="0" cy="0"/>
        </a:xfrm>
      </p:grpSpPr>
      <p:pic>
        <p:nvPicPr>
          <p:cNvPr descr="preencoded.png" id="216" name="Google Shape;216;p14"/>
          <p:cNvPicPr preferRelativeResize="0"/>
          <p:nvPr/>
        </p:nvPicPr>
        <p:blipFill rotWithShape="1">
          <a:blip r:embed="rId3">
            <a:alphaModFix/>
          </a:blip>
          <a:srcRect b="0" l="0" r="0" t="0"/>
          <a:stretch/>
        </p:blipFill>
        <p:spPr>
          <a:xfrm>
            <a:off x="731520" y="320040"/>
            <a:ext cx="365760" cy="365760"/>
          </a:xfrm>
          <a:prstGeom prst="rect">
            <a:avLst/>
          </a:prstGeom>
          <a:noFill/>
          <a:ln>
            <a:noFill/>
          </a:ln>
        </p:spPr>
      </p:pic>
      <p:sp>
        <p:nvSpPr>
          <p:cNvPr id="217" name="Google Shape;217;p14"/>
          <p:cNvSpPr/>
          <p:nvPr/>
        </p:nvSpPr>
        <p:spPr>
          <a:xfrm>
            <a:off x="1234440" y="274320"/>
            <a:ext cx="64008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2761"/>
              </a:buClr>
              <a:buSzPts val="2800"/>
              <a:buFont typeface="Calibri"/>
              <a:buNone/>
            </a:pPr>
            <a:r>
              <a:rPr b="1" i="0" lang="en-US" sz="2800" u="none" cap="none" strike="noStrike">
                <a:solidFill>
                  <a:srgbClr val="1E2761"/>
                </a:solidFill>
                <a:latin typeface="Calibri"/>
                <a:ea typeface="Calibri"/>
                <a:cs typeface="Calibri"/>
                <a:sym typeface="Calibri"/>
              </a:rPr>
              <a:t>Limitations and future work</a:t>
            </a:r>
            <a:endParaRPr b="0" i="0" sz="2800" u="none" cap="none" strike="noStrike">
              <a:solidFill>
                <a:schemeClr val="dk1"/>
              </a:solidFill>
              <a:latin typeface="Calibri"/>
              <a:ea typeface="Calibri"/>
              <a:cs typeface="Calibri"/>
              <a:sym typeface="Calibri"/>
            </a:endParaRPr>
          </a:p>
        </p:txBody>
      </p:sp>
      <p:sp>
        <p:nvSpPr>
          <p:cNvPr id="218" name="Google Shape;218;p14"/>
          <p:cNvSpPr/>
          <p:nvPr/>
        </p:nvSpPr>
        <p:spPr>
          <a:xfrm>
            <a:off x="731520" y="914400"/>
            <a:ext cx="384048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8593C"/>
              </a:buClr>
              <a:buSzPts val="1600"/>
              <a:buFont typeface="Calibri"/>
              <a:buNone/>
            </a:pPr>
            <a:r>
              <a:rPr b="1" i="0" lang="en-US" sz="1600" u="none" cap="none" strike="noStrike">
                <a:solidFill>
                  <a:srgbClr val="E8593C"/>
                </a:solidFill>
                <a:latin typeface="Calibri"/>
                <a:ea typeface="Calibri"/>
                <a:cs typeface="Calibri"/>
                <a:sym typeface="Calibri"/>
              </a:rPr>
              <a:t>Major limitations</a:t>
            </a:r>
            <a:endParaRPr b="0" i="0" sz="1600" u="none" cap="none" strike="noStrike">
              <a:solidFill>
                <a:schemeClr val="dk1"/>
              </a:solidFill>
              <a:latin typeface="Calibri"/>
              <a:ea typeface="Calibri"/>
              <a:cs typeface="Calibri"/>
              <a:sym typeface="Calibri"/>
            </a:endParaRPr>
          </a:p>
        </p:txBody>
      </p:sp>
      <p:sp>
        <p:nvSpPr>
          <p:cNvPr id="219" name="Google Shape;219;p14"/>
          <p:cNvSpPr/>
          <p:nvPr/>
        </p:nvSpPr>
        <p:spPr>
          <a:xfrm>
            <a:off x="731520" y="1280160"/>
            <a:ext cx="3840480" cy="1280160"/>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0F1B3D"/>
              </a:buClr>
              <a:buSzPts val="1200"/>
              <a:buFont typeface="Calibri"/>
              <a:buChar char="•"/>
            </a:pPr>
            <a:r>
              <a:rPr b="0" i="0" lang="en-US" sz="1200" u="none" cap="none" strike="noStrike">
                <a:solidFill>
                  <a:srgbClr val="0F1B3D"/>
                </a:solidFill>
                <a:latin typeface="Calibri"/>
                <a:ea typeface="Calibri"/>
                <a:cs typeface="Calibri"/>
                <a:sym typeface="Calibri"/>
              </a:rPr>
              <a:t>B2C dataset </a:t>
            </a:r>
            <a:r>
              <a:rPr lang="en-US" sz="1200">
                <a:solidFill>
                  <a:srgbClr val="0F1B3D"/>
                </a:solidFill>
                <a:latin typeface="Calibri"/>
                <a:ea typeface="Calibri"/>
                <a:cs typeface="Calibri"/>
                <a:sym typeface="Calibri"/>
              </a:rPr>
              <a:t>-</a:t>
            </a:r>
            <a:r>
              <a:rPr b="0" i="0" lang="en-US" sz="1200" u="none" cap="none" strike="noStrike">
                <a:solidFill>
                  <a:srgbClr val="0F1B3D"/>
                </a:solidFill>
                <a:latin typeface="Calibri"/>
                <a:ea typeface="Calibri"/>
                <a:cs typeface="Calibri"/>
                <a:sym typeface="Calibri"/>
              </a:rPr>
              <a:t> BANT dimensions are</a:t>
            </a:r>
            <a:r>
              <a:rPr lang="en-US" sz="1200">
                <a:solidFill>
                  <a:schemeClr val="dk1"/>
                </a:solidFill>
                <a:latin typeface="Calibri"/>
                <a:ea typeface="Calibri"/>
                <a:cs typeface="Calibri"/>
                <a:sym typeface="Calibri"/>
              </a:rPr>
              <a:t> </a:t>
            </a:r>
            <a:r>
              <a:rPr b="0" i="0" lang="en-US" sz="1200" u="none" cap="none" strike="noStrike">
                <a:solidFill>
                  <a:srgbClr val="0F1B3D"/>
                </a:solidFill>
                <a:latin typeface="Calibri"/>
                <a:ea typeface="Calibri"/>
                <a:cs typeface="Calibri"/>
                <a:sym typeface="Calibri"/>
              </a:rPr>
              <a:t>proxied, not directly measured</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0F1B3D"/>
              </a:buClr>
              <a:buSzPts val="1200"/>
              <a:buFont typeface="Calibri"/>
              <a:buChar char="•"/>
            </a:pPr>
            <a:r>
              <a:rPr b="0" i="0" lang="en-US" sz="1200" u="none" cap="none" strike="noStrike">
                <a:solidFill>
                  <a:srgbClr val="0F1B3D"/>
                </a:solidFill>
                <a:latin typeface="Calibri"/>
                <a:ea typeface="Calibri"/>
                <a:cs typeface="Calibri"/>
                <a:sym typeface="Calibri"/>
              </a:rPr>
              <a:t>Directional result </a:t>
            </a:r>
            <a:r>
              <a:rPr lang="en-US" sz="1200">
                <a:solidFill>
                  <a:srgbClr val="0F1B3D"/>
                </a:solidFill>
                <a:latin typeface="Calibri"/>
                <a:ea typeface="Calibri"/>
                <a:cs typeface="Calibri"/>
                <a:sym typeface="Calibri"/>
              </a:rPr>
              <a:t>-</a:t>
            </a:r>
            <a:r>
              <a:rPr b="0" i="0" lang="en-US" sz="1200" u="none" cap="none" strike="noStrike">
                <a:solidFill>
                  <a:srgbClr val="0F1B3D"/>
                </a:solidFill>
                <a:latin typeface="Calibri"/>
                <a:ea typeface="Calibri"/>
                <a:cs typeface="Calibri"/>
                <a:sym typeface="Calibri"/>
              </a:rPr>
              <a:t> bootstrap CIs overlap</a:t>
            </a:r>
            <a:r>
              <a:rPr lang="en-US" sz="1200">
                <a:solidFill>
                  <a:schemeClr val="dk1"/>
                </a:solidFill>
                <a:latin typeface="Calibri"/>
                <a:ea typeface="Calibri"/>
                <a:cs typeface="Calibri"/>
                <a:sym typeface="Calibri"/>
              </a:rPr>
              <a:t> </a:t>
            </a:r>
            <a:r>
              <a:rPr b="0" i="0" lang="en-US" sz="1200" u="none" cap="none" strike="noStrike">
                <a:solidFill>
                  <a:srgbClr val="0F1B3D"/>
                </a:solidFill>
                <a:latin typeface="Calibri"/>
                <a:ea typeface="Calibri"/>
                <a:cs typeface="Calibri"/>
                <a:sym typeface="Calibri"/>
              </a:rPr>
              <a:t>at 95% confidence</a:t>
            </a:r>
            <a:endParaRPr b="0" i="0" sz="1200" u="none" cap="none" strike="noStrike">
              <a:solidFill>
                <a:schemeClr val="dk1"/>
              </a:solidFill>
              <a:latin typeface="Calibri"/>
              <a:ea typeface="Calibri"/>
              <a:cs typeface="Calibri"/>
              <a:sym typeface="Calibri"/>
            </a:endParaRPr>
          </a:p>
        </p:txBody>
      </p:sp>
      <p:sp>
        <p:nvSpPr>
          <p:cNvPr id="220" name="Google Shape;220;p14"/>
          <p:cNvSpPr/>
          <p:nvPr/>
        </p:nvSpPr>
        <p:spPr>
          <a:xfrm>
            <a:off x="731520" y="2560320"/>
            <a:ext cx="384048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4748B"/>
              </a:buClr>
              <a:buSzPts val="1400"/>
              <a:buFont typeface="Calibri"/>
              <a:buNone/>
            </a:pPr>
            <a:r>
              <a:rPr b="1" i="0" lang="en-US" sz="1400" u="none" cap="none" strike="noStrike">
                <a:solidFill>
                  <a:srgbClr val="64748B"/>
                </a:solidFill>
                <a:latin typeface="Calibri"/>
                <a:ea typeface="Calibri"/>
                <a:cs typeface="Calibri"/>
                <a:sym typeface="Calibri"/>
              </a:rPr>
              <a:t>Minor limitations</a:t>
            </a:r>
            <a:endParaRPr b="0" i="0" sz="1400" u="none" cap="none" strike="noStrike">
              <a:solidFill>
                <a:schemeClr val="dk1"/>
              </a:solidFill>
              <a:latin typeface="Calibri"/>
              <a:ea typeface="Calibri"/>
              <a:cs typeface="Calibri"/>
              <a:sym typeface="Calibri"/>
            </a:endParaRPr>
          </a:p>
        </p:txBody>
      </p:sp>
      <p:sp>
        <p:nvSpPr>
          <p:cNvPr id="221" name="Google Shape;221;p14"/>
          <p:cNvSpPr/>
          <p:nvPr/>
        </p:nvSpPr>
        <p:spPr>
          <a:xfrm>
            <a:off x="731520" y="2880360"/>
            <a:ext cx="3840480" cy="914400"/>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0F1B3D"/>
              </a:buClr>
              <a:buSzPts val="1200"/>
              <a:buFont typeface="Calibri"/>
              <a:buChar char="•"/>
            </a:pPr>
            <a:r>
              <a:rPr b="0" i="0" lang="en-US" sz="1200" u="none" cap="none" strike="noStrike">
                <a:solidFill>
                  <a:srgbClr val="0F1B3D"/>
                </a:solidFill>
                <a:latin typeface="Calibri"/>
                <a:ea typeface="Calibri"/>
                <a:cs typeface="Calibri"/>
                <a:sym typeface="Calibri"/>
              </a:rPr>
              <a:t>Partial signal separation (proxy leakage)</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0F1B3D"/>
              </a:buClr>
              <a:buSzPts val="1200"/>
              <a:buFont typeface="Calibri"/>
              <a:buChar char="•"/>
            </a:pPr>
            <a:r>
              <a:rPr b="0" i="0" lang="en-US" sz="1200" u="none" cap="none" strike="noStrike">
                <a:solidFill>
                  <a:srgbClr val="0F1B3D"/>
                </a:solidFill>
                <a:latin typeface="Calibri"/>
                <a:ea typeface="Calibri"/>
                <a:cs typeface="Calibri"/>
                <a:sym typeface="Calibri"/>
              </a:rPr>
              <a:t>No field-level timestamps in dataset</a:t>
            </a:r>
            <a:endParaRPr b="0" i="0" sz="1200" u="none" cap="none" strike="noStrike">
              <a:solidFill>
                <a:schemeClr val="dk1"/>
              </a:solidFill>
              <a:latin typeface="Calibri"/>
              <a:ea typeface="Calibri"/>
              <a:cs typeface="Calibri"/>
              <a:sym typeface="Calibri"/>
            </a:endParaRPr>
          </a:p>
        </p:txBody>
      </p:sp>
      <p:sp>
        <p:nvSpPr>
          <p:cNvPr id="222" name="Google Shape;222;p14"/>
          <p:cNvSpPr/>
          <p:nvPr/>
        </p:nvSpPr>
        <p:spPr>
          <a:xfrm>
            <a:off x="4754880" y="914400"/>
            <a:ext cx="384048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2761"/>
              </a:buClr>
              <a:buSzPts val="1600"/>
              <a:buFont typeface="Calibri"/>
              <a:buNone/>
            </a:pPr>
            <a:r>
              <a:rPr b="1" i="0" lang="en-US" sz="1600" u="none" cap="none" strike="noStrike">
                <a:solidFill>
                  <a:srgbClr val="1E2761"/>
                </a:solidFill>
                <a:latin typeface="Calibri"/>
                <a:ea typeface="Calibri"/>
                <a:cs typeface="Calibri"/>
                <a:sym typeface="Calibri"/>
              </a:rPr>
              <a:t>Future work</a:t>
            </a:r>
            <a:endParaRPr b="0" i="0" sz="1600" u="none" cap="none" strike="noStrike">
              <a:solidFill>
                <a:schemeClr val="dk1"/>
              </a:solidFill>
              <a:latin typeface="Calibri"/>
              <a:ea typeface="Calibri"/>
              <a:cs typeface="Calibri"/>
              <a:sym typeface="Calibri"/>
            </a:endParaRPr>
          </a:p>
        </p:txBody>
      </p:sp>
      <p:sp>
        <p:nvSpPr>
          <p:cNvPr id="223" name="Google Shape;223;p14"/>
          <p:cNvSpPr/>
          <p:nvPr/>
        </p:nvSpPr>
        <p:spPr>
          <a:xfrm>
            <a:off x="4754880" y="1280160"/>
            <a:ext cx="3840480" cy="2926080"/>
          </a:xfrm>
          <a:prstGeom prst="rect">
            <a:avLst/>
          </a:prstGeom>
          <a:noFill/>
          <a:ln>
            <a:noFill/>
          </a:ln>
        </p:spPr>
        <p:txBody>
          <a:bodyPr anchorCtr="0" anchor="ctr" bIns="45700" lIns="91425" spcFirstLastPara="1" rIns="91425" wrap="square" tIns="45700">
            <a:noAutofit/>
          </a:bodyPr>
          <a:lstStyle/>
          <a:p>
            <a:pPr indent="-342900" lvl="0" marL="342900" marR="0" rtl="0" algn="l">
              <a:spcBef>
                <a:spcPts val="0"/>
              </a:spcBef>
              <a:spcAft>
                <a:spcPts val="0"/>
              </a:spcAft>
              <a:buClr>
                <a:srgbClr val="0F1B3D"/>
              </a:buClr>
              <a:buSzPts val="1200"/>
              <a:buFont typeface="Calibri"/>
              <a:buChar char="•"/>
            </a:pPr>
            <a:r>
              <a:rPr b="0" i="0" lang="en-US" sz="1200" u="none" cap="none" strike="noStrike">
                <a:solidFill>
                  <a:srgbClr val="0F1B3D"/>
                </a:solidFill>
                <a:latin typeface="Calibri"/>
                <a:ea typeface="Calibri"/>
                <a:cs typeface="Calibri"/>
                <a:sym typeface="Calibri"/>
              </a:rPr>
              <a:t>Test on real B2B CRM data with genuine</a:t>
            </a:r>
            <a:r>
              <a:rPr lang="en-US" sz="1200">
                <a:solidFill>
                  <a:schemeClr val="dk1"/>
                </a:solidFill>
                <a:latin typeface="Calibri"/>
                <a:ea typeface="Calibri"/>
                <a:cs typeface="Calibri"/>
                <a:sym typeface="Calibri"/>
              </a:rPr>
              <a:t> </a:t>
            </a:r>
            <a:r>
              <a:rPr b="0" i="0" lang="en-US" sz="1200" u="none" cap="none" strike="noStrike">
                <a:solidFill>
                  <a:srgbClr val="0F1B3D"/>
                </a:solidFill>
                <a:latin typeface="Calibri"/>
                <a:ea typeface="Calibri"/>
                <a:cs typeface="Calibri"/>
                <a:sym typeface="Calibri"/>
              </a:rPr>
              <a:t>BANT qualification signals</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0F1B3D"/>
              </a:buClr>
              <a:buSzPts val="1200"/>
              <a:buFont typeface="Calibri"/>
              <a:buChar char="•"/>
            </a:pPr>
            <a:r>
              <a:rPr b="0" i="0" lang="en-US" sz="1200" u="none" cap="none" strike="noStrike">
                <a:solidFill>
                  <a:srgbClr val="0F1B3D"/>
                </a:solidFill>
                <a:latin typeface="Calibri"/>
                <a:ea typeface="Calibri"/>
                <a:cs typeface="Calibri"/>
                <a:sym typeface="Calibri"/>
              </a:rPr>
              <a:t>Explore dynamic models that ingest</a:t>
            </a:r>
            <a:r>
              <a:rPr lang="en-US" sz="1200">
                <a:solidFill>
                  <a:schemeClr val="dk1"/>
                </a:solidFill>
                <a:latin typeface="Calibri"/>
                <a:ea typeface="Calibri"/>
                <a:cs typeface="Calibri"/>
                <a:sym typeface="Calibri"/>
              </a:rPr>
              <a:t> </a:t>
            </a:r>
            <a:r>
              <a:rPr b="0" i="0" lang="en-US" sz="1200" u="none" cap="none" strike="noStrike">
                <a:solidFill>
                  <a:srgbClr val="0F1B3D"/>
                </a:solidFill>
                <a:latin typeface="Calibri"/>
                <a:ea typeface="Calibri"/>
                <a:cs typeface="Calibri"/>
                <a:sym typeface="Calibri"/>
              </a:rPr>
              <a:t>qualification outcomes over time</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0F1B3D"/>
              </a:buClr>
              <a:buSzPts val="1200"/>
              <a:buFont typeface="Calibri"/>
              <a:buChar char="•"/>
            </a:pPr>
            <a:r>
              <a:rPr b="0" i="0" lang="en-US" sz="1200" u="none" cap="none" strike="noStrike">
                <a:solidFill>
                  <a:srgbClr val="0F1B3D"/>
                </a:solidFill>
                <a:latin typeface="Calibri"/>
                <a:ea typeface="Calibri"/>
                <a:cs typeface="Calibri"/>
                <a:sym typeface="Calibri"/>
              </a:rPr>
              <a:t>Extend to multi-objective evaluation</a:t>
            </a:r>
            <a:r>
              <a:rPr lang="en-US" sz="1200">
                <a:solidFill>
                  <a:schemeClr val="dk1"/>
                </a:solidFill>
                <a:latin typeface="Calibri"/>
                <a:ea typeface="Calibri"/>
                <a:cs typeface="Calibri"/>
                <a:sym typeface="Calibri"/>
              </a:rPr>
              <a:t> </a:t>
            </a:r>
            <a:r>
              <a:rPr b="0" i="0" lang="en-US" sz="1200" u="none" cap="none" strike="noStrike">
                <a:solidFill>
                  <a:srgbClr val="0F1B3D"/>
                </a:solidFill>
                <a:latin typeface="Calibri"/>
                <a:ea typeface="Calibri"/>
                <a:cs typeface="Calibri"/>
                <a:sym typeface="Calibri"/>
              </a:rPr>
              <a:t>(revenue, account value, cost to serve)</a:t>
            </a:r>
            <a:endParaRPr b="0" i="0" sz="1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342900" lvl="0" marL="342900" marR="0" rtl="0" algn="l">
              <a:spcBef>
                <a:spcPts val="0"/>
              </a:spcBef>
              <a:spcAft>
                <a:spcPts val="0"/>
              </a:spcAft>
              <a:buClr>
                <a:srgbClr val="0F1B3D"/>
              </a:buClr>
              <a:buSzPts val="1200"/>
              <a:buFont typeface="Calibri"/>
              <a:buChar char="•"/>
            </a:pPr>
            <a:r>
              <a:rPr b="0" i="0" lang="en-US" sz="1200" u="none" cap="none" strike="noStrike">
                <a:solidFill>
                  <a:srgbClr val="0F1B3D"/>
                </a:solidFill>
                <a:latin typeface="Calibri"/>
                <a:ea typeface="Calibri"/>
                <a:cs typeface="Calibri"/>
                <a:sym typeface="Calibri"/>
              </a:rPr>
              <a:t>Test complete signal separation by</a:t>
            </a:r>
            <a:r>
              <a:rPr lang="en-US" sz="1200">
                <a:solidFill>
                  <a:schemeClr val="dk1"/>
                </a:solidFill>
                <a:latin typeface="Calibri"/>
                <a:ea typeface="Calibri"/>
                <a:cs typeface="Calibri"/>
                <a:sym typeface="Calibri"/>
              </a:rPr>
              <a:t> </a:t>
            </a:r>
            <a:r>
              <a:rPr b="0" i="0" lang="en-US" sz="1200" u="none" cap="none" strike="noStrike">
                <a:solidFill>
                  <a:srgbClr val="0F1B3D"/>
                </a:solidFill>
                <a:latin typeface="Calibri"/>
                <a:ea typeface="Calibri"/>
                <a:cs typeface="Calibri"/>
                <a:sym typeface="Calibri"/>
              </a:rPr>
              <a:t>excluding Last Notable Activity</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761"/>
        </a:solidFill>
      </p:bgPr>
    </p:bg>
    <p:spTree>
      <p:nvGrpSpPr>
        <p:cNvPr id="228" name="Shape 228"/>
        <p:cNvGrpSpPr/>
        <p:nvPr/>
      </p:nvGrpSpPr>
      <p:grpSpPr>
        <a:xfrm>
          <a:off x="0" y="0"/>
          <a:ext cx="0" cy="0"/>
          <a:chOff x="0" y="0"/>
          <a:chExt cx="0" cy="0"/>
        </a:xfrm>
      </p:grpSpPr>
      <p:sp>
        <p:nvSpPr>
          <p:cNvPr id="229" name="Google Shape;229;p15"/>
          <p:cNvSpPr/>
          <p:nvPr/>
        </p:nvSpPr>
        <p:spPr>
          <a:xfrm>
            <a:off x="731520" y="1645920"/>
            <a:ext cx="7680960" cy="9144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4400"/>
              <a:buFont typeface="Calibri"/>
              <a:buNone/>
            </a:pPr>
            <a:r>
              <a:rPr b="1" i="0" lang="en-US" sz="4400" u="none" cap="none" strike="noStrike">
                <a:solidFill>
                  <a:srgbClr val="FFFFFF"/>
                </a:solidFill>
                <a:latin typeface="Calibri"/>
                <a:ea typeface="Calibri"/>
                <a:cs typeface="Calibri"/>
                <a:sym typeface="Calibri"/>
              </a:rPr>
              <a:t>Thank you</a:t>
            </a:r>
            <a:endParaRPr b="0" i="0" sz="4400" u="none" cap="none" strike="noStrike">
              <a:solidFill>
                <a:schemeClr val="dk1"/>
              </a:solidFill>
              <a:latin typeface="Calibri"/>
              <a:ea typeface="Calibri"/>
              <a:cs typeface="Calibri"/>
              <a:sym typeface="Calibri"/>
            </a:endParaRPr>
          </a:p>
        </p:txBody>
      </p:sp>
      <p:sp>
        <p:nvSpPr>
          <p:cNvPr id="230" name="Google Shape;230;p15"/>
          <p:cNvSpPr/>
          <p:nvPr/>
        </p:nvSpPr>
        <p:spPr>
          <a:xfrm>
            <a:off x="731520" y="2560320"/>
            <a:ext cx="76809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ADCFC"/>
              </a:buClr>
              <a:buSzPts val="2200"/>
              <a:buFont typeface="Calibri"/>
              <a:buNone/>
            </a:pPr>
            <a:r>
              <a:rPr b="0" i="0" lang="en-US" sz="2200" u="none" cap="none" strike="noStrike">
                <a:solidFill>
                  <a:srgbClr val="CADCFC"/>
                </a:solidFill>
                <a:latin typeface="Calibri"/>
                <a:ea typeface="Calibri"/>
                <a:cs typeface="Calibri"/>
                <a:sym typeface="Calibri"/>
              </a:rPr>
              <a:t>Questions?</a:t>
            </a:r>
            <a:endParaRPr b="0" i="0" sz="2200" u="none" cap="none" strike="noStrike">
              <a:solidFill>
                <a:schemeClr val="dk1"/>
              </a:solidFill>
              <a:latin typeface="Calibri"/>
              <a:ea typeface="Calibri"/>
              <a:cs typeface="Calibri"/>
              <a:sym typeface="Calibri"/>
            </a:endParaRPr>
          </a:p>
        </p:txBody>
      </p:sp>
      <p:cxnSp>
        <p:nvCxnSpPr>
          <p:cNvPr id="231" name="Google Shape;231;p15"/>
          <p:cNvCxnSpPr/>
          <p:nvPr/>
        </p:nvCxnSpPr>
        <p:spPr>
          <a:xfrm>
            <a:off x="3200400" y="3291840"/>
            <a:ext cx="2743200" cy="0"/>
          </a:xfrm>
          <a:prstGeom prst="straightConnector1">
            <a:avLst/>
          </a:prstGeom>
          <a:noFill/>
          <a:ln cap="flat" cmpd="sng" w="38100">
            <a:solidFill>
              <a:srgbClr val="E8593C"/>
            </a:solidFill>
            <a:prstDash val="solid"/>
            <a:round/>
            <a:headEnd len="sm" w="sm" type="none"/>
            <a:tailEnd len="sm" w="sm" type="none"/>
          </a:ln>
        </p:spPr>
      </p:cxnSp>
      <p:sp>
        <p:nvSpPr>
          <p:cNvPr id="232" name="Google Shape;232;p15"/>
          <p:cNvSpPr/>
          <p:nvPr/>
        </p:nvSpPr>
        <p:spPr>
          <a:xfrm>
            <a:off x="731520" y="3566160"/>
            <a:ext cx="7680960" cy="7315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CADCFC"/>
              </a:buClr>
              <a:buSzPts val="1400"/>
              <a:buFont typeface="Calibri"/>
              <a:buNone/>
            </a:pPr>
            <a:r>
              <a:rPr b="0" i="0" lang="en-US" sz="1400" u="none" cap="none" strike="noStrike">
                <a:solidFill>
                  <a:srgbClr val="CADCFC"/>
                </a:solidFill>
                <a:latin typeface="Calibri"/>
                <a:ea typeface="Calibri"/>
                <a:cs typeface="Calibri"/>
                <a:sym typeface="Calibri"/>
              </a:rPr>
              <a:t>Michael Thomas</a:t>
            </a:r>
            <a:endParaRPr b="0" i="0" sz="14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CADCFC"/>
              </a:buClr>
              <a:buSzPts val="1400"/>
              <a:buFont typeface="Calibri"/>
              <a:buNone/>
            </a:pPr>
            <a:r>
              <a:rPr b="0" i="0" lang="en-US" sz="1400" u="none" cap="none" strike="noStrike">
                <a:solidFill>
                  <a:srgbClr val="CADCFC"/>
                </a:solidFill>
                <a:latin typeface="Calibri"/>
                <a:ea typeface="Calibri"/>
                <a:cs typeface="Calibri"/>
                <a:sym typeface="Calibri"/>
              </a:rPr>
              <a:t>michael@tailyx.</a:t>
            </a:r>
            <a:r>
              <a:rPr lang="en-US">
                <a:solidFill>
                  <a:srgbClr val="CADCFC"/>
                </a:solidFill>
                <a:latin typeface="Calibri"/>
                <a:ea typeface="Calibri"/>
                <a:cs typeface="Calibri"/>
                <a:sym typeface="Calibri"/>
              </a:rPr>
              <a:t>ai</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2026-06-12T23:20:27Z</dcterms:created>
  <dc:creator>Michael Thomas</dc:creator>
</cp:coreProperties>
</file>