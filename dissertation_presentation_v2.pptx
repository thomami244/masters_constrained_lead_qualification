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dVmygxm1PZSyzGyamHYs1Lfiq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9D0045-E51E-44DF-8F73-D67C288B57EF}">
  <a:tblStyle styleId="{F59D0045-E51E-44DF-8F73-D67C288B57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yourself. State the title. 30 seconds max.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Wu et al., 2024 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Practice: two stages. Research: one model. The gap is that qualification data isn't available at scoring time.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'qualification layer' not 'soft prioritisation layer'. Three sub-questions: core result, mechanism robustness, capacity sensitivity.</a:t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streams. First two improve information, last two improve decisions. Nobody combined and tested them.</a:t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systems share the same ML score. S1=baseline. S2=the test. S3=robustness (same info, different mechanism).</a:t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key visual. S1: 302 by ML score. S2: 92 P1 + 120 P2 + 90 overflow = 302. Same budget, different composition, 8 more converters.</a:t>
            </a:r>
            <a:endParaRPr/>
          </a:p>
        </p:txBody>
      </p:sp>
      <p:sp>
        <p:nvSpPr>
          <p:cNvPr id="105" name="Google Shape;1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P1 and P2 excluded from model. Baseline cutoff at 39.8% prevents low-scoring leads from being elevated by tier membership alone.</a:t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result: +2.6pp = 8 extra converters. Directional (CIs overlap). S3=0pp: the tier mechanism matters, not just the info.</a:t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sensitivity tests support the main finding. K stable at 20-30%. Cap robust at 20-40%. S3 confirms tier mechanism is key.</a:t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Tier locates the seam. ML removes the duds. Neither works alone. The tier cap decay proves this: gain vanishes above 40% cap.</a:t>
            </a:r>
            <a:endParaRPr/>
          </a:p>
        </p:txBody>
      </p:sp>
      <p:sp>
        <p:nvSpPr>
          <p:cNvPr id="179" name="Google Shape;1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conclusions. The contribution statement at the bottom is the PhD-level framing. Memorise it for Q&amp;A.</a:t>
            </a:r>
            <a:endParaRPr/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Major: B2C dataset and CIs overlap. Minor: proxy leakage and no timestamps. Future: real B2B data is the obvious next step.</a:t>
            </a:r>
            <a:endParaRPr/>
          </a:p>
        </p:txBody>
      </p:sp>
      <p:sp>
        <p:nvSpPr>
          <p:cNvPr id="213" name="Google Shape;21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Constrained lead qualification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Does a separate qualification layer improve lead selection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beyond predictive scoring alone?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731520" y="3200400"/>
            <a:ext cx="2286000" cy="0"/>
          </a:xfrm>
          <a:prstGeom prst="straightConnector1">
            <a:avLst/>
          </a:prstGeom>
          <a:noFill/>
          <a:ln cap="flat" cmpd="sng" w="38100">
            <a:solidFill>
              <a:srgbClr val="E859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Michael Thomas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MSc Artificial Intelligence and Machine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upGrad / IIT Bangalore / LJMU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371600" y="1188720"/>
            <a:ext cx="2926080" cy="2011680"/>
          </a:xfrm>
          <a:prstGeom prst="roundRect">
            <a:avLst>
              <a:gd fmla="val 6818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1371600" y="1737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371600" y="23774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leads 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eliminated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846320" y="1188720"/>
            <a:ext cx="2926080" cy="2011680"/>
          </a:xfrm>
          <a:prstGeom prst="roundRect">
            <a:avLst>
              <a:gd fmla="val 6818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3716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846320" y="1737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1-6</a:t>
            </a:r>
            <a:r>
              <a:rPr b="1" i="0" lang="en-US" sz="4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846320" y="23774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become customers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B2B sales teams operate under severe capacity constraints.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Small differences in lead selection create large differences in revenue.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Sources: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Wu et al. (2024),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Leite et al. (2025)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Practice vs research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31520" y="1188720"/>
            <a:ext cx="3657600" cy="2926080"/>
          </a:xfrm>
          <a:prstGeom prst="roundRect">
            <a:avLst>
              <a:gd fmla="val 4688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3152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firms actually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05840" y="18288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Step 1: Lead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Marketing technology ranks leads 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predicted conversion likelihood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Step 2: Lead qualification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Sales teams re-rank leads using BANT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criteria gathered through SDR interaction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754880" y="1188720"/>
            <a:ext cx="3657600" cy="2926080"/>
          </a:xfrm>
          <a:prstGeom prst="roundRect">
            <a:avLst>
              <a:gd fmla="val 4688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754880" y="1280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research models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0" y="1828800"/>
            <a:ext cx="3200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Single-step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Scoring and qualification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combined into one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Qualification info is gathered after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and is not written back to the CRM.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integrated model is not available.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371600" y="5029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31520" y="1371600"/>
            <a:ext cx="7680960" cy="1280160"/>
          </a:xfrm>
          <a:prstGeom prst="roundRect">
            <a:avLst>
              <a:gd fmla="val 8571" name="adj"/>
            </a:avLst>
          </a:prstGeom>
          <a:solidFill>
            <a:srgbClr val="2433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a sales team can follow up only K leads, does adding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qualification layer on top of an operationally defensible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lead-scoring model produce better outcomes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 the scoring model alone?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SQ1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the qualification layer improve conversion rate?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SQ2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the improvement robust to how the signal is applied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(hard tiers vs continuous blend)?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SQ3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the improvement robust across different capacity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assumptions (varying K)?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approaches to lead selection under capacity constraints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315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Improving information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Improving decisions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31520" y="1600200"/>
            <a:ext cx="1737360" cy="2011680"/>
          </a:xfrm>
          <a:prstGeom prst="roundRect">
            <a:avLst>
              <a:gd fmla="val 6316" name="adj"/>
            </a:avLst>
          </a:prstGeom>
          <a:solidFill>
            <a:srgbClr val="E8EDF5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16916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Predictive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237744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ML models rank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743200" y="1600200"/>
            <a:ext cx="1737360" cy="2011680"/>
          </a:xfrm>
          <a:prstGeom prst="roundRect">
            <a:avLst>
              <a:gd fmla="val 6316" name="adj"/>
            </a:avLst>
          </a:prstGeom>
          <a:solidFill>
            <a:srgbClr val="E8EDF5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743200" y="16916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Predict-then-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optimise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743200" y="237744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 predictions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under constraints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754880" y="1600200"/>
            <a:ext cx="1737360" cy="2011680"/>
          </a:xfrm>
          <a:prstGeom prst="roundRect">
            <a:avLst>
              <a:gd fmla="val 6316" name="adj"/>
            </a:avLst>
          </a:prstGeom>
          <a:solidFill>
            <a:srgbClr val="FFF0E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754880" y="16916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Hard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754880" y="237744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that cannot 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pursued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766560" y="1600200"/>
            <a:ext cx="1737360" cy="2011680"/>
          </a:xfrm>
          <a:prstGeom prst="roundRect">
            <a:avLst>
              <a:gd fmla="val 6316" name="adj"/>
            </a:avLst>
          </a:prstGeom>
          <a:solidFill>
            <a:srgbClr val="FFF0E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766560" y="1691640"/>
            <a:ext cx="1737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Soft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prioritisation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766560" y="237744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Re-rank by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policies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31520" y="3840480"/>
            <a:ext cx="7680960" cy="822960"/>
          </a:xfrm>
          <a:prstGeom prst="roundRect">
            <a:avLst>
              <a:gd fmla="val 11111" name="adj"/>
            </a:avLst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Gap: these four approaches have been studied separately. No study has tested whether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combining prediction with a separate qualification layer improves outcomes under a capacity constraint.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Methodology: three systems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ML score, same H1 filter, same K — only the qualification policy differs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31520" y="1280160"/>
            <a:ext cx="2468880" cy="2377440"/>
          </a:xfrm>
          <a:prstGeom prst="roundRect">
            <a:avLst>
              <a:gd fmla="val 4615" name="adj"/>
            </a:avLst>
          </a:prstGeom>
          <a:solidFill>
            <a:srgbClr val="E8EDF5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731520" y="1371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31520" y="17373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ML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14400" y="219456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XGBoost score only.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No qualification policy.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Top K selected by score.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566160" y="1280160"/>
            <a:ext cx="2468880" cy="2377440"/>
          </a:xfrm>
          <a:prstGeom prst="roundRect">
            <a:avLst>
              <a:gd fmla="val 4615" name="adj"/>
            </a:avLst>
          </a:prstGeom>
          <a:solidFill>
            <a:srgbClr val="FFF0E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566160" y="1371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System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566160" y="17373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Tier qualification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749040" y="219456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P1: Working Professional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P2: SMS Sent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Baseline cutoff + tier cap.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ML rank within tiers.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00800" y="1280160"/>
            <a:ext cx="2468880" cy="2377440"/>
          </a:xfrm>
          <a:prstGeom prst="roundRect">
            <a:avLst>
              <a:gd fmla="val 4615" name="adj"/>
            </a:avLst>
          </a:prstGeom>
          <a:solidFill>
            <a:srgbClr val="F0F5F0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6400800" y="13716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System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0" y="17373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Calibrated blend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583680" y="219456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90% ML + 10% tier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Same info, no tiers.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Robustness check.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Evaluation: Precision@K — what proportion of selected leads actually convert?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System 2 changes allocation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Same K = 302 leads — different composition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31520" y="16916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ML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286000" y="1371600"/>
            <a:ext cx="6126480" cy="640080"/>
          </a:xfrm>
          <a:prstGeom prst="roundRect">
            <a:avLst>
              <a:gd fmla="val 11429" name="adj"/>
            </a:avLst>
          </a:prstGeom>
          <a:solidFill>
            <a:srgbClr val="D6D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2286000" y="137160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302 leads ranked by ML score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858000" y="20574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260 converters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31520" y="2743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System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31520" y="3063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Tier qualification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286000" y="2743200"/>
            <a:ext cx="1828800" cy="640080"/>
          </a:xfrm>
          <a:prstGeom prst="roundRect">
            <a:avLst>
              <a:gd fmla="val 11429" name="adj"/>
            </a:avLst>
          </a:prstGeom>
          <a:solidFill>
            <a:srgbClr val="E859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2286000" y="2743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P1: 92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Proffesionals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160520" y="2743200"/>
            <a:ext cx="2377440" cy="640080"/>
          </a:xfrm>
          <a:prstGeom prst="roundRect">
            <a:avLst>
              <a:gd fmla="val 11429" name="adj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160520" y="27432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P2: 120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SMS 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583680" y="2743200"/>
            <a:ext cx="1828800" cy="640080"/>
          </a:xfrm>
          <a:prstGeom prst="roundRect">
            <a:avLst>
              <a:gd fmla="val 11429" name="adj"/>
            </a:avLst>
          </a:prstGeom>
          <a:solidFill>
            <a:srgbClr val="D6D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583680" y="27432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ML: 90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858000" y="34290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268 converters (+8)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fmla="val 12500" name="adj"/>
            </a:avLst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System 2 changed who entered the follow-up budget.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Tier membership takes precedence over score — but ML ranking is preserved within each tier.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Signal separation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signals withheld from ML model — reserved for qualification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731520" y="1234440"/>
            <a:ext cx="7680960" cy="1280160"/>
          </a:xfrm>
          <a:prstGeom prst="roundRect">
            <a:avLst>
              <a:gd fmla="val 8571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P1 — Tier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914400" y="1645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Working Professional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914400" y="20116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91%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200400" y="1371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Commercial attractiveness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200400" y="169164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Occupation confirmed through SDR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interaction — plausibly post-scoring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31520" y="2743200"/>
            <a:ext cx="7680960" cy="1280160"/>
          </a:xfrm>
          <a:prstGeom prst="roundRect">
            <a:avLst>
              <a:gd fmla="val 8571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14400" y="28346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P2 — Tier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14400" y="31546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SMS Sent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1440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59% conversion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200400" y="2880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Timing proxy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00400" y="32004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SDR-initiated interaction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definitionally post-origination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31520" y="3749040"/>
            <a:ext cx="7680960" cy="822960"/>
          </a:xfrm>
          <a:prstGeom prst="roundRect">
            <a:avLst>
              <a:gd fmla="val 11111" name="adj"/>
            </a:avLst>
          </a:prstGeom>
          <a:solidFill>
            <a:srgbClr val="FFF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Both signals are withheld from the ML model → the qualification layer operates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on information the predictive score cannot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1234440" y="3657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Results: main finding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57200" y="100584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+2.6 pp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57200" y="24688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= 8 additional converters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same sales capacity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9"/>
          <p:cNvGraphicFramePr/>
          <p:nvPr/>
        </p:nvGraphicFramePr>
        <p:xfrm>
          <a:off x="43891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{F59D0045-E51E-44DF-8F73-D67C288B57EF}</a:tableStyleId>
              </a:tblPr>
              <a:tblGrid>
                <a:gridCol w="1920250"/>
                <a:gridCol w="1280150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3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Precision@K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3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S1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38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— ML baseline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86.1%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 — Tier qualification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88.7%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1A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593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859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+2.6 pp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1A0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 — Calibrated blend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86.1%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 pp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45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F6E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Directional finding: </a:t>
            </a: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bootstrap CIs overlap. Consistent across all K values.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S3 shows the gain comes from the tier allocation mechanism,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 just the qualification information itself.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Sensitivity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31520" y="1005840"/>
            <a:ext cx="7680960" cy="1051560"/>
          </a:xfrm>
          <a:prstGeom prst="roundRect">
            <a:avLst>
              <a:gd fmla="val 8696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 sensitivity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914400" y="141732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S2 exceeds S1 at K=20% and K=30%.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Converges at K=10% (tier saturation).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943600" y="1234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Stable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operational 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731520" y="2240280"/>
            <a:ext cx="7680960" cy="1051560"/>
          </a:xfrm>
          <a:prstGeom prst="roundRect">
            <a:avLst>
              <a:gd fmla="val 8696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Tier cap sensitivity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914400" y="26517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Flat at cap 20%–40%.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Decays above 40% as low-quality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leads enter the tier.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943600" y="246888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Not knife-edge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tuned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731520" y="3474720"/>
            <a:ext cx="7680960" cy="1051560"/>
          </a:xfrm>
          <a:prstGeom prst="roundRect">
            <a:avLst>
              <a:gd fmla="val 8696" name="adj"/>
            </a:avLst>
          </a:prstGeom>
          <a:solidFill>
            <a:srgbClr val="F2F4F8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Blend weight (S3)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914400" y="388620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Stable across w = 0.80, 0.90, 0.95.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Blend does not improve on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regardless of weight.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943600" y="37033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Tier mechanism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is 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mechanism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2286000" y="1005840"/>
            <a:ext cx="4572000" cy="731520"/>
          </a:xfrm>
          <a:prstGeom prst="roundRect">
            <a:avLst>
              <a:gd fmla="val 12500" name="adj"/>
            </a:avLst>
          </a:prstGeom>
          <a:solidFill>
            <a:srgbClr val="FFF0E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2286000" y="100584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Qualification finds the high-conversion pocket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2286000" y="1508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Working Prof 91%  |  SMS Sent 59%  |  Baseline 39.8%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2"/>
          <p:cNvCxnSpPr/>
          <p:nvPr/>
        </p:nvCxnSpPr>
        <p:spPr>
          <a:xfrm>
            <a:off x="4572000" y="182880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2"/>
          <p:cNvSpPr/>
          <p:nvPr/>
        </p:nvSpPr>
        <p:spPr>
          <a:xfrm>
            <a:off x="2286000" y="2286000"/>
            <a:ext cx="4572000" cy="731520"/>
          </a:xfrm>
          <a:prstGeom prst="roundRect">
            <a:avLst>
              <a:gd fmla="val 12500" name="adj"/>
            </a:avLst>
          </a:prstGeom>
          <a:solidFill>
            <a:srgbClr val="E8EDF5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286000" y="22860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ML score filters within the pocket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2286000" y="2788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Baseline cutoff: leads below 39.8% drop to overflow pool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2"/>
          <p:cNvCxnSpPr/>
          <p:nvPr/>
        </p:nvCxnSpPr>
        <p:spPr>
          <a:xfrm>
            <a:off x="4572000" y="310896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2"/>
          <p:cNvSpPr/>
          <p:nvPr/>
        </p:nvSpPr>
        <p:spPr>
          <a:xfrm>
            <a:off x="2286000" y="3566160"/>
            <a:ext cx="4572000" cy="731520"/>
          </a:xfrm>
          <a:prstGeom prst="roundRect">
            <a:avLst>
              <a:gd fmla="val 12500" name="adj"/>
            </a:avLst>
          </a:prstGeom>
          <a:solidFill>
            <a:srgbClr val="F0F5F0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2286000" y="356616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Higher Precision@K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2286000" y="4069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Neither component works alone — tier cap decay confirms this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1234440" y="3657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31520" y="1188720"/>
            <a:ext cx="201168" cy="20116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1097280" y="1097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qualification layer can improve lead selection beyond predictive 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alone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when it introduces information unavailable at the point of 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731520" y="2011680"/>
            <a:ext cx="201168" cy="20116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1097280" y="1920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improvement is directional (+2.6 pp, 8 additional converters)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across capacity assumptions, though not statistically conclusive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731520" y="2834640"/>
            <a:ext cx="201168" cy="20116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10972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qualification layer complements rather than replaces the ML score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tier locates high-conversion groups, the score filters within them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731520" y="3657600"/>
            <a:ext cx="201168" cy="201168"/>
          </a:xfrm>
          <a:prstGeom prst="ellipse">
            <a:avLst/>
          </a:prstGeom>
          <a:solidFill>
            <a:srgbClr val="E859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1097280" y="35661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provides empirical support for the industry practice of layering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qualification policies on top of lead scoring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731520" y="4297680"/>
            <a:ext cx="7680960" cy="502920"/>
          </a:xfrm>
          <a:prstGeom prst="roundRect">
            <a:avLst>
              <a:gd fmla="val 14545" name="adj"/>
            </a:avLst>
          </a:prstGeom>
          <a:solidFill>
            <a:srgbClr val="2433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914400" y="43434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contribution is not that rules beat ML. It is identifying when a two-stage architecture outperforms scoring alone.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/>
          <p:nvPr/>
        </p:nvSpPr>
        <p:spPr>
          <a:xfrm>
            <a:off x="12344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Limitations and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73152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593C"/>
                </a:solidFill>
                <a:latin typeface="Calibri"/>
                <a:ea typeface="Calibri"/>
                <a:cs typeface="Calibri"/>
                <a:sym typeface="Calibri"/>
              </a:rPr>
              <a:t>Major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731520" y="128016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B2C dataset </a:t>
            </a:r>
            <a:r>
              <a:rPr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BANT dimensions are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proxied, not directly measured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Directional result </a:t>
            </a:r>
            <a:r>
              <a:rPr lang="en-US" sz="1200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 bootstrap CIs overlap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at 95% 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731520" y="25603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 limitations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731520" y="288036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Partial signal separation (proxy leakage)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No field-level timestamps in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4754880" y="1280160"/>
            <a:ext cx="3840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Test on real B2B CRM data with genuine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BANT qualification signals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Explore dynamic models that ingest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qualification outcomes over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Extend to multi-objective evaluation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(revenue, account value, cost to serve)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Test complete signal separation by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excluding Last Notable 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5"/>
          <p:cNvCxnSpPr/>
          <p:nvPr/>
        </p:nvCxnSpPr>
        <p:spPr>
          <a:xfrm>
            <a:off x="3200400" y="3291840"/>
            <a:ext cx="2743200" cy="0"/>
          </a:xfrm>
          <a:prstGeom prst="straightConnector1">
            <a:avLst/>
          </a:prstGeom>
          <a:noFill/>
          <a:ln cap="flat" cmpd="sng" w="38100">
            <a:solidFill>
              <a:srgbClr val="E859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5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Michael Thomas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michael@tailyx.</a:t>
            </a: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2026-06-12T23:20:27Z</dcterms:created>
  <dc:creator>Michael Thomas</dc:creator>
</cp:coreProperties>
</file>