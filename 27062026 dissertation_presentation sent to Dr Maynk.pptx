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g5EZlW57jWsv/ELMT3YXEpr12p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FDCEF9-4D71-4C96-B011-EAEA019F6FE5}">
  <a:tblStyle styleId="{58FDCEF9-4D71-4C96-B011-EAEA019F6FE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Full dissertation title on cover. 30 seconds.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26303b58d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f26303b58d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3f26303b58d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26303b58d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f26303b58d_2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f26303b58d_2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26303b58d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f26303b58d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S3 uses the same P1+P2 signals as S2 but blends them into the score instead of creating tiers. No capacity is reserved. The boost is small and most leads stay in approximately the same position. Result: 266 converters vs 265 baseline (+1). Compare with S2: 270 converters (+5). Allocation beats score adjustment.</a:t>
            </a:r>
            <a:endParaRPr/>
          </a:p>
        </p:txBody>
      </p:sp>
      <p:sp>
        <p:nvSpPr>
          <p:cNvPr id="160" name="Google Shape;160;g3f26303b58d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Predictive scoring estimates conversion from existing information. Qualification is a structured process for acquiring new decision-relevant information. The value of qualification arises when that new information is combined with predictive scoring within a constrained sales-capacity decision.</a:t>
            </a:r>
            <a:endParaRPr/>
          </a:p>
        </p:txBody>
      </p:sp>
      <p:sp>
        <p:nvSpPr>
          <p:cNvPr id="301" name="Google Shape;30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731520" y="731520"/>
            <a:ext cx="768096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Integrating Predictive Models with</a:t>
            </a:r>
            <a:endParaRPr b="0" i="0" sz="3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Operational Policies for Constrained</a:t>
            </a:r>
            <a:endParaRPr b="0" i="0" sz="3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Lead Qualification</a:t>
            </a:r>
            <a:endParaRPr b="0" i="0" sz="3000" u="none" cap="none" strike="noStrike">
              <a:solidFill>
                <a:schemeClr val="dk1"/>
              </a:solidFill>
              <a:latin typeface="Calibri"/>
              <a:ea typeface="Calibri"/>
              <a:cs typeface="Calibri"/>
              <a:sym typeface="Calibri"/>
            </a:endParaRPr>
          </a:p>
        </p:txBody>
      </p:sp>
      <p:sp>
        <p:nvSpPr>
          <p:cNvPr id="17" name="Google Shape;17;p1"/>
          <p:cNvSpPr/>
          <p:nvPr/>
        </p:nvSpPr>
        <p:spPr>
          <a:xfrm>
            <a:off x="731520" y="2560320"/>
            <a:ext cx="768096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Does a separate qualification layer improve lead selection</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beyond predictive scoring alone?</a:t>
            </a:r>
            <a:endParaRPr b="0" i="0" sz="1600" u="none" cap="none" strike="noStrike">
              <a:solidFill>
                <a:schemeClr val="dk1"/>
              </a:solidFill>
              <a:latin typeface="Calibri"/>
              <a:ea typeface="Calibri"/>
              <a:cs typeface="Calibri"/>
              <a:sym typeface="Calibri"/>
            </a:endParaRPr>
          </a:p>
        </p:txBody>
      </p:sp>
      <p:cxnSp>
        <p:nvCxnSpPr>
          <p:cNvPr id="18" name="Google Shape;18;p1"/>
          <p:cNvCxnSpPr/>
          <p:nvPr/>
        </p:nvCxnSpPr>
        <p:spPr>
          <a:xfrm>
            <a:off x="731520" y="3383280"/>
            <a:ext cx="2286000" cy="0"/>
          </a:xfrm>
          <a:prstGeom prst="straightConnector1">
            <a:avLst/>
          </a:prstGeom>
          <a:noFill/>
          <a:ln cap="flat" cmpd="sng" w="38100">
            <a:solidFill>
              <a:srgbClr val="E8593C"/>
            </a:solidFill>
            <a:prstDash val="solid"/>
            <a:round/>
            <a:headEnd len="sm" w="sm" type="none"/>
            <a:tailEnd len="sm" w="sm" type="none"/>
          </a:ln>
        </p:spPr>
      </p:cxnSp>
      <p:sp>
        <p:nvSpPr>
          <p:cNvPr id="19" name="Google Shape;19;p1"/>
          <p:cNvSpPr/>
          <p:nvPr/>
        </p:nvSpPr>
        <p:spPr>
          <a:xfrm>
            <a:off x="731520" y="3657600"/>
            <a:ext cx="457200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Michael Thomas</a:t>
            </a:r>
            <a:endParaRPr b="0" i="0" sz="1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MSc Artificial Intelligence and Machine Learning</a:t>
            </a:r>
            <a:endParaRPr b="0" i="0" sz="1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upGrad / IIT Bangalore / LJMU</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2"/>
          <p:cNvSpPr/>
          <p:nvPr/>
        </p:nvSpPr>
        <p:spPr>
          <a:xfrm>
            <a:off x="731520" y="36576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200"/>
              <a:buFont typeface="Calibri"/>
              <a:buNone/>
            </a:pPr>
            <a:r>
              <a:rPr b="1" i="0" lang="en-US" sz="3200" u="none" cap="none" strike="noStrike">
                <a:solidFill>
                  <a:srgbClr val="1E2761"/>
                </a:solidFill>
                <a:latin typeface="Calibri"/>
                <a:ea typeface="Calibri"/>
                <a:cs typeface="Calibri"/>
                <a:sym typeface="Calibri"/>
              </a:rPr>
              <a:t>The problem</a:t>
            </a:r>
            <a:endParaRPr b="0" i="0" sz="3200" u="none" cap="none" strike="noStrike">
              <a:solidFill>
                <a:schemeClr val="dk1"/>
              </a:solidFill>
              <a:latin typeface="Calibri"/>
              <a:ea typeface="Calibri"/>
              <a:cs typeface="Calibri"/>
              <a:sym typeface="Calibri"/>
            </a:endParaRPr>
          </a:p>
        </p:txBody>
      </p:sp>
      <p:sp>
        <p:nvSpPr>
          <p:cNvPr id="26" name="Google Shape;26;p2"/>
          <p:cNvSpPr/>
          <p:nvPr/>
        </p:nvSpPr>
        <p:spPr>
          <a:xfrm>
            <a:off x="1371600" y="1188720"/>
            <a:ext cx="2926080" cy="1828800"/>
          </a:xfrm>
          <a:prstGeom prst="roundRect">
            <a:avLst>
              <a:gd fmla="val 7500"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 name="Google Shape;27;p2"/>
          <p:cNvPicPr preferRelativeResize="0"/>
          <p:nvPr/>
        </p:nvPicPr>
        <p:blipFill rotWithShape="1">
          <a:blip r:embed="rId3">
            <a:alphaModFix/>
          </a:blip>
          <a:srcRect b="0" l="0" r="0" t="0"/>
          <a:stretch/>
        </p:blipFill>
        <p:spPr>
          <a:xfrm>
            <a:off x="1554480" y="1325880"/>
            <a:ext cx="274320" cy="274320"/>
          </a:xfrm>
          <a:prstGeom prst="rect">
            <a:avLst/>
          </a:prstGeom>
          <a:noFill/>
          <a:ln>
            <a:noFill/>
          </a:ln>
        </p:spPr>
      </p:pic>
      <p:sp>
        <p:nvSpPr>
          <p:cNvPr id="28" name="Google Shape;28;p2"/>
          <p:cNvSpPr/>
          <p:nvPr/>
        </p:nvSpPr>
        <p:spPr>
          <a:xfrm>
            <a:off x="1371600" y="1645920"/>
            <a:ext cx="2926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93C"/>
              </a:buClr>
              <a:buSzPts val="4400"/>
              <a:buFont typeface="Calibri"/>
              <a:buNone/>
            </a:pPr>
            <a:r>
              <a:rPr b="1" i="0" lang="en-US" sz="4400" u="none" cap="none" strike="noStrike">
                <a:solidFill>
                  <a:srgbClr val="E8593C"/>
                </a:solidFill>
                <a:latin typeface="Calibri"/>
                <a:ea typeface="Calibri"/>
                <a:cs typeface="Calibri"/>
                <a:sym typeface="Calibri"/>
              </a:rPr>
              <a:t>90%</a:t>
            </a:r>
            <a:endParaRPr b="0" i="0" sz="4400" u="none" cap="none" strike="noStrike">
              <a:solidFill>
                <a:schemeClr val="dk1"/>
              </a:solidFill>
              <a:latin typeface="Calibri"/>
              <a:ea typeface="Calibri"/>
              <a:cs typeface="Calibri"/>
              <a:sym typeface="Calibri"/>
            </a:endParaRPr>
          </a:p>
        </p:txBody>
      </p:sp>
      <p:sp>
        <p:nvSpPr>
          <p:cNvPr id="29" name="Google Shape;29;p2"/>
          <p:cNvSpPr/>
          <p:nvPr/>
        </p:nvSpPr>
        <p:spPr>
          <a:xfrm>
            <a:off x="1371600" y="2240280"/>
            <a:ext cx="2926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of leads are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eliminated</a:t>
            </a:r>
            <a:endParaRPr b="0" i="0" sz="1400" u="none" cap="none" strike="noStrike">
              <a:solidFill>
                <a:schemeClr val="dk1"/>
              </a:solidFill>
              <a:latin typeface="Calibri"/>
              <a:ea typeface="Calibri"/>
              <a:cs typeface="Calibri"/>
              <a:sym typeface="Calibri"/>
            </a:endParaRPr>
          </a:p>
        </p:txBody>
      </p:sp>
      <p:sp>
        <p:nvSpPr>
          <p:cNvPr id="30" name="Google Shape;30;p2"/>
          <p:cNvSpPr/>
          <p:nvPr/>
        </p:nvSpPr>
        <p:spPr>
          <a:xfrm>
            <a:off x="4846320" y="1188720"/>
            <a:ext cx="2926080" cy="1828800"/>
          </a:xfrm>
          <a:prstGeom prst="roundRect">
            <a:avLst>
              <a:gd fmla="val 7500"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 name="Google Shape;31;p2"/>
          <p:cNvPicPr preferRelativeResize="0"/>
          <p:nvPr/>
        </p:nvPicPr>
        <p:blipFill rotWithShape="1">
          <a:blip r:embed="rId4">
            <a:alphaModFix/>
          </a:blip>
          <a:srcRect b="0" l="0" r="0" t="0"/>
          <a:stretch/>
        </p:blipFill>
        <p:spPr>
          <a:xfrm>
            <a:off x="5029200" y="1325880"/>
            <a:ext cx="274320" cy="274320"/>
          </a:xfrm>
          <a:prstGeom prst="rect">
            <a:avLst/>
          </a:prstGeom>
          <a:noFill/>
          <a:ln>
            <a:noFill/>
          </a:ln>
        </p:spPr>
      </p:pic>
      <p:sp>
        <p:nvSpPr>
          <p:cNvPr id="32" name="Google Shape;32;p2"/>
          <p:cNvSpPr/>
          <p:nvPr/>
        </p:nvSpPr>
        <p:spPr>
          <a:xfrm>
            <a:off x="4846320" y="1645920"/>
            <a:ext cx="2926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93C"/>
              </a:buClr>
              <a:buSzPts val="4400"/>
              <a:buFont typeface="Calibri"/>
              <a:buNone/>
            </a:pPr>
            <a:r>
              <a:rPr b="1" i="0" lang="en-US" sz="4400" u="none" cap="none" strike="noStrike">
                <a:solidFill>
                  <a:srgbClr val="E8593C"/>
                </a:solidFill>
                <a:latin typeface="Calibri"/>
                <a:ea typeface="Calibri"/>
                <a:cs typeface="Calibri"/>
                <a:sym typeface="Calibri"/>
              </a:rPr>
              <a:t>1–6%</a:t>
            </a:r>
            <a:endParaRPr b="0" i="0" sz="4400" u="none" cap="none" strike="noStrike">
              <a:solidFill>
                <a:schemeClr val="dk1"/>
              </a:solidFill>
              <a:latin typeface="Calibri"/>
              <a:ea typeface="Calibri"/>
              <a:cs typeface="Calibri"/>
              <a:sym typeface="Calibri"/>
            </a:endParaRPr>
          </a:p>
        </p:txBody>
      </p:sp>
      <p:sp>
        <p:nvSpPr>
          <p:cNvPr id="33" name="Google Shape;33;p2"/>
          <p:cNvSpPr/>
          <p:nvPr/>
        </p:nvSpPr>
        <p:spPr>
          <a:xfrm>
            <a:off x="4846320" y="2240280"/>
            <a:ext cx="2926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become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customers</a:t>
            </a:r>
            <a:endParaRPr b="0" i="0" sz="1400" u="none" cap="none" strike="noStrike">
              <a:solidFill>
                <a:schemeClr val="dk1"/>
              </a:solidFill>
              <a:latin typeface="Calibri"/>
              <a:ea typeface="Calibri"/>
              <a:cs typeface="Calibri"/>
              <a:sym typeface="Calibri"/>
            </a:endParaRPr>
          </a:p>
        </p:txBody>
      </p:sp>
      <p:sp>
        <p:nvSpPr>
          <p:cNvPr id="34" name="Google Shape;34;p2"/>
          <p:cNvSpPr/>
          <p:nvPr/>
        </p:nvSpPr>
        <p:spPr>
          <a:xfrm>
            <a:off x="731520" y="3383280"/>
            <a:ext cx="7680960" cy="731520"/>
          </a:xfrm>
          <a:prstGeom prst="roundRect">
            <a:avLst>
              <a:gd fmla="val 12500" name="adj"/>
            </a:avLst>
          </a:prstGeom>
          <a:solidFill>
            <a:srgbClr val="FFF0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914400" y="3429000"/>
            <a:ext cx="73152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400"/>
              <a:buFont typeface="Calibri"/>
              <a:buNone/>
            </a:pPr>
            <a:r>
              <a:rPr b="0" i="0" lang="en-US" sz="1400" u="none" cap="none" strike="noStrike">
                <a:solidFill>
                  <a:srgbClr val="0F1B3D"/>
                </a:solidFill>
                <a:latin typeface="Calibri"/>
                <a:ea typeface="Calibri"/>
                <a:cs typeface="Calibri"/>
                <a:sym typeface="Calibri"/>
              </a:rPr>
              <a:t>The capacity constraint is the core problem</a:t>
            </a:r>
            <a:r>
              <a:rPr lang="en-US">
                <a:solidFill>
                  <a:srgbClr val="0F1B3D"/>
                </a:solidFill>
                <a:latin typeface="Calibri"/>
                <a:ea typeface="Calibri"/>
                <a:cs typeface="Calibri"/>
                <a:sym typeface="Calibri"/>
              </a:rPr>
              <a:t>:</a:t>
            </a:r>
            <a:r>
              <a:rPr b="0" i="0" lang="en-US" sz="1400" u="none" cap="none" strike="noStrike">
                <a:solidFill>
                  <a:srgbClr val="0F1B3D"/>
                </a:solidFill>
                <a:latin typeface="Calibri"/>
                <a:ea typeface="Calibri"/>
                <a:cs typeface="Calibri"/>
                <a:sym typeface="Calibri"/>
              </a:rPr>
              <a:t> sales teams cannot follow up every lead.</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400"/>
              <a:buFont typeface="Calibri"/>
              <a:buNone/>
            </a:pPr>
            <a:r>
              <a:rPr b="0" i="0" lang="en-US" sz="1400" u="none" cap="none" strike="noStrike">
                <a:solidFill>
                  <a:srgbClr val="0F1B3D"/>
                </a:solidFill>
                <a:latin typeface="Calibri"/>
                <a:ea typeface="Calibri"/>
                <a:cs typeface="Calibri"/>
                <a:sym typeface="Calibri"/>
              </a:rPr>
              <a:t>Small differences in which leads are selected create large differences in revenue.</a:t>
            </a:r>
            <a:endParaRPr b="0" i="0" sz="1400" u="none" cap="none" strike="noStrike">
              <a:solidFill>
                <a:schemeClr val="dk1"/>
              </a:solidFill>
              <a:latin typeface="Calibri"/>
              <a:ea typeface="Calibri"/>
              <a:cs typeface="Calibri"/>
              <a:sym typeface="Calibri"/>
            </a:endParaRPr>
          </a:p>
        </p:txBody>
      </p:sp>
      <p:sp>
        <p:nvSpPr>
          <p:cNvPr id="36" name="Google Shape;36;p2"/>
          <p:cNvSpPr/>
          <p:nvPr/>
        </p:nvSpPr>
        <p:spPr>
          <a:xfrm>
            <a:off x="731520" y="4389120"/>
            <a:ext cx="7680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Sources: Wu et al. (2024), Leite et al. (2025)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3"/>
          <p:cNvSpPr/>
          <p:nvPr/>
        </p:nvSpPr>
        <p:spPr>
          <a:xfrm>
            <a:off x="731520" y="36576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200"/>
              <a:buFont typeface="Calibri"/>
              <a:buNone/>
            </a:pPr>
            <a:r>
              <a:rPr b="1" i="0" lang="en-US" sz="3200" u="none" cap="none" strike="noStrike">
                <a:solidFill>
                  <a:srgbClr val="1E2761"/>
                </a:solidFill>
                <a:latin typeface="Calibri"/>
                <a:ea typeface="Calibri"/>
                <a:cs typeface="Calibri"/>
                <a:sym typeface="Calibri"/>
              </a:rPr>
              <a:t>Practice vs research</a:t>
            </a:r>
            <a:endParaRPr b="0" i="0" sz="3200" u="none" cap="none" strike="noStrike">
              <a:solidFill>
                <a:schemeClr val="dk1"/>
              </a:solidFill>
              <a:latin typeface="Calibri"/>
              <a:ea typeface="Calibri"/>
              <a:cs typeface="Calibri"/>
              <a:sym typeface="Calibri"/>
            </a:endParaRPr>
          </a:p>
        </p:txBody>
      </p:sp>
      <p:sp>
        <p:nvSpPr>
          <p:cNvPr id="43" name="Google Shape;43;p3"/>
          <p:cNvSpPr/>
          <p:nvPr/>
        </p:nvSpPr>
        <p:spPr>
          <a:xfrm>
            <a:off x="731520" y="1188720"/>
            <a:ext cx="3657600" cy="2926080"/>
          </a:xfrm>
          <a:prstGeom prst="roundRect">
            <a:avLst>
              <a:gd fmla="val 4688"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731520" y="1280160"/>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Calibri"/>
              <a:buNone/>
            </a:pPr>
            <a:r>
              <a:rPr b="1" i="0" lang="en-US" sz="1600" u="none" cap="none" strike="noStrike">
                <a:solidFill>
                  <a:srgbClr val="1E2761"/>
                </a:solidFill>
                <a:latin typeface="Calibri"/>
                <a:ea typeface="Calibri"/>
                <a:cs typeface="Calibri"/>
                <a:sym typeface="Calibri"/>
              </a:rPr>
              <a:t>How firms actually work</a:t>
            </a:r>
            <a:endParaRPr b="0" i="0" sz="1600" u="none" cap="none" strike="noStrike">
              <a:solidFill>
                <a:schemeClr val="dk1"/>
              </a:solidFill>
              <a:latin typeface="Calibri"/>
              <a:ea typeface="Calibri"/>
              <a:cs typeface="Calibri"/>
              <a:sym typeface="Calibri"/>
            </a:endParaRPr>
          </a:p>
        </p:txBody>
      </p:sp>
      <p:sp>
        <p:nvSpPr>
          <p:cNvPr id="45" name="Google Shape;45;p3"/>
          <p:cNvSpPr/>
          <p:nvPr/>
        </p:nvSpPr>
        <p:spPr>
          <a:xfrm>
            <a:off x="1005840" y="1828800"/>
            <a:ext cx="3200400" cy="2011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B3D"/>
              </a:buClr>
              <a:buSzPts val="1400"/>
              <a:buFont typeface="Calibri"/>
              <a:buNone/>
            </a:pPr>
            <a:r>
              <a:rPr b="1" i="0" lang="en-US" sz="1400" u="none" cap="none" strike="noStrike">
                <a:solidFill>
                  <a:srgbClr val="0F1B3D"/>
                </a:solidFill>
                <a:latin typeface="Calibri"/>
                <a:ea typeface="Calibri"/>
                <a:cs typeface="Calibri"/>
                <a:sym typeface="Calibri"/>
              </a:rPr>
              <a:t>Step 1: Predictive Lead scoring</a:t>
            </a:r>
            <a:endParaRPr b="0" i="0" sz="1400" u="none" cap="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64748B"/>
                </a:solidFill>
                <a:latin typeface="Calibri"/>
                <a:ea typeface="Calibri"/>
                <a:cs typeface="Calibri"/>
                <a:sym typeface="Calibri"/>
              </a:rPr>
              <a:t>Uses information available</a:t>
            </a:r>
            <a:endParaRPr sz="1200">
              <a:solidFill>
                <a:srgbClr val="64748B"/>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when the lead is created.</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400"/>
              <a:buFont typeface="Calibri"/>
              <a:buNone/>
            </a:pPr>
            <a:r>
              <a:rPr b="1" i="0" lang="en-US" sz="1400" u="none" cap="none" strike="noStrike">
                <a:solidFill>
                  <a:srgbClr val="0F1B3D"/>
                </a:solidFill>
                <a:latin typeface="Calibri"/>
                <a:ea typeface="Calibri"/>
                <a:cs typeface="Calibri"/>
                <a:sym typeface="Calibri"/>
              </a:rPr>
              <a:t>Step 2: Lead qualification</a:t>
            </a:r>
            <a:endParaRPr b="0" i="0" sz="1400" u="none" cap="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64748B"/>
                </a:solidFill>
                <a:latin typeface="Calibri"/>
                <a:ea typeface="Calibri"/>
                <a:cs typeface="Calibri"/>
                <a:sym typeface="Calibri"/>
              </a:rPr>
              <a:t>Sales conversations uncover</a:t>
            </a:r>
            <a:endParaRPr sz="1200">
              <a:solidFill>
                <a:srgbClr val="64748B"/>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64748B"/>
                </a:solidFill>
                <a:latin typeface="Calibri"/>
                <a:ea typeface="Calibri"/>
                <a:cs typeface="Calibri"/>
                <a:sym typeface="Calibri"/>
              </a:rPr>
              <a:t>new information</a:t>
            </a:r>
            <a:endParaRPr sz="1200">
              <a:solidFill>
                <a:srgbClr val="64748B"/>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(BANT, MEDDIC, CHAMP, SPIN)</a:t>
            </a:r>
            <a:endParaRPr b="0" i="0" sz="1400" u="none" cap="none" strike="noStrike">
              <a:solidFill>
                <a:schemeClr val="dk1"/>
              </a:solidFill>
              <a:latin typeface="Calibri"/>
              <a:ea typeface="Calibri"/>
              <a:cs typeface="Calibri"/>
              <a:sym typeface="Calibri"/>
            </a:endParaRPr>
          </a:p>
        </p:txBody>
      </p:sp>
      <p:sp>
        <p:nvSpPr>
          <p:cNvPr id="46" name="Google Shape;46;p3"/>
          <p:cNvSpPr/>
          <p:nvPr/>
        </p:nvSpPr>
        <p:spPr>
          <a:xfrm>
            <a:off x="4754880" y="1188720"/>
            <a:ext cx="3657600" cy="2926080"/>
          </a:xfrm>
          <a:prstGeom prst="roundRect">
            <a:avLst>
              <a:gd fmla="val 4688"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4754880" y="1280160"/>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Calibri"/>
              <a:buNone/>
            </a:pPr>
            <a:r>
              <a:rPr b="1" i="0" lang="en-US" sz="1600" u="none" cap="none" strike="noStrike">
                <a:solidFill>
                  <a:srgbClr val="1E2761"/>
                </a:solidFill>
                <a:latin typeface="Calibri"/>
                <a:ea typeface="Calibri"/>
                <a:cs typeface="Calibri"/>
                <a:sym typeface="Calibri"/>
              </a:rPr>
              <a:t>How research models it</a:t>
            </a:r>
            <a:endParaRPr b="0" i="0" sz="1600" u="none" cap="none" strike="noStrike">
              <a:solidFill>
                <a:schemeClr val="dk1"/>
              </a:solidFill>
              <a:latin typeface="Calibri"/>
              <a:ea typeface="Calibri"/>
              <a:cs typeface="Calibri"/>
              <a:sym typeface="Calibri"/>
            </a:endParaRPr>
          </a:p>
        </p:txBody>
      </p:sp>
      <p:sp>
        <p:nvSpPr>
          <p:cNvPr id="48" name="Google Shape;48;p3"/>
          <p:cNvSpPr/>
          <p:nvPr/>
        </p:nvSpPr>
        <p:spPr>
          <a:xfrm>
            <a:off x="5029200" y="1828800"/>
            <a:ext cx="3200400" cy="2011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B3D"/>
              </a:buClr>
              <a:buSzPts val="1400"/>
              <a:buFont typeface="Calibri"/>
              <a:buNone/>
            </a:pPr>
            <a:r>
              <a:rPr b="1" i="0" lang="en-US" sz="1400" u="none" cap="none" strike="noStrike">
                <a:solidFill>
                  <a:srgbClr val="0F1B3D"/>
                </a:solidFill>
                <a:latin typeface="Calibri"/>
                <a:ea typeface="Calibri"/>
                <a:cs typeface="Calibri"/>
                <a:sym typeface="Calibri"/>
              </a:rPr>
              <a:t>Single-step prediction</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Scoring and qualification features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combined into one model</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The gap</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Qualification frameworks are structured information-acquisition processes. They reveal commercially important information that is unavailable when predictive scores are first generated.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53" name="Shape 53"/>
        <p:cNvGrpSpPr/>
        <p:nvPr/>
      </p:nvGrpSpPr>
      <p:grpSpPr>
        <a:xfrm>
          <a:off x="0" y="0"/>
          <a:ext cx="0" cy="0"/>
          <a:chOff x="0" y="0"/>
          <a:chExt cx="0" cy="0"/>
        </a:xfrm>
      </p:grpSpPr>
      <p:pic>
        <p:nvPicPr>
          <p:cNvPr descr="preencoded.png" id="54" name="Google Shape;54;p4"/>
          <p:cNvPicPr preferRelativeResize="0"/>
          <p:nvPr/>
        </p:nvPicPr>
        <p:blipFill rotWithShape="1">
          <a:blip r:embed="rId3">
            <a:alphaModFix/>
          </a:blip>
          <a:srcRect b="0" l="0" r="0" t="0"/>
          <a:stretch/>
        </p:blipFill>
        <p:spPr>
          <a:xfrm>
            <a:off x="731520" y="548640"/>
            <a:ext cx="457200" cy="457200"/>
          </a:xfrm>
          <a:prstGeom prst="rect">
            <a:avLst/>
          </a:prstGeom>
          <a:noFill/>
          <a:ln>
            <a:noFill/>
          </a:ln>
        </p:spPr>
      </p:pic>
      <p:sp>
        <p:nvSpPr>
          <p:cNvPr id="55" name="Google Shape;55;p4"/>
          <p:cNvSpPr/>
          <p:nvPr/>
        </p:nvSpPr>
        <p:spPr>
          <a:xfrm>
            <a:off x="1371600" y="502920"/>
            <a:ext cx="6400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Research question</a:t>
            </a:r>
            <a:endParaRPr b="0" i="0" sz="2800" u="none" cap="none" strike="noStrike">
              <a:solidFill>
                <a:schemeClr val="dk1"/>
              </a:solidFill>
              <a:latin typeface="Calibri"/>
              <a:ea typeface="Calibri"/>
              <a:cs typeface="Calibri"/>
              <a:sym typeface="Calibri"/>
            </a:endParaRPr>
          </a:p>
        </p:txBody>
      </p:sp>
      <p:sp>
        <p:nvSpPr>
          <p:cNvPr id="56" name="Google Shape;56;p4"/>
          <p:cNvSpPr/>
          <p:nvPr/>
        </p:nvSpPr>
        <p:spPr>
          <a:xfrm>
            <a:off x="731520" y="1371600"/>
            <a:ext cx="7680960" cy="1280160"/>
          </a:xfrm>
          <a:prstGeom prst="roundRect">
            <a:avLst>
              <a:gd fmla="val 8571" name="adj"/>
            </a:avLst>
          </a:prstGeom>
          <a:solidFill>
            <a:srgbClr val="2433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914400" y="1463040"/>
            <a:ext cx="731520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When a sales team can follow up only K leads, does adding a</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qualification layer on top of an operationally defensible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lead-scoring model produce better outcomes</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than the scoring model alone?</a:t>
            </a:r>
            <a:endParaRPr b="0" i="0" sz="1600" u="none" cap="none" strike="noStrike">
              <a:solidFill>
                <a:schemeClr val="dk1"/>
              </a:solidFill>
              <a:latin typeface="Calibri"/>
              <a:ea typeface="Calibri"/>
              <a:cs typeface="Calibri"/>
              <a:sym typeface="Calibri"/>
            </a:endParaRPr>
          </a:p>
        </p:txBody>
      </p:sp>
      <p:sp>
        <p:nvSpPr>
          <p:cNvPr id="58" name="Google Shape;58;p4"/>
          <p:cNvSpPr/>
          <p:nvPr/>
        </p:nvSpPr>
        <p:spPr>
          <a:xfrm>
            <a:off x="914400" y="2926080"/>
            <a:ext cx="73152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SQ1  </a:t>
            </a:r>
            <a:r>
              <a:rPr b="0" i="0" lang="en-US" sz="1400" u="none" cap="none" strike="noStrike">
                <a:solidFill>
                  <a:srgbClr val="FFFFFF"/>
                </a:solidFill>
                <a:latin typeface="Calibri"/>
                <a:ea typeface="Calibri"/>
                <a:cs typeface="Calibri"/>
                <a:sym typeface="Calibri"/>
              </a:rPr>
              <a:t>Does the qualification layer improve conversion rate?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SQ2  </a:t>
            </a:r>
            <a:r>
              <a:rPr b="0" i="0" lang="en-US" sz="1400" u="none" cap="none" strike="noStrike">
                <a:solidFill>
                  <a:srgbClr val="FFFFFF"/>
                </a:solidFill>
                <a:latin typeface="Calibri"/>
                <a:ea typeface="Calibri"/>
                <a:cs typeface="Calibri"/>
                <a:sym typeface="Calibri"/>
              </a:rPr>
              <a:t>Is the improvement robust to how the signal is applied</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        (hard tiers vs continuous blend)?</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SQ3  </a:t>
            </a:r>
            <a:r>
              <a:rPr b="0" i="0" lang="en-US" sz="1400" u="none" cap="none" strike="noStrike">
                <a:solidFill>
                  <a:srgbClr val="FFFFFF"/>
                </a:solidFill>
                <a:latin typeface="Calibri"/>
                <a:ea typeface="Calibri"/>
                <a:cs typeface="Calibri"/>
                <a:sym typeface="Calibri"/>
              </a:rPr>
              <a:t>Is the improvement robust across different capacity</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        assumptions (varying K)?</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5"/>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Literature review</a:t>
            </a:r>
            <a:endParaRPr b="0" i="0" sz="2800" u="none" cap="none" strike="noStrike">
              <a:solidFill>
                <a:schemeClr val="dk1"/>
              </a:solidFill>
              <a:latin typeface="Calibri"/>
              <a:ea typeface="Calibri"/>
              <a:cs typeface="Calibri"/>
              <a:sym typeface="Calibri"/>
            </a:endParaRPr>
          </a:p>
        </p:txBody>
      </p:sp>
      <p:sp>
        <p:nvSpPr>
          <p:cNvPr id="65" name="Google Shape;65;p5"/>
          <p:cNvSpPr/>
          <p:nvPr/>
        </p:nvSpPr>
        <p:spPr>
          <a:xfrm>
            <a:off x="731520" y="73152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Four approaches to lead selection under capacity constraints</a:t>
            </a:r>
            <a:endParaRPr b="0" i="0" sz="1400" u="none" cap="none" strike="noStrike">
              <a:solidFill>
                <a:schemeClr val="dk1"/>
              </a:solidFill>
              <a:latin typeface="Calibri"/>
              <a:ea typeface="Calibri"/>
              <a:cs typeface="Calibri"/>
              <a:sym typeface="Calibri"/>
            </a:endParaRPr>
          </a:p>
        </p:txBody>
      </p:sp>
      <p:sp>
        <p:nvSpPr>
          <p:cNvPr id="66" name="Google Shape;66;p5"/>
          <p:cNvSpPr/>
          <p:nvPr/>
        </p:nvSpPr>
        <p:spPr>
          <a:xfrm>
            <a:off x="731520" y="1234440"/>
            <a:ext cx="38404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Improving information</a:t>
            </a:r>
            <a:endParaRPr b="0" i="0" sz="1100" u="none" cap="none" strike="noStrike">
              <a:solidFill>
                <a:schemeClr val="dk1"/>
              </a:solidFill>
              <a:latin typeface="Calibri"/>
              <a:ea typeface="Calibri"/>
              <a:cs typeface="Calibri"/>
              <a:sym typeface="Calibri"/>
            </a:endParaRPr>
          </a:p>
        </p:txBody>
      </p:sp>
      <p:sp>
        <p:nvSpPr>
          <p:cNvPr id="67" name="Google Shape;67;p5"/>
          <p:cNvSpPr/>
          <p:nvPr/>
        </p:nvSpPr>
        <p:spPr>
          <a:xfrm>
            <a:off x="4572000" y="1234440"/>
            <a:ext cx="38404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593C"/>
              </a:buClr>
              <a:buSzPts val="1100"/>
              <a:buFont typeface="Calibri"/>
              <a:buNone/>
            </a:pPr>
            <a:r>
              <a:rPr b="1" i="0" lang="en-US" sz="1100" u="none" cap="none" strike="noStrike">
                <a:solidFill>
                  <a:srgbClr val="E8593C"/>
                </a:solidFill>
                <a:latin typeface="Calibri"/>
                <a:ea typeface="Calibri"/>
                <a:cs typeface="Calibri"/>
                <a:sym typeface="Calibri"/>
              </a:rPr>
              <a:t>Improving decisions</a:t>
            </a:r>
            <a:endParaRPr b="0" i="0" sz="1100" u="none" cap="none" strike="noStrike">
              <a:solidFill>
                <a:schemeClr val="dk1"/>
              </a:solidFill>
              <a:latin typeface="Calibri"/>
              <a:ea typeface="Calibri"/>
              <a:cs typeface="Calibri"/>
              <a:sym typeface="Calibri"/>
            </a:endParaRPr>
          </a:p>
        </p:txBody>
      </p:sp>
      <p:sp>
        <p:nvSpPr>
          <p:cNvPr id="68" name="Google Shape;68;p5"/>
          <p:cNvSpPr/>
          <p:nvPr/>
        </p:nvSpPr>
        <p:spPr>
          <a:xfrm>
            <a:off x="731520" y="1600200"/>
            <a:ext cx="1737360" cy="2011680"/>
          </a:xfrm>
          <a:prstGeom prst="roundRect">
            <a:avLst>
              <a:gd fmla="val 6316" name="adj"/>
            </a:avLst>
          </a:prstGeom>
          <a:solidFill>
            <a:srgbClr val="E8EDF5"/>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731520" y="169164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Predictive</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scoring</a:t>
            </a:r>
            <a:endParaRPr b="0" i="0" sz="1300" u="none" cap="none" strike="noStrike">
              <a:solidFill>
                <a:schemeClr val="dk1"/>
              </a:solidFill>
              <a:latin typeface="Calibri"/>
              <a:ea typeface="Calibri"/>
              <a:cs typeface="Calibri"/>
              <a:sym typeface="Calibri"/>
            </a:endParaRPr>
          </a:p>
        </p:txBody>
      </p:sp>
      <p:sp>
        <p:nvSpPr>
          <p:cNvPr id="70" name="Google Shape;70;p5"/>
          <p:cNvSpPr/>
          <p:nvPr/>
        </p:nvSpPr>
        <p:spPr>
          <a:xfrm>
            <a:off x="731520" y="2377440"/>
            <a:ext cx="1737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ML models rank</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by conversion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probability</a:t>
            </a:r>
            <a:endParaRPr b="0" i="0" sz="1100" u="none" cap="none" strike="noStrike">
              <a:solidFill>
                <a:schemeClr val="dk1"/>
              </a:solidFill>
              <a:latin typeface="Calibri"/>
              <a:ea typeface="Calibri"/>
              <a:cs typeface="Calibri"/>
              <a:sym typeface="Calibri"/>
            </a:endParaRPr>
          </a:p>
        </p:txBody>
      </p:sp>
      <p:sp>
        <p:nvSpPr>
          <p:cNvPr id="71" name="Google Shape;71;p5"/>
          <p:cNvSpPr/>
          <p:nvPr/>
        </p:nvSpPr>
        <p:spPr>
          <a:xfrm>
            <a:off x="2743200" y="1600200"/>
            <a:ext cx="1737360" cy="2011680"/>
          </a:xfrm>
          <a:prstGeom prst="roundRect">
            <a:avLst>
              <a:gd fmla="val 6316" name="adj"/>
            </a:avLst>
          </a:prstGeom>
          <a:solidFill>
            <a:srgbClr val="E8EDF5"/>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2743200" y="169164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Predict-then-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optimise</a:t>
            </a:r>
            <a:endParaRPr b="0" i="0" sz="1300" u="none" cap="none" strike="noStrike">
              <a:solidFill>
                <a:schemeClr val="dk1"/>
              </a:solidFill>
              <a:latin typeface="Calibri"/>
              <a:ea typeface="Calibri"/>
              <a:cs typeface="Calibri"/>
              <a:sym typeface="Calibri"/>
            </a:endParaRPr>
          </a:p>
        </p:txBody>
      </p:sp>
      <p:sp>
        <p:nvSpPr>
          <p:cNvPr id="73" name="Google Shape;73;p5"/>
          <p:cNvSpPr/>
          <p:nvPr/>
        </p:nvSpPr>
        <p:spPr>
          <a:xfrm>
            <a:off x="2743200" y="2377440"/>
            <a:ext cx="1737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Optimisation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over predictions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under constraints</a:t>
            </a:r>
            <a:endParaRPr b="0" i="0" sz="1100" u="none" cap="none" strike="noStrike">
              <a:solidFill>
                <a:schemeClr val="dk1"/>
              </a:solidFill>
              <a:latin typeface="Calibri"/>
              <a:ea typeface="Calibri"/>
              <a:cs typeface="Calibri"/>
              <a:sym typeface="Calibri"/>
            </a:endParaRPr>
          </a:p>
        </p:txBody>
      </p:sp>
      <p:sp>
        <p:nvSpPr>
          <p:cNvPr id="74" name="Google Shape;74;p5"/>
          <p:cNvSpPr/>
          <p:nvPr/>
        </p:nvSpPr>
        <p:spPr>
          <a:xfrm>
            <a:off x="4754880" y="1600200"/>
            <a:ext cx="1737360" cy="2011680"/>
          </a:xfrm>
          <a:prstGeom prst="roundRect">
            <a:avLst>
              <a:gd fmla="val 6316" name="adj"/>
            </a:avLst>
          </a:prstGeom>
          <a:solidFill>
            <a:srgbClr val="FFF0EB"/>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4754880" y="169164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Hard</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constraints</a:t>
            </a:r>
            <a:endParaRPr b="0" i="0" sz="1300" u="none" cap="none" strike="noStrike">
              <a:solidFill>
                <a:schemeClr val="dk1"/>
              </a:solidFill>
              <a:latin typeface="Calibri"/>
              <a:ea typeface="Calibri"/>
              <a:cs typeface="Calibri"/>
              <a:sym typeface="Calibri"/>
            </a:endParaRPr>
          </a:p>
        </p:txBody>
      </p:sp>
      <p:sp>
        <p:nvSpPr>
          <p:cNvPr id="76" name="Google Shape;76;p5"/>
          <p:cNvSpPr/>
          <p:nvPr/>
        </p:nvSpPr>
        <p:spPr>
          <a:xfrm>
            <a:off x="4754880" y="2377440"/>
            <a:ext cx="1737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Remove leads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that cannot be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pursued</a:t>
            </a:r>
            <a:endParaRPr b="0" i="0" sz="1100" u="none" cap="none" strike="noStrike">
              <a:solidFill>
                <a:schemeClr val="dk1"/>
              </a:solidFill>
              <a:latin typeface="Calibri"/>
              <a:ea typeface="Calibri"/>
              <a:cs typeface="Calibri"/>
              <a:sym typeface="Calibri"/>
            </a:endParaRPr>
          </a:p>
        </p:txBody>
      </p:sp>
      <p:sp>
        <p:nvSpPr>
          <p:cNvPr id="77" name="Google Shape;77;p5"/>
          <p:cNvSpPr/>
          <p:nvPr/>
        </p:nvSpPr>
        <p:spPr>
          <a:xfrm>
            <a:off x="6766560" y="1600200"/>
            <a:ext cx="1737360" cy="2011680"/>
          </a:xfrm>
          <a:prstGeom prst="roundRect">
            <a:avLst>
              <a:gd fmla="val 6316" name="adj"/>
            </a:avLst>
          </a:prstGeom>
          <a:solidFill>
            <a:srgbClr val="FFF0EB"/>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6766560" y="169164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Soft</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prioritisation</a:t>
            </a:r>
            <a:endParaRPr b="0" i="0" sz="1300" u="none" cap="none" strike="noStrike">
              <a:solidFill>
                <a:schemeClr val="dk1"/>
              </a:solidFill>
              <a:latin typeface="Calibri"/>
              <a:ea typeface="Calibri"/>
              <a:cs typeface="Calibri"/>
              <a:sym typeface="Calibri"/>
            </a:endParaRPr>
          </a:p>
        </p:txBody>
      </p:sp>
      <p:sp>
        <p:nvSpPr>
          <p:cNvPr id="79" name="Google Shape;79;p5"/>
          <p:cNvSpPr/>
          <p:nvPr/>
        </p:nvSpPr>
        <p:spPr>
          <a:xfrm>
            <a:off x="6766560" y="2377440"/>
            <a:ext cx="1737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Re-rank by</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qualification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policies</a:t>
            </a:r>
            <a:endParaRPr b="0" i="0" sz="1100" u="none" cap="none" strike="noStrike">
              <a:solidFill>
                <a:schemeClr val="dk1"/>
              </a:solidFill>
              <a:latin typeface="Calibri"/>
              <a:ea typeface="Calibri"/>
              <a:cs typeface="Calibri"/>
              <a:sym typeface="Calibri"/>
            </a:endParaRPr>
          </a:p>
        </p:txBody>
      </p:sp>
      <p:sp>
        <p:nvSpPr>
          <p:cNvPr id="80" name="Google Shape;80;p5"/>
          <p:cNvSpPr/>
          <p:nvPr/>
        </p:nvSpPr>
        <p:spPr>
          <a:xfrm>
            <a:off x="731520" y="3840480"/>
            <a:ext cx="7680960" cy="822960"/>
          </a:xfrm>
          <a:prstGeom prst="roundRect">
            <a:avLst>
              <a:gd fmla="val 11111"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914400" y="3931920"/>
            <a:ext cx="73152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Literature studies prediction, optimisation, constraints, and prioritisation separately.</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This dissertation tests them together.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pic>
        <p:nvPicPr>
          <p:cNvPr descr="preencoded.png" id="87" name="Google Shape;87;p6"/>
          <p:cNvPicPr preferRelativeResize="0"/>
          <p:nvPr/>
        </p:nvPicPr>
        <p:blipFill rotWithShape="1">
          <a:blip r:embed="rId3">
            <a:alphaModFix/>
          </a:blip>
          <a:srcRect b="0" l="0" r="0" t="0"/>
          <a:stretch/>
        </p:blipFill>
        <p:spPr>
          <a:xfrm>
            <a:off x="731520" y="320040"/>
            <a:ext cx="365760" cy="365760"/>
          </a:xfrm>
          <a:prstGeom prst="rect">
            <a:avLst/>
          </a:prstGeom>
          <a:noFill/>
          <a:ln>
            <a:noFill/>
          </a:ln>
        </p:spPr>
      </p:pic>
      <p:sp>
        <p:nvSpPr>
          <p:cNvPr id="88" name="Google Shape;88;p6"/>
          <p:cNvSpPr/>
          <p:nvPr/>
        </p:nvSpPr>
        <p:spPr>
          <a:xfrm>
            <a:off x="1234440" y="27432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Methodology: three systems</a:t>
            </a:r>
            <a:endParaRPr b="0" i="0" sz="2800" u="none" cap="none" strike="noStrike">
              <a:solidFill>
                <a:schemeClr val="dk1"/>
              </a:solidFill>
              <a:latin typeface="Calibri"/>
              <a:ea typeface="Calibri"/>
              <a:cs typeface="Calibri"/>
              <a:sym typeface="Calibri"/>
            </a:endParaRPr>
          </a:p>
        </p:txBody>
      </p:sp>
      <p:sp>
        <p:nvSpPr>
          <p:cNvPr id="89" name="Google Shape;89;p6"/>
          <p:cNvSpPr/>
          <p:nvPr/>
        </p:nvSpPr>
        <p:spPr>
          <a:xfrm>
            <a:off x="731520" y="77724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Same ML score, same H1 filter, same K</a:t>
            </a:r>
            <a:r>
              <a:rPr i="1" lang="en-US" sz="1300">
                <a:solidFill>
                  <a:srgbClr val="64748B"/>
                </a:solidFill>
                <a:latin typeface="Calibri"/>
                <a:ea typeface="Calibri"/>
                <a:cs typeface="Calibri"/>
                <a:sym typeface="Calibri"/>
              </a:rPr>
              <a:t>.</a:t>
            </a:r>
            <a:r>
              <a:rPr b="0" i="1" lang="en-US" sz="1300" u="none" cap="none" strike="noStrike">
                <a:solidFill>
                  <a:srgbClr val="64748B"/>
                </a:solidFill>
                <a:latin typeface="Calibri"/>
                <a:ea typeface="Calibri"/>
                <a:cs typeface="Calibri"/>
                <a:sym typeface="Calibri"/>
              </a:rPr>
              <a:t> </a:t>
            </a:r>
            <a:r>
              <a:rPr i="1" lang="en-US" sz="1300">
                <a:solidFill>
                  <a:srgbClr val="64748B"/>
                </a:solidFill>
                <a:latin typeface="Calibri"/>
                <a:ea typeface="Calibri"/>
                <a:cs typeface="Calibri"/>
                <a:sym typeface="Calibri"/>
              </a:rPr>
              <a:t>O</a:t>
            </a:r>
            <a:r>
              <a:rPr b="0" i="1" lang="en-US" sz="1300" u="none" cap="none" strike="noStrike">
                <a:solidFill>
                  <a:srgbClr val="64748B"/>
                </a:solidFill>
                <a:latin typeface="Calibri"/>
                <a:ea typeface="Calibri"/>
                <a:cs typeface="Calibri"/>
                <a:sym typeface="Calibri"/>
              </a:rPr>
              <a:t>nly the qualification policy differs</a:t>
            </a:r>
            <a:endParaRPr b="0" i="0" sz="1300" u="none" cap="none" strike="noStrike">
              <a:solidFill>
                <a:schemeClr val="dk1"/>
              </a:solidFill>
              <a:latin typeface="Calibri"/>
              <a:ea typeface="Calibri"/>
              <a:cs typeface="Calibri"/>
              <a:sym typeface="Calibri"/>
            </a:endParaRPr>
          </a:p>
        </p:txBody>
      </p:sp>
      <p:sp>
        <p:nvSpPr>
          <p:cNvPr id="90" name="Google Shape;90;p6"/>
          <p:cNvSpPr/>
          <p:nvPr/>
        </p:nvSpPr>
        <p:spPr>
          <a:xfrm>
            <a:off x="731520" y="1280160"/>
            <a:ext cx="2468880" cy="2377440"/>
          </a:xfrm>
          <a:prstGeom prst="roundRect">
            <a:avLst>
              <a:gd fmla="val 4615" name="adj"/>
            </a:avLst>
          </a:prstGeom>
          <a:solidFill>
            <a:srgbClr val="E8EDF5"/>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731520" y="137160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System 1</a:t>
            </a:r>
            <a:endParaRPr b="0" i="0" sz="1800" u="none" cap="none" strike="noStrike">
              <a:solidFill>
                <a:schemeClr val="dk1"/>
              </a:solidFill>
              <a:latin typeface="Calibri"/>
              <a:ea typeface="Calibri"/>
              <a:cs typeface="Calibri"/>
              <a:sym typeface="Calibri"/>
            </a:endParaRPr>
          </a:p>
        </p:txBody>
      </p:sp>
      <p:sp>
        <p:nvSpPr>
          <p:cNvPr id="92" name="Google Shape;92;p6"/>
          <p:cNvSpPr/>
          <p:nvPr/>
        </p:nvSpPr>
        <p:spPr>
          <a:xfrm>
            <a:off x="731520" y="1737360"/>
            <a:ext cx="24688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ML baseline</a:t>
            </a:r>
            <a:endParaRPr b="0" i="0" sz="1200" u="none" cap="none" strike="noStrike">
              <a:solidFill>
                <a:schemeClr val="dk1"/>
              </a:solidFill>
              <a:latin typeface="Calibri"/>
              <a:ea typeface="Calibri"/>
              <a:cs typeface="Calibri"/>
              <a:sym typeface="Calibri"/>
            </a:endParaRPr>
          </a:p>
        </p:txBody>
      </p:sp>
      <p:sp>
        <p:nvSpPr>
          <p:cNvPr id="93" name="Google Shape;93;p6"/>
          <p:cNvSpPr/>
          <p:nvPr/>
        </p:nvSpPr>
        <p:spPr>
          <a:xfrm>
            <a:off x="914400" y="2194560"/>
            <a:ext cx="21031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XGBoost score only.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No qualification policy.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Top K selected by score.</a:t>
            </a:r>
            <a:endParaRPr b="0" i="0" sz="1200" u="none" cap="none" strike="noStrike">
              <a:solidFill>
                <a:schemeClr val="dk1"/>
              </a:solidFill>
              <a:latin typeface="Calibri"/>
              <a:ea typeface="Calibri"/>
              <a:cs typeface="Calibri"/>
              <a:sym typeface="Calibri"/>
            </a:endParaRPr>
          </a:p>
        </p:txBody>
      </p:sp>
      <p:sp>
        <p:nvSpPr>
          <p:cNvPr id="94" name="Google Shape;94;p6"/>
          <p:cNvSpPr/>
          <p:nvPr/>
        </p:nvSpPr>
        <p:spPr>
          <a:xfrm>
            <a:off x="3566160" y="1280160"/>
            <a:ext cx="2468880" cy="2377440"/>
          </a:xfrm>
          <a:prstGeom prst="roundRect">
            <a:avLst>
              <a:gd fmla="val 4615" name="adj"/>
            </a:avLst>
          </a:prstGeom>
          <a:solidFill>
            <a:srgbClr val="FFF0EB"/>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3566160" y="137160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93C"/>
              </a:buClr>
              <a:buSzPts val="1800"/>
              <a:buFont typeface="Calibri"/>
              <a:buNone/>
            </a:pPr>
            <a:r>
              <a:rPr b="1" i="0" lang="en-US" sz="1800" u="none" cap="none" strike="noStrike">
                <a:solidFill>
                  <a:srgbClr val="E8593C"/>
                </a:solidFill>
                <a:latin typeface="Calibri"/>
                <a:ea typeface="Calibri"/>
                <a:cs typeface="Calibri"/>
                <a:sym typeface="Calibri"/>
              </a:rPr>
              <a:t>System 2</a:t>
            </a:r>
            <a:endParaRPr b="0" i="0" sz="1800" u="none" cap="none" strike="noStrike">
              <a:solidFill>
                <a:schemeClr val="dk1"/>
              </a:solidFill>
              <a:latin typeface="Calibri"/>
              <a:ea typeface="Calibri"/>
              <a:cs typeface="Calibri"/>
              <a:sym typeface="Calibri"/>
            </a:endParaRPr>
          </a:p>
        </p:txBody>
      </p:sp>
      <p:sp>
        <p:nvSpPr>
          <p:cNvPr id="96" name="Google Shape;96;p6"/>
          <p:cNvSpPr/>
          <p:nvPr/>
        </p:nvSpPr>
        <p:spPr>
          <a:xfrm>
            <a:off x="3566160" y="1737360"/>
            <a:ext cx="24688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Tier qualification</a:t>
            </a:r>
            <a:endParaRPr b="0" i="0" sz="1200" u="none" cap="none" strike="noStrike">
              <a:solidFill>
                <a:schemeClr val="dk1"/>
              </a:solidFill>
              <a:latin typeface="Calibri"/>
              <a:ea typeface="Calibri"/>
              <a:cs typeface="Calibri"/>
              <a:sym typeface="Calibri"/>
            </a:endParaRPr>
          </a:p>
        </p:txBody>
      </p:sp>
      <p:sp>
        <p:nvSpPr>
          <p:cNvPr id="97" name="Google Shape;97;p6"/>
          <p:cNvSpPr/>
          <p:nvPr/>
        </p:nvSpPr>
        <p:spPr>
          <a:xfrm>
            <a:off x="3749040" y="2194560"/>
            <a:ext cx="21031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P1: Working Professional</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P2: SMS Sent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Baseline cutoff + tier cap.</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ML rank within tiers.</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6400800" y="1280160"/>
            <a:ext cx="2468880" cy="2377440"/>
          </a:xfrm>
          <a:prstGeom prst="roundRect">
            <a:avLst>
              <a:gd fmla="val 4615" name="adj"/>
            </a:avLst>
          </a:prstGeom>
          <a:solidFill>
            <a:srgbClr val="F0F5F0"/>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6400800" y="137160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1800"/>
              <a:buFont typeface="Calibri"/>
              <a:buNone/>
            </a:pPr>
            <a:r>
              <a:rPr b="1" i="0" lang="en-US" sz="1800" u="none" cap="none" strike="noStrike">
                <a:solidFill>
                  <a:srgbClr val="2E7D32"/>
                </a:solidFill>
                <a:latin typeface="Calibri"/>
                <a:ea typeface="Calibri"/>
                <a:cs typeface="Calibri"/>
                <a:sym typeface="Calibri"/>
              </a:rPr>
              <a:t>System 3</a:t>
            </a:r>
            <a:endParaRPr b="0" i="0" sz="1800" u="none" cap="none" strike="noStrike">
              <a:solidFill>
                <a:schemeClr val="dk1"/>
              </a:solidFill>
              <a:latin typeface="Calibri"/>
              <a:ea typeface="Calibri"/>
              <a:cs typeface="Calibri"/>
              <a:sym typeface="Calibri"/>
            </a:endParaRPr>
          </a:p>
        </p:txBody>
      </p:sp>
      <p:sp>
        <p:nvSpPr>
          <p:cNvPr id="100" name="Google Shape;100;p6"/>
          <p:cNvSpPr/>
          <p:nvPr/>
        </p:nvSpPr>
        <p:spPr>
          <a:xfrm>
            <a:off x="6400800" y="1737360"/>
            <a:ext cx="24688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Calibrated blend</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6623175" y="2217450"/>
            <a:ext cx="2206800" cy="128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Same P1 + P2 signals.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90% ML + 10% </a:t>
            </a:r>
            <a:r>
              <a:rPr lang="en-US" sz="1200">
                <a:solidFill>
                  <a:srgbClr val="0F1B3D"/>
                </a:solidFill>
                <a:latin typeface="Calibri"/>
                <a:ea typeface="Calibri"/>
                <a:cs typeface="Calibri"/>
                <a:sym typeface="Calibri"/>
              </a:rPr>
              <a:t>qualification score</a:t>
            </a:r>
            <a:r>
              <a:rPr b="0" i="0" lang="en-US" sz="1200" u="none" cap="none" strike="noStrike">
                <a:solidFill>
                  <a:srgbClr val="0F1B3D"/>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No tiers. Single ranking.</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Robustness check.</a:t>
            </a:r>
            <a:endParaRPr b="0" i="0" sz="1200" u="none" cap="none" strike="noStrike">
              <a:solidFill>
                <a:schemeClr val="dk1"/>
              </a:solidFill>
              <a:latin typeface="Calibri"/>
              <a:ea typeface="Calibri"/>
              <a:cs typeface="Calibri"/>
              <a:sym typeface="Calibri"/>
            </a:endParaRPr>
          </a:p>
        </p:txBody>
      </p:sp>
      <p:sp>
        <p:nvSpPr>
          <p:cNvPr id="102" name="Google Shape;102;p6"/>
          <p:cNvSpPr/>
          <p:nvPr/>
        </p:nvSpPr>
        <p:spPr>
          <a:xfrm>
            <a:off x="731520" y="3931920"/>
            <a:ext cx="7680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Evaluation</a:t>
            </a:r>
            <a:r>
              <a:rPr b="1" lang="en-US" sz="1300">
                <a:solidFill>
                  <a:srgbClr val="1E2761"/>
                </a:solidFill>
                <a:latin typeface="Calibri"/>
                <a:ea typeface="Calibri"/>
                <a:cs typeface="Calibri"/>
                <a:sym typeface="Calibri"/>
              </a:rPr>
              <a:t> uses</a:t>
            </a:r>
            <a:r>
              <a:rPr b="1" i="0" lang="en-US" sz="1300" u="none" cap="none" strike="noStrike">
                <a:solidFill>
                  <a:srgbClr val="1E2761"/>
                </a:solidFill>
                <a:latin typeface="Calibri"/>
                <a:ea typeface="Calibri"/>
                <a:cs typeface="Calibri"/>
                <a:sym typeface="Calibri"/>
              </a:rPr>
              <a:t> Precision@K</a:t>
            </a:r>
            <a:r>
              <a:rPr b="1" lang="en-US" sz="1300">
                <a:solidFill>
                  <a:srgbClr val="1E2761"/>
                </a:solidFill>
                <a:latin typeface="Calibri"/>
                <a:ea typeface="Calibri"/>
                <a:cs typeface="Calibri"/>
                <a:sym typeface="Calibri"/>
              </a:rPr>
              <a:t>:</a:t>
            </a:r>
            <a:r>
              <a:rPr b="1" i="0" lang="en-US" sz="1300" u="none" cap="none" strike="noStrike">
                <a:solidFill>
                  <a:srgbClr val="1E2761"/>
                </a:solidFill>
                <a:latin typeface="Calibri"/>
                <a:ea typeface="Calibri"/>
                <a:cs typeface="Calibri"/>
                <a:sym typeface="Calibri"/>
              </a:rPr>
              <a:t> what proportion of selected leads actually convert? The ML score was held constant across all three systems so that only the qualification layer differed.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7"/>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Two Signals </a:t>
            </a:r>
            <a:r>
              <a:rPr b="1" lang="en-US" sz="2800">
                <a:solidFill>
                  <a:srgbClr val="1E2761"/>
                </a:solidFill>
                <a:latin typeface="Calibri"/>
                <a:ea typeface="Calibri"/>
                <a:cs typeface="Calibri"/>
                <a:sym typeface="Calibri"/>
              </a:rPr>
              <a:t>withheld</a:t>
            </a:r>
            <a:r>
              <a:rPr b="1" lang="en-US" sz="2800">
                <a:solidFill>
                  <a:srgbClr val="1E2761"/>
                </a:solidFill>
                <a:latin typeface="Calibri"/>
                <a:ea typeface="Calibri"/>
                <a:cs typeface="Calibri"/>
                <a:sym typeface="Calibri"/>
              </a:rPr>
              <a:t> from ML Model </a:t>
            </a:r>
            <a:endParaRPr b="0" i="0" sz="2800" u="none" cap="none" strike="noStrike">
              <a:solidFill>
                <a:schemeClr val="dk1"/>
              </a:solidFill>
              <a:latin typeface="Calibri"/>
              <a:ea typeface="Calibri"/>
              <a:cs typeface="Calibri"/>
              <a:sym typeface="Calibri"/>
            </a:endParaRPr>
          </a:p>
        </p:txBody>
      </p:sp>
      <p:sp>
        <p:nvSpPr>
          <p:cNvPr id="109" name="Google Shape;109;p7"/>
          <p:cNvSpPr/>
          <p:nvPr/>
        </p:nvSpPr>
        <p:spPr>
          <a:xfrm>
            <a:off x="731520" y="1234440"/>
            <a:ext cx="7680960" cy="1280160"/>
          </a:xfrm>
          <a:prstGeom prst="roundRect">
            <a:avLst>
              <a:gd fmla="val 8571"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914400" y="1325880"/>
            <a:ext cx="2011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P1 — Tier 1</a:t>
            </a:r>
            <a:endParaRPr b="0" i="0" sz="1400" u="none" cap="none" strike="noStrike">
              <a:solidFill>
                <a:schemeClr val="dk1"/>
              </a:solidFill>
              <a:latin typeface="Calibri"/>
              <a:ea typeface="Calibri"/>
              <a:cs typeface="Calibri"/>
              <a:sym typeface="Calibri"/>
            </a:endParaRPr>
          </a:p>
        </p:txBody>
      </p:sp>
      <p:sp>
        <p:nvSpPr>
          <p:cNvPr id="111" name="Google Shape;111;p7"/>
          <p:cNvSpPr/>
          <p:nvPr/>
        </p:nvSpPr>
        <p:spPr>
          <a:xfrm>
            <a:off x="914400" y="1645920"/>
            <a:ext cx="2011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B3D"/>
              </a:buClr>
              <a:buSzPts val="1800"/>
              <a:buFont typeface="Calibri"/>
              <a:buNone/>
            </a:pPr>
            <a:r>
              <a:rPr b="1" i="0" lang="en-US" sz="1800" u="none" cap="none" strike="noStrike">
                <a:solidFill>
                  <a:srgbClr val="0F1B3D"/>
                </a:solidFill>
                <a:latin typeface="Calibri"/>
                <a:ea typeface="Calibri"/>
                <a:cs typeface="Calibri"/>
                <a:sym typeface="Calibri"/>
              </a:rPr>
              <a:t>Working Professional</a:t>
            </a:r>
            <a:endParaRPr b="0" i="0" sz="1800" u="none" cap="none" strike="noStrike">
              <a:solidFill>
                <a:schemeClr val="dk1"/>
              </a:solidFill>
              <a:latin typeface="Calibri"/>
              <a:ea typeface="Calibri"/>
              <a:cs typeface="Calibri"/>
              <a:sym typeface="Calibri"/>
            </a:endParaRPr>
          </a:p>
        </p:txBody>
      </p:sp>
      <p:sp>
        <p:nvSpPr>
          <p:cNvPr id="112" name="Google Shape;112;p7"/>
          <p:cNvSpPr/>
          <p:nvPr/>
        </p:nvSpPr>
        <p:spPr>
          <a:xfrm>
            <a:off x="914400" y="2011680"/>
            <a:ext cx="2011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91% conversion</a:t>
            </a:r>
            <a:endParaRPr b="0" i="0" sz="1400" u="none" cap="none" strike="noStrike">
              <a:solidFill>
                <a:schemeClr val="dk1"/>
              </a:solidFill>
              <a:latin typeface="Calibri"/>
              <a:ea typeface="Calibri"/>
              <a:cs typeface="Calibri"/>
              <a:sym typeface="Calibri"/>
            </a:endParaRPr>
          </a:p>
        </p:txBody>
      </p:sp>
      <p:sp>
        <p:nvSpPr>
          <p:cNvPr id="113" name="Google Shape;113;p7"/>
          <p:cNvSpPr/>
          <p:nvPr/>
        </p:nvSpPr>
        <p:spPr>
          <a:xfrm>
            <a:off x="3200400" y="137160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Commercial attractiveness</a:t>
            </a:r>
            <a:endParaRPr b="0" i="0" sz="1300" u="none" cap="none" strike="noStrike">
              <a:solidFill>
                <a:schemeClr val="dk1"/>
              </a:solidFill>
              <a:latin typeface="Calibri"/>
              <a:ea typeface="Calibri"/>
              <a:cs typeface="Calibri"/>
              <a:sym typeface="Calibri"/>
            </a:endParaRPr>
          </a:p>
        </p:txBody>
      </p:sp>
      <p:sp>
        <p:nvSpPr>
          <p:cNvPr id="114" name="Google Shape;114;p7"/>
          <p:cNvSpPr/>
          <p:nvPr/>
        </p:nvSpPr>
        <p:spPr>
          <a:xfrm>
            <a:off x="3200400" y="1691640"/>
            <a:ext cx="49377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Occupation confirmed through SDR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interaction </a:t>
            </a:r>
            <a:r>
              <a:rPr lang="en-US" sz="1200">
                <a:solidFill>
                  <a:srgbClr val="64748B"/>
                </a:solidFill>
                <a:latin typeface="Calibri"/>
                <a:ea typeface="Calibri"/>
                <a:cs typeface="Calibri"/>
                <a:sym typeface="Calibri"/>
              </a:rPr>
              <a:t>-</a:t>
            </a:r>
            <a:r>
              <a:rPr b="0" i="0" lang="en-US" sz="1200" u="none" cap="none" strike="noStrike">
                <a:solidFill>
                  <a:srgbClr val="64748B"/>
                </a:solidFill>
                <a:latin typeface="Calibri"/>
                <a:ea typeface="Calibri"/>
                <a:cs typeface="Calibri"/>
                <a:sym typeface="Calibri"/>
              </a:rPr>
              <a:t> plausibly post-scoring</a:t>
            </a:r>
            <a:endParaRPr b="0" i="0" sz="1200" u="none" cap="none" strike="noStrike">
              <a:solidFill>
                <a:schemeClr val="dk1"/>
              </a:solidFill>
              <a:latin typeface="Calibri"/>
              <a:ea typeface="Calibri"/>
              <a:cs typeface="Calibri"/>
              <a:sym typeface="Calibri"/>
            </a:endParaRPr>
          </a:p>
        </p:txBody>
      </p:sp>
      <p:sp>
        <p:nvSpPr>
          <p:cNvPr id="115" name="Google Shape;115;p7"/>
          <p:cNvSpPr/>
          <p:nvPr/>
        </p:nvSpPr>
        <p:spPr>
          <a:xfrm>
            <a:off x="731520" y="2743200"/>
            <a:ext cx="7680960" cy="1280160"/>
          </a:xfrm>
          <a:prstGeom prst="roundRect">
            <a:avLst>
              <a:gd fmla="val 8571"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914400" y="2834640"/>
            <a:ext cx="2011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P2 — Tier 2</a:t>
            </a:r>
            <a:endParaRPr b="0" i="0" sz="1400" u="none" cap="none" strike="noStrike">
              <a:solidFill>
                <a:schemeClr val="dk1"/>
              </a:solidFill>
              <a:latin typeface="Calibri"/>
              <a:ea typeface="Calibri"/>
              <a:cs typeface="Calibri"/>
              <a:sym typeface="Calibri"/>
            </a:endParaRPr>
          </a:p>
        </p:txBody>
      </p:sp>
      <p:sp>
        <p:nvSpPr>
          <p:cNvPr id="117" name="Google Shape;117;p7"/>
          <p:cNvSpPr/>
          <p:nvPr/>
        </p:nvSpPr>
        <p:spPr>
          <a:xfrm>
            <a:off x="914400" y="3154680"/>
            <a:ext cx="2011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B3D"/>
              </a:buClr>
              <a:buSzPts val="1800"/>
              <a:buFont typeface="Calibri"/>
              <a:buNone/>
            </a:pPr>
            <a:r>
              <a:rPr b="1" i="0" lang="en-US" sz="1800" u="none" cap="none" strike="noStrike">
                <a:solidFill>
                  <a:srgbClr val="0F1B3D"/>
                </a:solidFill>
                <a:latin typeface="Calibri"/>
                <a:ea typeface="Calibri"/>
                <a:cs typeface="Calibri"/>
                <a:sym typeface="Calibri"/>
              </a:rPr>
              <a:t>SMS Sent</a:t>
            </a:r>
            <a:endParaRPr b="0" i="0" sz="1800" u="none" cap="none" strike="noStrike">
              <a:solidFill>
                <a:schemeClr val="dk1"/>
              </a:solidFill>
              <a:latin typeface="Calibri"/>
              <a:ea typeface="Calibri"/>
              <a:cs typeface="Calibri"/>
              <a:sym typeface="Calibri"/>
            </a:endParaRPr>
          </a:p>
        </p:txBody>
      </p:sp>
      <p:sp>
        <p:nvSpPr>
          <p:cNvPr id="118" name="Google Shape;118;p7"/>
          <p:cNvSpPr/>
          <p:nvPr/>
        </p:nvSpPr>
        <p:spPr>
          <a:xfrm>
            <a:off x="914400" y="3520440"/>
            <a:ext cx="2011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59% conversion</a:t>
            </a:r>
            <a:endParaRPr b="0" i="0" sz="1400" u="none" cap="none" strike="noStrike">
              <a:solidFill>
                <a:schemeClr val="dk1"/>
              </a:solidFill>
              <a:latin typeface="Calibri"/>
              <a:ea typeface="Calibri"/>
              <a:cs typeface="Calibri"/>
              <a:sym typeface="Calibri"/>
            </a:endParaRPr>
          </a:p>
        </p:txBody>
      </p:sp>
      <p:sp>
        <p:nvSpPr>
          <p:cNvPr id="119" name="Google Shape;119;p7"/>
          <p:cNvSpPr/>
          <p:nvPr/>
        </p:nvSpPr>
        <p:spPr>
          <a:xfrm>
            <a:off x="3200400" y="288036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Timing proxy</a:t>
            </a:r>
            <a:endParaRPr b="0" i="0" sz="1300" u="none" cap="none" strike="noStrike">
              <a:solidFill>
                <a:schemeClr val="dk1"/>
              </a:solidFill>
              <a:latin typeface="Calibri"/>
              <a:ea typeface="Calibri"/>
              <a:cs typeface="Calibri"/>
              <a:sym typeface="Calibri"/>
            </a:endParaRPr>
          </a:p>
        </p:txBody>
      </p:sp>
      <p:sp>
        <p:nvSpPr>
          <p:cNvPr id="120" name="Google Shape;120;p7"/>
          <p:cNvSpPr/>
          <p:nvPr/>
        </p:nvSpPr>
        <p:spPr>
          <a:xfrm>
            <a:off x="3200400" y="3200400"/>
            <a:ext cx="49377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SDR-initiated interaction </a:t>
            </a:r>
            <a:r>
              <a:rPr lang="en-US" sz="1200">
                <a:solidFill>
                  <a:srgbClr val="64748B"/>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definitionally post-origination</a:t>
            </a:r>
            <a:endParaRPr b="0" i="0" sz="1200" u="none" cap="none" strike="noStrike">
              <a:solidFill>
                <a:schemeClr val="dk1"/>
              </a:solidFill>
              <a:latin typeface="Calibri"/>
              <a:ea typeface="Calibri"/>
              <a:cs typeface="Calibri"/>
              <a:sym typeface="Calibri"/>
            </a:endParaRPr>
          </a:p>
        </p:txBody>
      </p:sp>
      <p:sp>
        <p:nvSpPr>
          <p:cNvPr id="121" name="Google Shape;121;p7"/>
          <p:cNvSpPr/>
          <p:nvPr/>
        </p:nvSpPr>
        <p:spPr>
          <a:xfrm>
            <a:off x="731520" y="3749040"/>
            <a:ext cx="7680960" cy="822960"/>
          </a:xfrm>
          <a:prstGeom prst="roundRect">
            <a:avLst>
              <a:gd fmla="val 11111"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914400" y="3840480"/>
            <a:ext cx="73152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Both signals withheld from ML model → S2 uses them for tier allocation,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S3 uses them as a continuous score adjustment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g3f26303b58d_0_90"/>
          <p:cNvSpPr/>
          <p:nvPr/>
        </p:nvSpPr>
        <p:spPr>
          <a:xfrm>
            <a:off x="731520" y="274320"/>
            <a:ext cx="76809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Predictive Scoring Baseline</a:t>
            </a:r>
            <a:endParaRPr b="0" i="0" sz="2800" u="none" cap="none" strike="noStrike">
              <a:solidFill>
                <a:schemeClr val="dk1"/>
              </a:solidFill>
              <a:latin typeface="Calibri"/>
              <a:ea typeface="Calibri"/>
              <a:cs typeface="Calibri"/>
              <a:sym typeface="Calibri"/>
            </a:endParaRPr>
          </a:p>
        </p:txBody>
      </p:sp>
      <p:sp>
        <p:nvSpPr>
          <p:cNvPr id="129" name="Google Shape;129;g3f26303b58d_0_90"/>
          <p:cNvSpPr/>
          <p:nvPr/>
        </p:nvSpPr>
        <p:spPr>
          <a:xfrm>
            <a:off x="731520" y="690870"/>
            <a:ext cx="76809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i="1" lang="en-US" sz="1300">
                <a:solidFill>
                  <a:srgbClr val="64748B"/>
                </a:solidFill>
                <a:latin typeface="Calibri"/>
                <a:ea typeface="Calibri"/>
                <a:cs typeface="Calibri"/>
                <a:sym typeface="Calibri"/>
              </a:rPr>
              <a:t>The predictive model was selected once and then held constant throughout the experiment.</a:t>
            </a:r>
            <a:endParaRPr b="0" i="0" sz="1300" u="none" cap="none" strike="noStrike">
              <a:solidFill>
                <a:schemeClr val="dk1"/>
              </a:solidFill>
              <a:latin typeface="Calibri"/>
              <a:ea typeface="Calibri"/>
              <a:cs typeface="Calibri"/>
              <a:sym typeface="Calibri"/>
            </a:endParaRPr>
          </a:p>
        </p:txBody>
      </p:sp>
      <p:sp>
        <p:nvSpPr>
          <p:cNvPr id="130" name="Google Shape;130;g3f26303b58d_0_90"/>
          <p:cNvSpPr/>
          <p:nvPr/>
        </p:nvSpPr>
        <p:spPr>
          <a:xfrm>
            <a:off x="731520" y="4114800"/>
            <a:ext cx="7680900" cy="457200"/>
          </a:xfrm>
          <a:prstGeom prst="rect">
            <a:avLst/>
          </a:prstGeom>
          <a:noFill/>
          <a:ln>
            <a:noFill/>
          </a:ln>
        </p:spPr>
        <p:txBody>
          <a:bodyPr anchorCtr="0" anchor="ctr" bIns="45700" lIns="91425" spcFirstLastPara="1" rIns="91425" wrap="square" tIns="45700">
            <a:noAutofit/>
          </a:bodyPr>
          <a:lstStyle/>
          <a:p>
            <a:pPr indent="0" lvl="0" marL="0" rtl="0" algn="just">
              <a:lnSpc>
                <a:spcPct val="150000"/>
              </a:lnSpc>
              <a:spcBef>
                <a:spcPts val="1200"/>
              </a:spcBef>
              <a:spcAft>
                <a:spcPts val="1200"/>
              </a:spcAft>
              <a:buClr>
                <a:schemeClr val="dk1"/>
              </a:buClr>
              <a:buSzPts val="1100"/>
              <a:buFont typeface="Arial"/>
              <a:buNone/>
            </a:pPr>
            <a:r>
              <a:t/>
            </a:r>
            <a:endParaRPr b="0" i="0" sz="1400" u="none" cap="none" strike="noStrike">
              <a:solidFill>
                <a:schemeClr val="dk1"/>
              </a:solidFill>
              <a:latin typeface="Calibri"/>
              <a:ea typeface="Calibri"/>
              <a:cs typeface="Calibri"/>
              <a:sym typeface="Calibri"/>
            </a:endParaRPr>
          </a:p>
        </p:txBody>
      </p:sp>
      <p:graphicFrame>
        <p:nvGraphicFramePr>
          <p:cNvPr id="131" name="Google Shape;131;g3f26303b58d_0_90"/>
          <p:cNvGraphicFramePr/>
          <p:nvPr/>
        </p:nvGraphicFramePr>
        <p:xfrm>
          <a:off x="1406100" y="1367638"/>
          <a:ext cx="3000000" cy="3000000"/>
        </p:xfrm>
        <a:graphic>
          <a:graphicData uri="http://schemas.openxmlformats.org/drawingml/2006/table">
            <a:tbl>
              <a:tblPr>
                <a:noFill/>
                <a:tableStyleId>{58FDCEF9-4D71-4C96-B011-EAEA019F6FE5}</a:tableStyleId>
              </a:tblPr>
              <a:tblGrid>
                <a:gridCol w="3286125"/>
                <a:gridCol w="1323975"/>
                <a:gridCol w="1333500"/>
              </a:tblGrid>
              <a:tr h="342900">
                <a:tc>
                  <a:txBody>
                    <a:bodyPr/>
                    <a:lstStyle/>
                    <a:p>
                      <a:pPr indent="0" lvl="0" marL="0" rtl="0" algn="just">
                        <a:lnSpc>
                          <a:spcPct val="115000"/>
                        </a:lnSpc>
                        <a:spcBef>
                          <a:spcPts val="1200"/>
                        </a:spcBef>
                        <a:spcAft>
                          <a:spcPts val="800"/>
                        </a:spcAft>
                        <a:buNone/>
                      </a:pPr>
                      <a:r>
                        <a:rPr b="1" lang="en-US" sz="1100"/>
                        <a:t>Model</a:t>
                      </a:r>
                      <a:endParaRPr b="1" sz="1100"/>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solidFill>
                      <a:srgbClr val="D5E8F0"/>
                    </a:solidFill>
                  </a:tcPr>
                </a:tc>
                <a:tc>
                  <a:txBody>
                    <a:bodyPr/>
                    <a:lstStyle/>
                    <a:p>
                      <a:pPr indent="0" lvl="0" marL="0" rtl="0" algn="just">
                        <a:lnSpc>
                          <a:spcPct val="115000"/>
                        </a:lnSpc>
                        <a:spcBef>
                          <a:spcPts val="1200"/>
                        </a:spcBef>
                        <a:spcAft>
                          <a:spcPts val="800"/>
                        </a:spcAft>
                        <a:buNone/>
                      </a:pPr>
                      <a:r>
                        <a:rPr b="1" lang="en-US" sz="1100"/>
                        <a:t>Test AUC-ROC</a:t>
                      </a:r>
                      <a:endParaRPr b="1" sz="1100"/>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solidFill>
                      <a:srgbClr val="D5E8F0"/>
                    </a:solidFill>
                  </a:tcPr>
                </a:tc>
                <a:tc>
                  <a:txBody>
                    <a:bodyPr/>
                    <a:lstStyle/>
                    <a:p>
                      <a:pPr indent="0" lvl="0" marL="0" rtl="0" algn="just">
                        <a:lnSpc>
                          <a:spcPct val="115000"/>
                        </a:lnSpc>
                        <a:spcBef>
                          <a:spcPts val="1200"/>
                        </a:spcBef>
                        <a:spcAft>
                          <a:spcPts val="800"/>
                        </a:spcAft>
                        <a:buNone/>
                      </a:pPr>
                      <a:r>
                        <a:rPr b="1" lang="en-US" sz="1100"/>
                        <a:t>Selected</a:t>
                      </a:r>
                      <a:endParaRPr b="1" sz="1100"/>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solidFill>
                      <a:srgbClr val="D5E8F0"/>
                    </a:solidFill>
                  </a:tcPr>
                </a:tc>
              </a:tr>
              <a:tr h="342900">
                <a:tc>
                  <a:txBody>
                    <a:bodyPr/>
                    <a:lstStyle/>
                    <a:p>
                      <a:pPr indent="0" lvl="0" marL="0" rtl="0" algn="just">
                        <a:lnSpc>
                          <a:spcPct val="115000"/>
                        </a:lnSpc>
                        <a:spcBef>
                          <a:spcPts val="1200"/>
                        </a:spcBef>
                        <a:spcAft>
                          <a:spcPts val="800"/>
                        </a:spcAft>
                        <a:buNone/>
                      </a:pPr>
                      <a:r>
                        <a:rPr lang="en-US"/>
                        <a:t>Logistic Regression (baseline)</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c>
                  <a:txBody>
                    <a:bodyPr/>
                    <a:lstStyle/>
                    <a:p>
                      <a:pPr indent="0" lvl="0" marL="0" rtl="0" algn="just">
                        <a:lnSpc>
                          <a:spcPct val="115000"/>
                        </a:lnSpc>
                        <a:spcBef>
                          <a:spcPts val="1200"/>
                        </a:spcBef>
                        <a:spcAft>
                          <a:spcPts val="800"/>
                        </a:spcAft>
                        <a:buNone/>
                      </a:pPr>
                      <a:r>
                        <a:rPr lang="en-US"/>
                        <a:t>0.830</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c>
                  <a:txBody>
                    <a:bodyPr/>
                    <a:lstStyle/>
                    <a:p>
                      <a:pPr indent="0" lvl="0" marL="0" rtl="0" algn="just">
                        <a:lnSpc>
                          <a:spcPct val="115000"/>
                        </a:lnSpc>
                        <a:spcBef>
                          <a:spcPts val="1200"/>
                        </a:spcBef>
                        <a:spcAft>
                          <a:spcPts val="800"/>
                        </a:spcAft>
                        <a:buNone/>
                      </a:pPr>
                      <a:r>
                        <a:rPr lang="en-US"/>
                        <a:t>No</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r>
              <a:tr h="342900">
                <a:tc>
                  <a:txBody>
                    <a:bodyPr/>
                    <a:lstStyle/>
                    <a:p>
                      <a:pPr indent="0" lvl="0" marL="0" rtl="0" algn="just">
                        <a:lnSpc>
                          <a:spcPct val="115000"/>
                        </a:lnSpc>
                        <a:spcBef>
                          <a:spcPts val="1200"/>
                        </a:spcBef>
                        <a:spcAft>
                          <a:spcPts val="800"/>
                        </a:spcAft>
                        <a:buNone/>
                      </a:pPr>
                      <a:r>
                        <a:rPr lang="en-US"/>
                        <a:t>XGBoost (primary)</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c>
                  <a:txBody>
                    <a:bodyPr/>
                    <a:lstStyle/>
                    <a:p>
                      <a:pPr indent="0" lvl="0" marL="0" rtl="0" algn="just">
                        <a:lnSpc>
                          <a:spcPct val="115000"/>
                        </a:lnSpc>
                        <a:spcBef>
                          <a:spcPts val="1200"/>
                        </a:spcBef>
                        <a:spcAft>
                          <a:spcPts val="800"/>
                        </a:spcAft>
                        <a:buNone/>
                      </a:pPr>
                      <a:r>
                        <a:rPr lang="en-US"/>
                        <a:t>0.848</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c>
                  <a:txBody>
                    <a:bodyPr/>
                    <a:lstStyle/>
                    <a:p>
                      <a:pPr indent="0" lvl="0" marL="0" rtl="0" algn="just">
                        <a:lnSpc>
                          <a:spcPct val="115000"/>
                        </a:lnSpc>
                        <a:spcBef>
                          <a:spcPts val="1200"/>
                        </a:spcBef>
                        <a:spcAft>
                          <a:spcPts val="800"/>
                        </a:spcAft>
                        <a:buNone/>
                      </a:pPr>
                      <a:r>
                        <a:rPr lang="en-US"/>
                        <a:t>Yes</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r>
            </a:tbl>
          </a:graphicData>
        </a:graphic>
      </p:graphicFrame>
      <p:sp>
        <p:nvSpPr>
          <p:cNvPr id="132" name="Google Shape;132;g3f26303b58d_0_90"/>
          <p:cNvSpPr/>
          <p:nvPr/>
        </p:nvSpPr>
        <p:spPr>
          <a:xfrm>
            <a:off x="731525" y="3670649"/>
            <a:ext cx="7680900" cy="992700"/>
          </a:xfrm>
          <a:prstGeom prst="roundRect">
            <a:avLst>
              <a:gd fmla="val 11111"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f26303b58d_0_90"/>
          <p:cNvSpPr/>
          <p:nvPr/>
        </p:nvSpPr>
        <p:spPr>
          <a:xfrm>
            <a:off x="914400" y="3670650"/>
            <a:ext cx="7315200" cy="947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300"/>
              <a:buFont typeface="Calibri"/>
              <a:buNone/>
            </a:pPr>
            <a:r>
              <a:rPr lang="en-US" sz="1300">
                <a:solidFill>
                  <a:srgbClr val="0F1B3D"/>
                </a:solidFill>
                <a:latin typeface="Calibri"/>
                <a:ea typeface="Calibri"/>
                <a:cs typeface="Calibri"/>
                <a:sym typeface="Calibri"/>
              </a:rPr>
              <a:t>XGBoost produced the highest predictive performance (AUC = 0.842) and was selected as the common scoring model. The resulting probability scores were generated once and reused unchanged across Systems 1, 2 and 3 so that the effect of the qualification layer could be evaluated independently of the predictive model.</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g3f26303b58d_2_0"/>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How System 2 changes allocation</a:t>
            </a:r>
            <a:endParaRPr b="0" i="0" sz="2800" u="none" cap="none" strike="noStrike">
              <a:solidFill>
                <a:schemeClr val="dk1"/>
              </a:solidFill>
              <a:latin typeface="Calibri"/>
              <a:ea typeface="Calibri"/>
              <a:cs typeface="Calibri"/>
              <a:sym typeface="Calibri"/>
            </a:endParaRPr>
          </a:p>
        </p:txBody>
      </p:sp>
      <p:sp>
        <p:nvSpPr>
          <p:cNvPr id="140" name="Google Shape;140;g3f26303b58d_2_0"/>
          <p:cNvSpPr/>
          <p:nvPr/>
        </p:nvSpPr>
        <p:spPr>
          <a:xfrm>
            <a:off x="731520" y="73152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Same K = 302 leads — different composition</a:t>
            </a:r>
            <a:endParaRPr b="0" i="0" sz="1400" u="none" cap="none" strike="noStrike">
              <a:solidFill>
                <a:schemeClr val="dk1"/>
              </a:solidFill>
              <a:latin typeface="Calibri"/>
              <a:ea typeface="Calibri"/>
              <a:cs typeface="Calibri"/>
              <a:sym typeface="Calibri"/>
            </a:endParaRPr>
          </a:p>
        </p:txBody>
      </p:sp>
      <p:sp>
        <p:nvSpPr>
          <p:cNvPr id="141" name="Google Shape;141;g3f26303b58d_2_0"/>
          <p:cNvSpPr/>
          <p:nvPr/>
        </p:nvSpPr>
        <p:spPr>
          <a:xfrm>
            <a:off x="731520" y="137160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System 1</a:t>
            </a:r>
            <a:endParaRPr b="0" i="0" sz="1400" u="none" cap="none" strike="noStrike">
              <a:solidFill>
                <a:schemeClr val="dk1"/>
              </a:solidFill>
              <a:latin typeface="Calibri"/>
              <a:ea typeface="Calibri"/>
              <a:cs typeface="Calibri"/>
              <a:sym typeface="Calibri"/>
            </a:endParaRPr>
          </a:p>
        </p:txBody>
      </p:sp>
      <p:sp>
        <p:nvSpPr>
          <p:cNvPr id="142" name="Google Shape;142;g3f26303b58d_2_0"/>
          <p:cNvSpPr/>
          <p:nvPr/>
        </p:nvSpPr>
        <p:spPr>
          <a:xfrm>
            <a:off x="731520" y="169164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ML baseline</a:t>
            </a:r>
            <a:endParaRPr b="0" i="0" sz="1100" u="none" cap="none" strike="noStrike">
              <a:solidFill>
                <a:schemeClr val="dk1"/>
              </a:solidFill>
              <a:latin typeface="Calibri"/>
              <a:ea typeface="Calibri"/>
              <a:cs typeface="Calibri"/>
              <a:sym typeface="Calibri"/>
            </a:endParaRPr>
          </a:p>
        </p:txBody>
      </p:sp>
      <p:sp>
        <p:nvSpPr>
          <p:cNvPr id="143" name="Google Shape;143;g3f26303b58d_2_0"/>
          <p:cNvSpPr/>
          <p:nvPr/>
        </p:nvSpPr>
        <p:spPr>
          <a:xfrm>
            <a:off x="2286000" y="1371600"/>
            <a:ext cx="6126480" cy="640080"/>
          </a:xfrm>
          <a:prstGeom prst="roundRect">
            <a:avLst>
              <a:gd fmla="val 11429" name="adj"/>
            </a:avLst>
          </a:prstGeom>
          <a:solidFill>
            <a:srgbClr val="D6D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f26303b58d_2_0"/>
          <p:cNvSpPr/>
          <p:nvPr/>
        </p:nvSpPr>
        <p:spPr>
          <a:xfrm>
            <a:off x="2286000" y="1371600"/>
            <a:ext cx="61264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302 leads ranked by ML score only</a:t>
            </a:r>
            <a:endParaRPr b="0" i="0" sz="1300" u="none" cap="none" strike="noStrike">
              <a:solidFill>
                <a:schemeClr val="dk1"/>
              </a:solidFill>
              <a:latin typeface="Calibri"/>
              <a:ea typeface="Calibri"/>
              <a:cs typeface="Calibri"/>
              <a:sym typeface="Calibri"/>
            </a:endParaRPr>
          </a:p>
        </p:txBody>
      </p:sp>
      <p:sp>
        <p:nvSpPr>
          <p:cNvPr id="145" name="Google Shape;145;g3f26303b58d_2_0"/>
          <p:cNvSpPr/>
          <p:nvPr/>
        </p:nvSpPr>
        <p:spPr>
          <a:xfrm>
            <a:off x="6858000" y="2057400"/>
            <a:ext cx="15544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265 converters</a:t>
            </a:r>
            <a:endParaRPr b="0" i="0" sz="1200" u="none" cap="none" strike="noStrike">
              <a:solidFill>
                <a:schemeClr val="dk1"/>
              </a:solidFill>
              <a:latin typeface="Calibri"/>
              <a:ea typeface="Calibri"/>
              <a:cs typeface="Calibri"/>
              <a:sym typeface="Calibri"/>
            </a:endParaRPr>
          </a:p>
        </p:txBody>
      </p:sp>
      <p:sp>
        <p:nvSpPr>
          <p:cNvPr id="146" name="Google Shape;146;g3f26303b58d_2_0"/>
          <p:cNvSpPr/>
          <p:nvPr/>
        </p:nvSpPr>
        <p:spPr>
          <a:xfrm>
            <a:off x="731520" y="274320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System 2</a:t>
            </a:r>
            <a:endParaRPr b="0" i="0" sz="1400" u="none" cap="none" strike="noStrike">
              <a:solidFill>
                <a:schemeClr val="dk1"/>
              </a:solidFill>
              <a:latin typeface="Calibri"/>
              <a:ea typeface="Calibri"/>
              <a:cs typeface="Calibri"/>
              <a:sym typeface="Calibri"/>
            </a:endParaRPr>
          </a:p>
        </p:txBody>
      </p:sp>
      <p:sp>
        <p:nvSpPr>
          <p:cNvPr id="147" name="Google Shape;147;g3f26303b58d_2_0"/>
          <p:cNvSpPr/>
          <p:nvPr/>
        </p:nvSpPr>
        <p:spPr>
          <a:xfrm>
            <a:off x="731520" y="306324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Tier qualification</a:t>
            </a:r>
            <a:endParaRPr b="0" i="0" sz="1100" u="none" cap="none" strike="noStrike">
              <a:solidFill>
                <a:schemeClr val="dk1"/>
              </a:solidFill>
              <a:latin typeface="Calibri"/>
              <a:ea typeface="Calibri"/>
              <a:cs typeface="Calibri"/>
              <a:sym typeface="Calibri"/>
            </a:endParaRPr>
          </a:p>
        </p:txBody>
      </p:sp>
      <p:sp>
        <p:nvSpPr>
          <p:cNvPr id="148" name="Google Shape;148;g3f26303b58d_2_0"/>
          <p:cNvSpPr/>
          <p:nvPr/>
        </p:nvSpPr>
        <p:spPr>
          <a:xfrm>
            <a:off x="2286000" y="2743200"/>
            <a:ext cx="1828800" cy="640080"/>
          </a:xfrm>
          <a:prstGeom prst="roundRect">
            <a:avLst>
              <a:gd fmla="val 11429" name="adj"/>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f26303b58d_2_0"/>
          <p:cNvSpPr/>
          <p:nvPr/>
        </p:nvSpPr>
        <p:spPr>
          <a:xfrm>
            <a:off x="2286000" y="2743200"/>
            <a:ext cx="18288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P1: 92 leads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Working Prof</a:t>
            </a:r>
            <a:endParaRPr b="0" i="0" sz="1100" u="none" cap="none" strike="noStrike">
              <a:solidFill>
                <a:schemeClr val="dk1"/>
              </a:solidFill>
              <a:latin typeface="Calibri"/>
              <a:ea typeface="Calibri"/>
              <a:cs typeface="Calibri"/>
              <a:sym typeface="Calibri"/>
            </a:endParaRPr>
          </a:p>
        </p:txBody>
      </p:sp>
      <p:sp>
        <p:nvSpPr>
          <p:cNvPr id="150" name="Google Shape;150;g3f26303b58d_2_0"/>
          <p:cNvSpPr/>
          <p:nvPr/>
        </p:nvSpPr>
        <p:spPr>
          <a:xfrm>
            <a:off x="4160520" y="2743200"/>
            <a:ext cx="2377440" cy="640080"/>
          </a:xfrm>
          <a:prstGeom prst="roundRect">
            <a:avLst>
              <a:gd fmla="val 11429" name="adj"/>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f26303b58d_2_0"/>
          <p:cNvSpPr/>
          <p:nvPr/>
        </p:nvSpPr>
        <p:spPr>
          <a:xfrm>
            <a:off x="4160520" y="2743200"/>
            <a:ext cx="23774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100"/>
              <a:buFont typeface="Calibri"/>
              <a:buNone/>
            </a:pPr>
            <a:r>
              <a:rPr b="1" i="0" lang="en-US" sz="1100" u="none" cap="none" strike="noStrike">
                <a:solidFill>
                  <a:srgbClr val="0F1B3D"/>
                </a:solidFill>
                <a:latin typeface="Calibri"/>
                <a:ea typeface="Calibri"/>
                <a:cs typeface="Calibri"/>
                <a:sym typeface="Calibri"/>
              </a:rPr>
              <a:t>P2: 120 leads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100"/>
              <a:buFont typeface="Calibri"/>
              <a:buNone/>
            </a:pPr>
            <a:r>
              <a:rPr b="1" i="0" lang="en-US" sz="1100" u="none" cap="none" strike="noStrike">
                <a:solidFill>
                  <a:srgbClr val="0F1B3D"/>
                </a:solidFill>
                <a:latin typeface="Calibri"/>
                <a:ea typeface="Calibri"/>
                <a:cs typeface="Calibri"/>
                <a:sym typeface="Calibri"/>
              </a:rPr>
              <a:t>SMS Sent</a:t>
            </a:r>
            <a:endParaRPr b="0" i="0" sz="1100" u="none" cap="none" strike="noStrike">
              <a:solidFill>
                <a:schemeClr val="dk1"/>
              </a:solidFill>
              <a:latin typeface="Calibri"/>
              <a:ea typeface="Calibri"/>
              <a:cs typeface="Calibri"/>
              <a:sym typeface="Calibri"/>
            </a:endParaRPr>
          </a:p>
        </p:txBody>
      </p:sp>
      <p:sp>
        <p:nvSpPr>
          <p:cNvPr id="152" name="Google Shape;152;g3f26303b58d_2_0"/>
          <p:cNvSpPr/>
          <p:nvPr/>
        </p:nvSpPr>
        <p:spPr>
          <a:xfrm>
            <a:off x="6583680" y="2743200"/>
            <a:ext cx="1828800" cy="640080"/>
          </a:xfrm>
          <a:prstGeom prst="roundRect">
            <a:avLst>
              <a:gd fmla="val 11429" name="adj"/>
            </a:avLst>
          </a:prstGeom>
          <a:solidFill>
            <a:srgbClr val="D6D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f26303b58d_2_0"/>
          <p:cNvSpPr/>
          <p:nvPr/>
        </p:nvSpPr>
        <p:spPr>
          <a:xfrm>
            <a:off x="6583680" y="2743200"/>
            <a:ext cx="18288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ML: 90 leads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Overflow</a:t>
            </a:r>
            <a:endParaRPr b="0" i="0" sz="1100" u="none" cap="none" strike="noStrike">
              <a:solidFill>
                <a:schemeClr val="dk1"/>
              </a:solidFill>
              <a:latin typeface="Calibri"/>
              <a:ea typeface="Calibri"/>
              <a:cs typeface="Calibri"/>
              <a:sym typeface="Calibri"/>
            </a:endParaRPr>
          </a:p>
        </p:txBody>
      </p:sp>
      <p:sp>
        <p:nvSpPr>
          <p:cNvPr id="154" name="Google Shape;154;g3f26303b58d_2_0"/>
          <p:cNvSpPr/>
          <p:nvPr/>
        </p:nvSpPr>
        <p:spPr>
          <a:xfrm>
            <a:off x="6858000" y="3429000"/>
            <a:ext cx="15544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270 converters (+5)</a:t>
            </a:r>
            <a:endParaRPr b="0" i="0" sz="1200" u="none" cap="none" strike="noStrike">
              <a:solidFill>
                <a:schemeClr val="dk1"/>
              </a:solidFill>
              <a:latin typeface="Calibri"/>
              <a:ea typeface="Calibri"/>
              <a:cs typeface="Calibri"/>
              <a:sym typeface="Calibri"/>
            </a:endParaRPr>
          </a:p>
        </p:txBody>
      </p:sp>
      <p:sp>
        <p:nvSpPr>
          <p:cNvPr id="155" name="Google Shape;155;g3f26303b58d_2_0"/>
          <p:cNvSpPr/>
          <p:nvPr/>
        </p:nvSpPr>
        <p:spPr>
          <a:xfrm>
            <a:off x="731520" y="3840480"/>
            <a:ext cx="7680960" cy="822960"/>
          </a:xfrm>
          <a:prstGeom prst="roundRect">
            <a:avLst>
              <a:gd fmla="val 11111"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f26303b58d_2_0"/>
          <p:cNvSpPr/>
          <p:nvPr/>
        </p:nvSpPr>
        <p:spPr>
          <a:xfrm>
            <a:off x="914400" y="3886200"/>
            <a:ext cx="73152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Tier membership determines allocation eligibility. ML score determines ranking within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each tier and prevents low-scoring leads from being promoted solely because of tier membership.</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g3f26303b58d_0_49"/>
          <p:cNvSpPr/>
          <p:nvPr/>
        </p:nvSpPr>
        <p:spPr>
          <a:xfrm>
            <a:off x="731520" y="274320"/>
            <a:ext cx="76809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How System 3 adjusts </a:t>
            </a:r>
            <a:r>
              <a:rPr b="1" lang="en-US" sz="2800">
                <a:solidFill>
                  <a:srgbClr val="1E2761"/>
                </a:solidFill>
                <a:latin typeface="Calibri"/>
                <a:ea typeface="Calibri"/>
                <a:cs typeface="Calibri"/>
                <a:sym typeface="Calibri"/>
              </a:rPr>
              <a:t>scores</a:t>
            </a:r>
            <a:endParaRPr b="0" i="0" sz="2800" u="none" cap="none" strike="noStrike">
              <a:solidFill>
                <a:schemeClr val="dk1"/>
              </a:solidFill>
              <a:latin typeface="Calibri"/>
              <a:ea typeface="Calibri"/>
              <a:cs typeface="Calibri"/>
              <a:sym typeface="Calibri"/>
            </a:endParaRPr>
          </a:p>
        </p:txBody>
      </p:sp>
      <p:sp>
        <p:nvSpPr>
          <p:cNvPr id="163" name="Google Shape;163;g3f26303b58d_0_49"/>
          <p:cNvSpPr/>
          <p:nvPr/>
        </p:nvSpPr>
        <p:spPr>
          <a:xfrm>
            <a:off x="731520" y="731520"/>
            <a:ext cx="76809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Leads </a:t>
            </a:r>
            <a:r>
              <a:rPr i="1" lang="en-US">
                <a:solidFill>
                  <a:srgbClr val="64748B"/>
                </a:solidFill>
                <a:latin typeface="Calibri"/>
                <a:ea typeface="Calibri"/>
                <a:cs typeface="Calibri"/>
                <a:sym typeface="Calibri"/>
              </a:rPr>
              <a:t>in p</a:t>
            </a:r>
            <a:r>
              <a:rPr i="1" lang="en-US">
                <a:solidFill>
                  <a:srgbClr val="64748B"/>
                </a:solidFill>
                <a:latin typeface="Calibri"/>
                <a:ea typeface="Calibri"/>
                <a:cs typeface="Calibri"/>
                <a:sym typeface="Calibri"/>
              </a:rPr>
              <a:t>rioritisation</a:t>
            </a:r>
            <a:r>
              <a:rPr b="0" i="1" lang="en-US" sz="1400" u="none" cap="none" strike="noStrike">
                <a:solidFill>
                  <a:srgbClr val="64748B"/>
                </a:solidFill>
                <a:latin typeface="Calibri"/>
                <a:ea typeface="Calibri"/>
                <a:cs typeface="Calibri"/>
                <a:sym typeface="Calibri"/>
              </a:rPr>
              <a:t> groups get a higher score, which rerank leads</a:t>
            </a:r>
            <a:r>
              <a:rPr i="1" lang="en-US">
                <a:solidFill>
                  <a:srgbClr val="64748B"/>
                </a:solidFill>
                <a:latin typeface="Calibri"/>
                <a:ea typeface="Calibri"/>
                <a:cs typeface="Calibri"/>
                <a:sym typeface="Calibri"/>
              </a:rPr>
              <a:t>. </a:t>
            </a:r>
            <a:r>
              <a:rPr i="1" lang="en-US">
                <a:solidFill>
                  <a:srgbClr val="64748B"/>
                </a:solidFill>
                <a:latin typeface="Calibri"/>
                <a:ea typeface="Calibri"/>
                <a:cs typeface="Calibri"/>
                <a:sym typeface="Calibri"/>
              </a:rPr>
              <a:t>Same K = 302 leads. </a:t>
            </a:r>
            <a:endParaRPr b="0" i="0" sz="1400" u="none" cap="none" strike="noStrike">
              <a:solidFill>
                <a:schemeClr val="dk1"/>
              </a:solidFill>
              <a:latin typeface="Calibri"/>
              <a:ea typeface="Calibri"/>
              <a:cs typeface="Calibri"/>
              <a:sym typeface="Calibri"/>
            </a:endParaRPr>
          </a:p>
        </p:txBody>
      </p:sp>
      <p:sp>
        <p:nvSpPr>
          <p:cNvPr id="164" name="Google Shape;164;g3f26303b58d_0_49"/>
          <p:cNvSpPr/>
          <p:nvPr/>
        </p:nvSpPr>
        <p:spPr>
          <a:xfrm>
            <a:off x="731520" y="1325880"/>
            <a:ext cx="1371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System 1</a:t>
            </a:r>
            <a:endParaRPr b="0" i="0" sz="1400" u="none" cap="none" strike="noStrike">
              <a:solidFill>
                <a:schemeClr val="dk1"/>
              </a:solidFill>
              <a:latin typeface="Calibri"/>
              <a:ea typeface="Calibri"/>
              <a:cs typeface="Calibri"/>
              <a:sym typeface="Calibri"/>
            </a:endParaRPr>
          </a:p>
        </p:txBody>
      </p:sp>
      <p:sp>
        <p:nvSpPr>
          <p:cNvPr id="165" name="Google Shape;165;g3f26303b58d_0_49"/>
          <p:cNvSpPr/>
          <p:nvPr/>
        </p:nvSpPr>
        <p:spPr>
          <a:xfrm>
            <a:off x="731520" y="164592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ML baseline</a:t>
            </a:r>
            <a:endParaRPr b="0" i="0" sz="1100" u="none" cap="none" strike="noStrike">
              <a:solidFill>
                <a:schemeClr val="dk1"/>
              </a:solidFill>
              <a:latin typeface="Calibri"/>
              <a:ea typeface="Calibri"/>
              <a:cs typeface="Calibri"/>
              <a:sym typeface="Calibri"/>
            </a:endParaRPr>
          </a:p>
        </p:txBody>
      </p:sp>
      <p:sp>
        <p:nvSpPr>
          <p:cNvPr id="166" name="Google Shape;166;g3f26303b58d_0_49"/>
          <p:cNvSpPr/>
          <p:nvPr/>
        </p:nvSpPr>
        <p:spPr>
          <a:xfrm>
            <a:off x="2286000" y="1325880"/>
            <a:ext cx="6126600" cy="640200"/>
          </a:xfrm>
          <a:prstGeom prst="roundRect">
            <a:avLst>
              <a:gd fmla="val 11429" name="adj"/>
            </a:avLst>
          </a:prstGeom>
          <a:solidFill>
            <a:srgbClr val="D6D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f26303b58d_0_49"/>
          <p:cNvSpPr/>
          <p:nvPr/>
        </p:nvSpPr>
        <p:spPr>
          <a:xfrm>
            <a:off x="2286000" y="1325880"/>
            <a:ext cx="61266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302 leads ranked by ML score only</a:t>
            </a:r>
            <a:endParaRPr b="0" i="0" sz="1300" u="none" cap="none" strike="noStrike">
              <a:solidFill>
                <a:schemeClr val="dk1"/>
              </a:solidFill>
              <a:latin typeface="Calibri"/>
              <a:ea typeface="Calibri"/>
              <a:cs typeface="Calibri"/>
              <a:sym typeface="Calibri"/>
            </a:endParaRPr>
          </a:p>
        </p:txBody>
      </p:sp>
      <p:sp>
        <p:nvSpPr>
          <p:cNvPr id="168" name="Google Shape;168;g3f26303b58d_0_49"/>
          <p:cNvSpPr/>
          <p:nvPr/>
        </p:nvSpPr>
        <p:spPr>
          <a:xfrm>
            <a:off x="6858000" y="2011680"/>
            <a:ext cx="1554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265 converters</a:t>
            </a:r>
            <a:endParaRPr b="0" i="0" sz="1200" u="none" cap="none" strike="noStrike">
              <a:solidFill>
                <a:schemeClr val="dk1"/>
              </a:solidFill>
              <a:latin typeface="Calibri"/>
              <a:ea typeface="Calibri"/>
              <a:cs typeface="Calibri"/>
              <a:sym typeface="Calibri"/>
            </a:endParaRPr>
          </a:p>
        </p:txBody>
      </p:sp>
      <p:sp>
        <p:nvSpPr>
          <p:cNvPr id="169" name="Google Shape;169;g3f26303b58d_0_49"/>
          <p:cNvSpPr/>
          <p:nvPr/>
        </p:nvSpPr>
        <p:spPr>
          <a:xfrm>
            <a:off x="731458" y="2445953"/>
            <a:ext cx="1371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400"/>
              <a:buFont typeface="Calibri"/>
              <a:buNone/>
            </a:pPr>
            <a:r>
              <a:rPr b="1" i="0" lang="en-US" sz="1400" u="none" cap="none" strike="noStrike">
                <a:solidFill>
                  <a:srgbClr val="2E7D32"/>
                </a:solidFill>
                <a:latin typeface="Calibri"/>
                <a:ea typeface="Calibri"/>
                <a:cs typeface="Calibri"/>
                <a:sym typeface="Calibri"/>
              </a:rPr>
              <a:t>System 3</a:t>
            </a:r>
            <a:endParaRPr b="0" i="0" sz="1400" u="none" cap="none" strike="noStrike">
              <a:solidFill>
                <a:schemeClr val="dk1"/>
              </a:solidFill>
              <a:latin typeface="Calibri"/>
              <a:ea typeface="Calibri"/>
              <a:cs typeface="Calibri"/>
              <a:sym typeface="Calibri"/>
            </a:endParaRPr>
          </a:p>
        </p:txBody>
      </p:sp>
      <p:sp>
        <p:nvSpPr>
          <p:cNvPr id="170" name="Google Shape;170;g3f26303b58d_0_49"/>
          <p:cNvSpPr/>
          <p:nvPr/>
        </p:nvSpPr>
        <p:spPr>
          <a:xfrm>
            <a:off x="731458" y="2765993"/>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Calibrated blend</a:t>
            </a:r>
            <a:endParaRPr b="0" i="0" sz="1100" u="none" cap="none" strike="noStrike">
              <a:solidFill>
                <a:schemeClr val="dk1"/>
              </a:solidFill>
              <a:latin typeface="Calibri"/>
              <a:ea typeface="Calibri"/>
              <a:cs typeface="Calibri"/>
              <a:sym typeface="Calibri"/>
            </a:endParaRPr>
          </a:p>
        </p:txBody>
      </p:sp>
      <p:sp>
        <p:nvSpPr>
          <p:cNvPr id="171" name="Google Shape;171;g3f26303b58d_0_49"/>
          <p:cNvSpPr/>
          <p:nvPr/>
        </p:nvSpPr>
        <p:spPr>
          <a:xfrm>
            <a:off x="2285938" y="2445953"/>
            <a:ext cx="6126600" cy="640200"/>
          </a:xfrm>
          <a:prstGeom prst="roundRect">
            <a:avLst>
              <a:gd fmla="val 11429" name="adj"/>
            </a:avLst>
          </a:prstGeom>
          <a:solidFill>
            <a:srgbClr val="E0E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f26303b58d_0_49"/>
          <p:cNvSpPr/>
          <p:nvPr/>
        </p:nvSpPr>
        <p:spPr>
          <a:xfrm>
            <a:off x="2285938" y="2445953"/>
            <a:ext cx="61266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200"/>
              <a:buFont typeface="Calibri"/>
              <a:buNone/>
            </a:pPr>
            <a:r>
              <a:rPr b="0" i="0" lang="en-US" sz="1200" u="none" cap="none" strike="noStrike">
                <a:solidFill>
                  <a:srgbClr val="2E7D32"/>
                </a:solidFill>
                <a:latin typeface="Calibri"/>
                <a:ea typeface="Calibri"/>
                <a:cs typeface="Calibri"/>
                <a:sym typeface="Calibri"/>
              </a:rPr>
              <a:t>302 leads re-ranked by blended score  (0.90 × ML + 0.10 × P1/P2 </a:t>
            </a:r>
            <a:r>
              <a:rPr lang="en-US" sz="1200">
                <a:solidFill>
                  <a:srgbClr val="2E7D32"/>
                </a:solidFill>
                <a:latin typeface="Calibri"/>
                <a:ea typeface="Calibri"/>
                <a:cs typeface="Calibri"/>
                <a:sym typeface="Calibri"/>
              </a:rPr>
              <a:t>qualification score</a:t>
            </a:r>
            <a:r>
              <a:rPr b="0" i="0" lang="en-US" sz="1200" u="none" cap="none" strike="noStrike">
                <a:solidFill>
                  <a:srgbClr val="2E7D32"/>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73" name="Google Shape;173;g3f26303b58d_0_49"/>
          <p:cNvSpPr/>
          <p:nvPr/>
        </p:nvSpPr>
        <p:spPr>
          <a:xfrm>
            <a:off x="6857938" y="3131753"/>
            <a:ext cx="1554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7D32"/>
              </a:buClr>
              <a:buSzPts val="1200"/>
              <a:buFont typeface="Calibri"/>
              <a:buNone/>
            </a:pPr>
            <a:r>
              <a:rPr b="1" i="0" lang="en-US" sz="1200" u="none" cap="none" strike="noStrike">
                <a:solidFill>
                  <a:srgbClr val="2E7D32"/>
                </a:solidFill>
                <a:latin typeface="Calibri"/>
                <a:ea typeface="Calibri"/>
                <a:cs typeface="Calibri"/>
                <a:sym typeface="Calibri"/>
              </a:rPr>
              <a:t>266 converters (+1)</a:t>
            </a:r>
            <a:endParaRPr b="0" i="0" sz="1200" u="none" cap="none" strike="noStrike">
              <a:solidFill>
                <a:schemeClr val="dk1"/>
              </a:solidFill>
              <a:latin typeface="Calibri"/>
              <a:ea typeface="Calibri"/>
              <a:cs typeface="Calibri"/>
              <a:sym typeface="Calibri"/>
            </a:endParaRPr>
          </a:p>
        </p:txBody>
      </p:sp>
      <p:sp>
        <p:nvSpPr>
          <p:cNvPr id="174" name="Google Shape;174;g3f26303b58d_0_49"/>
          <p:cNvSpPr/>
          <p:nvPr/>
        </p:nvSpPr>
        <p:spPr>
          <a:xfrm>
            <a:off x="4483175" y="3566050"/>
            <a:ext cx="3929400" cy="1385400"/>
          </a:xfrm>
          <a:prstGeom prst="roundRect">
            <a:avLst>
              <a:gd fmla="val 11111" name="adj"/>
            </a:avLst>
          </a:prstGeom>
          <a:solidFill>
            <a:srgbClr val="F0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f26303b58d_0_49"/>
          <p:cNvSpPr/>
          <p:nvPr/>
        </p:nvSpPr>
        <p:spPr>
          <a:xfrm>
            <a:off x="4664950" y="3822200"/>
            <a:ext cx="3564600" cy="77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No tiers. No reserved capacity. All leads compete in a single ranking.</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The qualification signal gives a small boost (+0.05 per signal) but this is often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too small to move leads across the top-K selection boundary.</a:t>
            </a:r>
            <a:endParaRPr b="0" i="0" sz="1300" u="none" cap="none" strike="noStrike">
              <a:solidFill>
                <a:schemeClr val="dk1"/>
              </a:solidFill>
              <a:latin typeface="Calibri"/>
              <a:ea typeface="Calibri"/>
              <a:cs typeface="Calibri"/>
              <a:sym typeface="Calibri"/>
            </a:endParaRPr>
          </a:p>
        </p:txBody>
      </p:sp>
      <p:graphicFrame>
        <p:nvGraphicFramePr>
          <p:cNvPr id="176" name="Google Shape;176;g3f26303b58d_0_49"/>
          <p:cNvGraphicFramePr/>
          <p:nvPr/>
        </p:nvGraphicFramePr>
        <p:xfrm>
          <a:off x="162495" y="3672820"/>
          <a:ext cx="3000000" cy="3000000"/>
        </p:xfrm>
        <a:graphic>
          <a:graphicData uri="http://schemas.openxmlformats.org/drawingml/2006/table">
            <a:tbl>
              <a:tblPr>
                <a:noFill/>
                <a:tableStyleId>{58FDCEF9-4D71-4C96-B011-EAEA019F6FE5}</a:tableStyleId>
              </a:tblPr>
              <a:tblGrid>
                <a:gridCol w="3267725"/>
                <a:gridCol w="726150"/>
              </a:tblGrid>
              <a:tr h="110825">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Qualification group membership</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Score</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E2761"/>
                    </a:solidFill>
                  </a:tcPr>
                </a:tc>
              </a:tr>
              <a:tr h="29260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Neither P1 nor P2</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0.0</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4F8"/>
                    </a:solidFill>
                  </a:tcPr>
                </a:tc>
              </a:tr>
              <a:tr h="29260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P1 only (Working Professional) or P2 only (SMS Sent)</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0.5</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9260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Both P1 and P2</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1.0</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4F8"/>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81" name="Shape 181"/>
        <p:cNvGrpSpPr/>
        <p:nvPr/>
      </p:nvGrpSpPr>
      <p:grpSpPr>
        <a:xfrm>
          <a:off x="0" y="0"/>
          <a:ext cx="0" cy="0"/>
          <a:chOff x="0" y="0"/>
          <a:chExt cx="0" cy="0"/>
        </a:xfrm>
      </p:grpSpPr>
      <p:pic>
        <p:nvPicPr>
          <p:cNvPr descr="preencoded.png" id="182" name="Google Shape;182;p9"/>
          <p:cNvPicPr preferRelativeResize="0"/>
          <p:nvPr/>
        </p:nvPicPr>
        <p:blipFill rotWithShape="1">
          <a:blip r:embed="rId3">
            <a:alphaModFix/>
          </a:blip>
          <a:srcRect b="0" l="0" r="0" t="0"/>
          <a:stretch/>
        </p:blipFill>
        <p:spPr>
          <a:xfrm>
            <a:off x="731520" y="411480"/>
            <a:ext cx="365760" cy="365760"/>
          </a:xfrm>
          <a:prstGeom prst="rect">
            <a:avLst/>
          </a:prstGeom>
          <a:noFill/>
          <a:ln>
            <a:noFill/>
          </a:ln>
        </p:spPr>
      </p:pic>
      <p:sp>
        <p:nvSpPr>
          <p:cNvPr id="183" name="Google Shape;183;p9"/>
          <p:cNvSpPr/>
          <p:nvPr/>
        </p:nvSpPr>
        <p:spPr>
          <a:xfrm>
            <a:off x="1234440" y="36576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Results: main finding</a:t>
            </a:r>
            <a:endParaRPr b="0" i="0" sz="2800" u="none" cap="none" strike="noStrike">
              <a:solidFill>
                <a:schemeClr val="dk1"/>
              </a:solidFill>
              <a:latin typeface="Calibri"/>
              <a:ea typeface="Calibri"/>
              <a:cs typeface="Calibri"/>
              <a:sym typeface="Calibri"/>
            </a:endParaRPr>
          </a:p>
        </p:txBody>
      </p:sp>
      <p:sp>
        <p:nvSpPr>
          <p:cNvPr id="184" name="Google Shape;184;p9"/>
          <p:cNvSpPr/>
          <p:nvPr/>
        </p:nvSpPr>
        <p:spPr>
          <a:xfrm>
            <a:off x="274320" y="914400"/>
            <a:ext cx="38404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93C"/>
              </a:buClr>
              <a:buSzPts val="5600"/>
              <a:buFont typeface="Calibri"/>
              <a:buNone/>
            </a:pPr>
            <a:r>
              <a:rPr b="1" i="0" lang="en-US" sz="5600" u="none" cap="none" strike="noStrike">
                <a:solidFill>
                  <a:srgbClr val="E8593C"/>
                </a:solidFill>
                <a:latin typeface="Calibri"/>
                <a:ea typeface="Calibri"/>
                <a:cs typeface="Calibri"/>
                <a:sym typeface="Calibri"/>
              </a:rPr>
              <a:t>265 → 270</a:t>
            </a:r>
            <a:endParaRPr b="0" i="0" sz="5600" u="none" cap="none" strike="noStrike">
              <a:solidFill>
                <a:schemeClr val="dk1"/>
              </a:solidFill>
              <a:latin typeface="Calibri"/>
              <a:ea typeface="Calibri"/>
              <a:cs typeface="Calibri"/>
              <a:sym typeface="Calibri"/>
            </a:endParaRPr>
          </a:p>
        </p:txBody>
      </p:sp>
      <p:sp>
        <p:nvSpPr>
          <p:cNvPr id="185" name="Google Shape;185;p9"/>
          <p:cNvSpPr/>
          <p:nvPr/>
        </p:nvSpPr>
        <p:spPr>
          <a:xfrm>
            <a:off x="274320" y="1737360"/>
            <a:ext cx="38404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800"/>
              <a:buFont typeface="Calibri"/>
              <a:buNone/>
            </a:pPr>
            <a:r>
              <a:rPr b="0" i="0" lang="en-US" sz="1800" u="none" cap="none" strike="noStrike">
                <a:solidFill>
                  <a:srgbClr val="CADCFC"/>
                </a:solidFill>
                <a:latin typeface="Calibri"/>
                <a:ea typeface="Calibri"/>
                <a:cs typeface="Calibri"/>
                <a:sym typeface="Calibri"/>
              </a:rPr>
              <a:t>converters</a:t>
            </a:r>
            <a:endParaRPr b="0" i="0" sz="1800" u="none" cap="none" strike="noStrike">
              <a:solidFill>
                <a:schemeClr val="dk1"/>
              </a:solidFill>
              <a:latin typeface="Calibri"/>
              <a:ea typeface="Calibri"/>
              <a:cs typeface="Calibri"/>
              <a:sym typeface="Calibri"/>
            </a:endParaRPr>
          </a:p>
        </p:txBody>
      </p:sp>
      <p:sp>
        <p:nvSpPr>
          <p:cNvPr id="186" name="Google Shape;186;p9"/>
          <p:cNvSpPr/>
          <p:nvPr/>
        </p:nvSpPr>
        <p:spPr>
          <a:xfrm>
            <a:off x="274320" y="2194560"/>
            <a:ext cx="38404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+5 additional conversions</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same sales capacity</a:t>
            </a:r>
            <a:endParaRPr b="0" i="0" sz="1400" u="none" cap="none" strike="noStrike">
              <a:solidFill>
                <a:schemeClr val="dk1"/>
              </a:solidFill>
              <a:latin typeface="Calibri"/>
              <a:ea typeface="Calibri"/>
              <a:cs typeface="Calibri"/>
              <a:sym typeface="Calibri"/>
            </a:endParaRPr>
          </a:p>
        </p:txBody>
      </p:sp>
      <p:graphicFrame>
        <p:nvGraphicFramePr>
          <p:cNvPr id="187" name="Google Shape;187;p9"/>
          <p:cNvGraphicFramePr/>
          <p:nvPr/>
        </p:nvGraphicFramePr>
        <p:xfrm>
          <a:off x="4297680" y="1097280"/>
          <a:ext cx="3000000" cy="3000000"/>
        </p:xfrm>
        <a:graphic>
          <a:graphicData uri="http://schemas.openxmlformats.org/drawingml/2006/table">
            <a:tbl>
              <a:tblPr>
                <a:noFill/>
                <a:tableStyleId>{58FDCEF9-4D71-4C96-B011-EAEA019F6FE5}</a:tableStyleId>
              </a:tblPr>
              <a:tblGrid>
                <a:gridCol w="1554475"/>
                <a:gridCol w="1097275"/>
                <a:gridCol w="914400"/>
                <a:gridCol w="914400"/>
              </a:tblGrid>
              <a:tr h="347475">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System</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Precision@K</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Converters</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vs S1</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r>
              <a:tr h="347475">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S1 — ML baseline</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87.7%</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265</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r>
              <a:tr h="38405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S2 — Tier qual.</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89.4%</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E8593C"/>
                        </a:buClr>
                        <a:buSzPts val="1200"/>
                        <a:buFont typeface="Calibri"/>
                        <a:buNone/>
                      </a:pPr>
                      <a:r>
                        <a:rPr b="1" lang="en-US" sz="1200" u="none" cap="none" strike="noStrike">
                          <a:solidFill>
                            <a:srgbClr val="E8593C"/>
                          </a:solidFill>
                          <a:latin typeface="Calibri"/>
                          <a:ea typeface="Calibri"/>
                          <a:cs typeface="Calibri"/>
                          <a:sym typeface="Calibri"/>
                        </a:rPr>
                        <a:t>270</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E8593C"/>
                        </a:buClr>
                        <a:buSzPts val="1200"/>
                        <a:buFont typeface="Calibri"/>
                        <a:buNone/>
                      </a:pPr>
                      <a:r>
                        <a:rPr b="1" lang="en-US" sz="1200" u="none" cap="none" strike="noStrike">
                          <a:solidFill>
                            <a:srgbClr val="E8593C"/>
                          </a:solidFill>
                          <a:latin typeface="Calibri"/>
                          <a:ea typeface="Calibri"/>
                          <a:cs typeface="Calibri"/>
                          <a:sym typeface="Calibri"/>
                        </a:rPr>
                        <a:t>+1.7 pp</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r>
              <a:tr h="347475">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S3 — Blend</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88.1%</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4CAF50"/>
                        </a:buClr>
                        <a:buSzPts val="1200"/>
                        <a:buFont typeface="Calibri"/>
                        <a:buNone/>
                      </a:pPr>
                      <a:r>
                        <a:rPr lang="en-US" sz="1200" u="none" cap="none" strike="noStrike">
                          <a:solidFill>
                            <a:srgbClr val="4CAF50"/>
                          </a:solidFill>
                          <a:latin typeface="Calibri"/>
                          <a:ea typeface="Calibri"/>
                          <a:cs typeface="Calibri"/>
                          <a:sym typeface="Calibri"/>
                        </a:rPr>
                        <a:t>266</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4CAF50"/>
                        </a:buClr>
                        <a:buSzPts val="1200"/>
                        <a:buFont typeface="Calibri"/>
                        <a:buNone/>
                      </a:pPr>
                      <a:r>
                        <a:rPr lang="en-US" sz="1200" u="none" cap="none" strike="noStrike">
                          <a:solidFill>
                            <a:srgbClr val="4CAF50"/>
                          </a:solidFill>
                          <a:latin typeface="Calibri"/>
                          <a:ea typeface="Calibri"/>
                          <a:cs typeface="Calibri"/>
                          <a:sym typeface="Calibri"/>
                        </a:rPr>
                        <a:t>+0.3 pp</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r>
            </a:tbl>
          </a:graphicData>
        </a:graphic>
      </p:graphicFrame>
      <p:sp>
        <p:nvSpPr>
          <p:cNvPr id="188" name="Google Shape;188;p9"/>
          <p:cNvSpPr/>
          <p:nvPr/>
        </p:nvSpPr>
        <p:spPr>
          <a:xfrm>
            <a:off x="731520" y="3200400"/>
            <a:ext cx="768096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S3 also improved (+0.3 pp) — the qualification signal itself has value.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But S2's larger gain (+1.7 pp) shows allocation matters more than score adjustment.</a:t>
            </a:r>
            <a:endParaRPr b="0" i="0" sz="1300" u="none" cap="none" strike="noStrike">
              <a:solidFill>
                <a:schemeClr val="dk1"/>
              </a:solidFill>
              <a:latin typeface="Calibri"/>
              <a:ea typeface="Calibri"/>
              <a:cs typeface="Calibri"/>
              <a:sym typeface="Calibri"/>
            </a:endParaRPr>
          </a:p>
        </p:txBody>
      </p:sp>
      <p:sp>
        <p:nvSpPr>
          <p:cNvPr id="189" name="Google Shape;189;p9"/>
          <p:cNvSpPr/>
          <p:nvPr/>
        </p:nvSpPr>
        <p:spPr>
          <a:xfrm>
            <a:off x="731520" y="3931920"/>
            <a:ext cx="7680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Directional finding: bootstrap CIs overlap. Consistent across all K values.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pic>
        <p:nvPicPr>
          <p:cNvPr descr="preencoded.png" id="195" name="Google Shape;195;p10"/>
          <p:cNvPicPr preferRelativeResize="0"/>
          <p:nvPr/>
        </p:nvPicPr>
        <p:blipFill rotWithShape="1">
          <a:blip r:embed="rId3">
            <a:alphaModFix/>
          </a:blip>
          <a:srcRect b="0" l="0" r="0" t="0"/>
          <a:stretch/>
        </p:blipFill>
        <p:spPr>
          <a:xfrm>
            <a:off x="731520" y="320040"/>
            <a:ext cx="365760" cy="365760"/>
          </a:xfrm>
          <a:prstGeom prst="rect">
            <a:avLst/>
          </a:prstGeom>
          <a:noFill/>
          <a:ln>
            <a:noFill/>
          </a:ln>
        </p:spPr>
      </p:pic>
      <p:sp>
        <p:nvSpPr>
          <p:cNvPr id="196" name="Google Shape;196;p10"/>
          <p:cNvSpPr/>
          <p:nvPr/>
        </p:nvSpPr>
        <p:spPr>
          <a:xfrm>
            <a:off x="1234440" y="27432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Secondary metrics</a:t>
            </a:r>
            <a:endParaRPr b="0" i="0" sz="2800" u="none" cap="none" strike="noStrike">
              <a:solidFill>
                <a:schemeClr val="dk1"/>
              </a:solidFill>
              <a:latin typeface="Calibri"/>
              <a:ea typeface="Calibri"/>
              <a:cs typeface="Calibri"/>
              <a:sym typeface="Calibri"/>
            </a:endParaRPr>
          </a:p>
        </p:txBody>
      </p:sp>
      <p:sp>
        <p:nvSpPr>
          <p:cNvPr id="197" name="Google Shape;197;p10"/>
          <p:cNvSpPr/>
          <p:nvPr/>
        </p:nvSpPr>
        <p:spPr>
          <a:xfrm>
            <a:off x="731520" y="77724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All metrics measured at K = 20% (302 leads)</a:t>
            </a:r>
            <a:endParaRPr b="0" i="0" sz="1300" u="none" cap="none" strike="noStrike">
              <a:solidFill>
                <a:schemeClr val="dk1"/>
              </a:solidFill>
              <a:latin typeface="Calibri"/>
              <a:ea typeface="Calibri"/>
              <a:cs typeface="Calibri"/>
              <a:sym typeface="Calibri"/>
            </a:endParaRPr>
          </a:p>
        </p:txBody>
      </p:sp>
      <p:graphicFrame>
        <p:nvGraphicFramePr>
          <p:cNvPr id="198" name="Google Shape;198;p10"/>
          <p:cNvGraphicFramePr/>
          <p:nvPr/>
        </p:nvGraphicFramePr>
        <p:xfrm>
          <a:off x="731520" y="1280160"/>
          <a:ext cx="3000000" cy="3000000"/>
        </p:xfrm>
        <a:graphic>
          <a:graphicData uri="http://schemas.openxmlformats.org/drawingml/2006/table">
            <a:tbl>
              <a:tblPr>
                <a:noFill/>
                <a:tableStyleId>{58FDCEF9-4D71-4C96-B011-EAEA019F6FE5}</a:tableStyleId>
              </a:tblPr>
              <a:tblGrid>
                <a:gridCol w="1828800"/>
                <a:gridCol w="1280150"/>
                <a:gridCol w="1188725"/>
                <a:gridCol w="1097275"/>
                <a:gridCol w="1371600"/>
              </a:tblGrid>
              <a:tr h="36575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System</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Precision@K</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Recall@K</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Lift@K</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Wasted Effort</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r>
              <a:tr h="365750">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S1</a:t>
                      </a:r>
                      <a:r>
                        <a:rPr lang="en-US" sz="1200">
                          <a:solidFill>
                            <a:srgbClr val="0F1B3D"/>
                          </a:solidFill>
                          <a:latin typeface="Calibri"/>
                          <a:ea typeface="Calibri"/>
                          <a:cs typeface="Calibri"/>
                          <a:sym typeface="Calibri"/>
                        </a:rPr>
                        <a:t>:</a:t>
                      </a:r>
                      <a:r>
                        <a:rPr lang="en-US" sz="1200" u="none" cap="none" strike="noStrike">
                          <a:solidFill>
                            <a:srgbClr val="0F1B3D"/>
                          </a:solidFill>
                          <a:latin typeface="Calibri"/>
                          <a:ea typeface="Calibri"/>
                          <a:cs typeface="Calibri"/>
                          <a:sym typeface="Calibri"/>
                        </a:rPr>
                        <a:t> ML baseline</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87.7%</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44.1%</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2.206</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12.3%</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411475">
                <a:tc>
                  <a:txBody>
                    <a:bodyPr/>
                    <a:lstStyle/>
                    <a:p>
                      <a:pPr indent="0" lvl="0" marL="0" marR="0" rtl="0" algn="ctr">
                        <a:spcBef>
                          <a:spcPts val="0"/>
                        </a:spcBef>
                        <a:spcAft>
                          <a:spcPts val="0"/>
                        </a:spcAft>
                        <a:buClr>
                          <a:srgbClr val="0F1B3D"/>
                        </a:buClr>
                        <a:buSzPts val="1200"/>
                        <a:buFont typeface="Calibri"/>
                        <a:buNone/>
                      </a:pPr>
                      <a:r>
                        <a:rPr b="1" lang="en-US" sz="1200" u="none" cap="none" strike="noStrike">
                          <a:solidFill>
                            <a:srgbClr val="0F1B3D"/>
                          </a:solidFill>
                          <a:latin typeface="Calibri"/>
                          <a:ea typeface="Calibri"/>
                          <a:cs typeface="Calibri"/>
                          <a:sym typeface="Calibri"/>
                        </a:rPr>
                        <a:t>S2</a:t>
                      </a:r>
                      <a:r>
                        <a:rPr b="1" lang="en-US" sz="1200">
                          <a:solidFill>
                            <a:srgbClr val="0F1B3D"/>
                          </a:solidFill>
                          <a:latin typeface="Calibri"/>
                          <a:ea typeface="Calibri"/>
                          <a:cs typeface="Calibri"/>
                          <a:sym typeface="Calibri"/>
                        </a:rPr>
                        <a:t>:</a:t>
                      </a:r>
                      <a:r>
                        <a:rPr b="1" lang="en-US" sz="1200" u="none" cap="none" strike="noStrike">
                          <a:solidFill>
                            <a:srgbClr val="0F1B3D"/>
                          </a:solidFill>
                          <a:latin typeface="Calibri"/>
                          <a:ea typeface="Calibri"/>
                          <a:cs typeface="Calibri"/>
                          <a:sym typeface="Calibri"/>
                        </a:rPr>
                        <a:t> Tier qual</a:t>
                      </a:r>
                      <a:r>
                        <a:rPr b="1" lang="en-US" sz="1200">
                          <a:solidFill>
                            <a:srgbClr val="0F1B3D"/>
                          </a:solidFill>
                          <a:latin typeface="Calibri"/>
                          <a:ea typeface="Calibri"/>
                          <a:cs typeface="Calibri"/>
                          <a:sym typeface="Calibri"/>
                        </a:rPr>
                        <a:t>ification</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0F1B3D"/>
                        </a:buClr>
                        <a:buSzPts val="1200"/>
                        <a:buFont typeface="Calibri"/>
                        <a:buNone/>
                      </a:pPr>
                      <a:r>
                        <a:rPr b="1" lang="en-US" sz="1200" u="none" cap="none" strike="noStrike">
                          <a:solidFill>
                            <a:srgbClr val="0F1B3D"/>
                          </a:solidFill>
                          <a:latin typeface="Calibri"/>
                          <a:ea typeface="Calibri"/>
                          <a:cs typeface="Calibri"/>
                          <a:sym typeface="Calibri"/>
                        </a:rPr>
                        <a:t>89.4%</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0F1B3D"/>
                        </a:buClr>
                        <a:buSzPts val="1200"/>
                        <a:buFont typeface="Calibri"/>
                        <a:buNone/>
                      </a:pPr>
                      <a:r>
                        <a:rPr b="1" lang="en-US" sz="1200" u="none" cap="none" strike="noStrike">
                          <a:solidFill>
                            <a:srgbClr val="0F1B3D"/>
                          </a:solidFill>
                          <a:latin typeface="Calibri"/>
                          <a:ea typeface="Calibri"/>
                          <a:cs typeface="Calibri"/>
                          <a:sym typeface="Calibri"/>
                        </a:rPr>
                        <a:t>44.9%</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0F1B3D"/>
                        </a:buClr>
                        <a:buSzPts val="1200"/>
                        <a:buFont typeface="Calibri"/>
                        <a:buNone/>
                      </a:pPr>
                      <a:r>
                        <a:rPr b="1" lang="en-US" sz="1200" u="none" cap="none" strike="noStrike">
                          <a:solidFill>
                            <a:srgbClr val="0F1B3D"/>
                          </a:solidFill>
                          <a:latin typeface="Calibri"/>
                          <a:ea typeface="Calibri"/>
                          <a:cs typeface="Calibri"/>
                          <a:sym typeface="Calibri"/>
                        </a:rPr>
                        <a:t>2.248</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E8593C"/>
                        </a:buClr>
                        <a:buSzPts val="1200"/>
                        <a:buFont typeface="Calibri"/>
                        <a:buNone/>
                      </a:pPr>
                      <a:r>
                        <a:rPr b="1" lang="en-US" sz="1200" u="none" cap="none" strike="noStrike">
                          <a:solidFill>
                            <a:srgbClr val="E8593C"/>
                          </a:solidFill>
                          <a:latin typeface="Calibri"/>
                          <a:ea typeface="Calibri"/>
                          <a:cs typeface="Calibri"/>
                          <a:sym typeface="Calibri"/>
                        </a:rPr>
                        <a:t>10.6%</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r>
              <a:tr h="365750">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S3</a:t>
                      </a:r>
                      <a:r>
                        <a:rPr lang="en-US" sz="1200">
                          <a:solidFill>
                            <a:srgbClr val="0F1B3D"/>
                          </a:solidFill>
                          <a:latin typeface="Calibri"/>
                          <a:ea typeface="Calibri"/>
                          <a:cs typeface="Calibri"/>
                          <a:sym typeface="Calibri"/>
                        </a:rPr>
                        <a:t>:</a:t>
                      </a:r>
                      <a:r>
                        <a:rPr lang="en-US" sz="1200" u="none" cap="none" strike="noStrike">
                          <a:solidFill>
                            <a:srgbClr val="0F1B3D"/>
                          </a:solidFill>
                          <a:latin typeface="Calibri"/>
                          <a:ea typeface="Calibri"/>
                          <a:cs typeface="Calibri"/>
                          <a:sym typeface="Calibri"/>
                        </a:rPr>
                        <a:t> Blended score</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5F0"/>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88.1%</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5F0"/>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44.3%</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5F0"/>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2.214</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5F0"/>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11.9%</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5F0"/>
                    </a:solidFill>
                  </a:tcPr>
                </a:tc>
              </a:tr>
            </a:tbl>
          </a:graphicData>
        </a:graphic>
      </p:graphicFrame>
      <p:sp>
        <p:nvSpPr>
          <p:cNvPr id="199" name="Google Shape;199;p10"/>
          <p:cNvSpPr/>
          <p:nvPr/>
        </p:nvSpPr>
        <p:spPr>
          <a:xfrm>
            <a:off x="731520" y="301752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System 2 leads on every metric. Wasted effort reduced from 12.3% to 10.6% </a:t>
            </a:r>
            <a:r>
              <a:rPr lang="en-US" sz="1300">
                <a:solidFill>
                  <a:srgbClr val="0F1B3D"/>
                </a:solidFill>
                <a:latin typeface="Calibri"/>
                <a:ea typeface="Calibri"/>
                <a:cs typeface="Calibri"/>
                <a:sym typeface="Calibri"/>
              </a:rPr>
              <a:t>with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fewer sales resources spent pursuing leads that did not convert.</a:t>
            </a:r>
            <a:endParaRPr b="0" i="0" sz="1300" u="none" cap="none" strike="noStrike">
              <a:solidFill>
                <a:schemeClr val="dk1"/>
              </a:solidFill>
              <a:latin typeface="Calibri"/>
              <a:ea typeface="Calibri"/>
              <a:cs typeface="Calibri"/>
              <a:sym typeface="Calibri"/>
            </a:endParaRPr>
          </a:p>
        </p:txBody>
      </p:sp>
      <p:sp>
        <p:nvSpPr>
          <p:cNvPr id="200" name="Google Shape;200;p10"/>
          <p:cNvSpPr/>
          <p:nvPr/>
        </p:nvSpPr>
        <p:spPr>
          <a:xfrm>
            <a:off x="731520" y="374904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System 3 also improved slightly on all metrics, confirming the qualification signal</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itself carries value — but the allocation mechanism produces the larger operational gain.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05" name="Shape 205"/>
        <p:cNvGrpSpPr/>
        <p:nvPr/>
      </p:nvGrpSpPr>
      <p:grpSpPr>
        <a:xfrm>
          <a:off x="0" y="0"/>
          <a:ext cx="0" cy="0"/>
          <a:chOff x="0" y="0"/>
          <a:chExt cx="0" cy="0"/>
        </a:xfrm>
      </p:grpSpPr>
      <p:sp>
        <p:nvSpPr>
          <p:cNvPr id="206" name="Google Shape;206;p11"/>
          <p:cNvSpPr/>
          <p:nvPr/>
        </p:nvSpPr>
        <p:spPr>
          <a:xfrm>
            <a:off x="731520" y="36576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Bootstrap confidence intervals</a:t>
            </a:r>
            <a:endParaRPr b="0" i="0" sz="2800" u="none" cap="none" strike="noStrike">
              <a:solidFill>
                <a:schemeClr val="dk1"/>
              </a:solidFill>
              <a:latin typeface="Calibri"/>
              <a:ea typeface="Calibri"/>
              <a:cs typeface="Calibri"/>
              <a:sym typeface="Calibri"/>
            </a:endParaRPr>
          </a:p>
        </p:txBody>
      </p:sp>
      <p:sp>
        <p:nvSpPr>
          <p:cNvPr id="207" name="Google Shape;207;p11"/>
          <p:cNvSpPr/>
          <p:nvPr/>
        </p:nvSpPr>
        <p:spPr>
          <a:xfrm>
            <a:off x="731520" y="86868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1,000 iterations — 95% confidence intervals for Precision@K at K = 20%</a:t>
            </a:r>
            <a:endParaRPr b="0" i="0" sz="1300" u="none" cap="none" strike="noStrike">
              <a:solidFill>
                <a:schemeClr val="dk1"/>
              </a:solidFill>
              <a:latin typeface="Calibri"/>
              <a:ea typeface="Calibri"/>
              <a:cs typeface="Calibri"/>
              <a:sym typeface="Calibri"/>
            </a:endParaRPr>
          </a:p>
        </p:txBody>
      </p:sp>
      <p:graphicFrame>
        <p:nvGraphicFramePr>
          <p:cNvPr id="208" name="Google Shape;208;p11"/>
          <p:cNvGraphicFramePr/>
          <p:nvPr/>
        </p:nvGraphicFramePr>
        <p:xfrm>
          <a:off x="1371600" y="1463040"/>
          <a:ext cx="3000000" cy="3000000"/>
        </p:xfrm>
        <a:graphic>
          <a:graphicData uri="http://schemas.openxmlformats.org/drawingml/2006/table">
            <a:tbl>
              <a:tblPr>
                <a:noFill/>
                <a:tableStyleId>{58FDCEF9-4D71-4C96-B011-EAEA019F6FE5}</a:tableStyleId>
              </a:tblPr>
              <a:tblGrid>
                <a:gridCol w="1828800"/>
                <a:gridCol w="1188725"/>
                <a:gridCol w="1188725"/>
                <a:gridCol w="1280150"/>
              </a:tblGrid>
              <a:tr h="365750">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System</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2.5th pct</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Median</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97.5th pct</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r>
              <a:tr h="365750">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S1</a:t>
                      </a:r>
                      <a:r>
                        <a:rPr lang="en-US" sz="1300">
                          <a:solidFill>
                            <a:srgbClr val="FFFFFF"/>
                          </a:solidFill>
                          <a:latin typeface="Calibri"/>
                          <a:ea typeface="Calibri"/>
                          <a:cs typeface="Calibri"/>
                          <a:sym typeface="Calibri"/>
                        </a:rPr>
                        <a:t>:</a:t>
                      </a:r>
                      <a:r>
                        <a:rPr lang="en-US" sz="1300" u="none" cap="none" strike="noStrike">
                          <a:solidFill>
                            <a:srgbClr val="FFFFFF"/>
                          </a:solidFill>
                          <a:latin typeface="Calibri"/>
                          <a:ea typeface="Calibri"/>
                          <a:cs typeface="Calibri"/>
                          <a:sym typeface="Calibri"/>
                        </a:rPr>
                        <a:t> ML baseline</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0.834</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0.878</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0.914</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r>
              <a:tr h="411475">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S2</a:t>
                      </a:r>
                      <a:r>
                        <a:rPr b="1" lang="en-US" sz="1300">
                          <a:solidFill>
                            <a:srgbClr val="FFFFFF"/>
                          </a:solidFill>
                          <a:latin typeface="Calibri"/>
                          <a:ea typeface="Calibri"/>
                          <a:cs typeface="Calibri"/>
                          <a:sym typeface="Calibri"/>
                        </a:rPr>
                        <a:t>:</a:t>
                      </a:r>
                      <a:r>
                        <a:rPr b="1" lang="en-US" sz="1300" u="none" cap="none" strike="noStrike">
                          <a:solidFill>
                            <a:srgbClr val="FFFFFF"/>
                          </a:solidFill>
                          <a:latin typeface="Calibri"/>
                          <a:ea typeface="Calibri"/>
                          <a:cs typeface="Calibri"/>
                          <a:sym typeface="Calibri"/>
                        </a:rPr>
                        <a:t> Tier qual.</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0.854</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0.894</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0.931</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r>
              <a:tr h="365750">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S3</a:t>
                      </a:r>
                      <a:r>
                        <a:rPr lang="en-US" sz="1300">
                          <a:solidFill>
                            <a:srgbClr val="FFFFFF"/>
                          </a:solidFill>
                          <a:latin typeface="Calibri"/>
                          <a:ea typeface="Calibri"/>
                          <a:cs typeface="Calibri"/>
                          <a:sym typeface="Calibri"/>
                        </a:rPr>
                        <a:t>:</a:t>
                      </a:r>
                      <a:r>
                        <a:rPr lang="en-US" sz="1300" u="none" cap="none" strike="noStrike">
                          <a:solidFill>
                            <a:srgbClr val="FFFFFF"/>
                          </a:solidFill>
                          <a:latin typeface="Calibri"/>
                          <a:ea typeface="Calibri"/>
                          <a:cs typeface="Calibri"/>
                          <a:sym typeface="Calibri"/>
                        </a:rPr>
                        <a:t> Blend</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0.838</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0.881</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0.914</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r>
            </a:tbl>
          </a:graphicData>
        </a:graphic>
      </p:graphicFrame>
      <p:sp>
        <p:nvSpPr>
          <p:cNvPr id="209" name="Google Shape;209;p11"/>
          <p:cNvSpPr/>
          <p:nvPr/>
        </p:nvSpPr>
        <p:spPr>
          <a:xfrm>
            <a:off x="731520" y="3291840"/>
            <a:ext cx="768096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S2 median exceeds both alternatives. However, 95% CIs overlap.</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The result is directional: a consistent positive signal, not a proven superiority claim.</a:t>
            </a:r>
            <a:endParaRPr b="0" i="0" sz="1300" u="none" cap="none" strike="noStrike">
              <a:solidFill>
                <a:schemeClr val="dk1"/>
              </a:solidFill>
              <a:latin typeface="Calibri"/>
              <a:ea typeface="Calibri"/>
              <a:cs typeface="Calibri"/>
              <a:sym typeface="Calibri"/>
            </a:endParaRPr>
          </a:p>
        </p:txBody>
      </p:sp>
      <p:sp>
        <p:nvSpPr>
          <p:cNvPr id="210" name="Google Shape;210;p11"/>
          <p:cNvSpPr/>
          <p:nvPr/>
        </p:nvSpPr>
        <p:spPr>
          <a:xfrm>
            <a:off x="731520" y="4114800"/>
            <a:ext cx="7680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S2 consistently matched or exceeded the baseline across all sensitivity tests.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2"/>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Sensitivity: capacity (K) and tier cap</a:t>
            </a:r>
            <a:endParaRPr b="0" i="0" sz="2800" u="none" cap="none" strike="noStrike">
              <a:solidFill>
                <a:schemeClr val="dk1"/>
              </a:solidFill>
              <a:latin typeface="Calibri"/>
              <a:ea typeface="Calibri"/>
              <a:cs typeface="Calibri"/>
              <a:sym typeface="Calibri"/>
            </a:endParaRPr>
          </a:p>
        </p:txBody>
      </p:sp>
      <p:sp>
        <p:nvSpPr>
          <p:cNvPr id="217" name="Google Shape;217;p12"/>
          <p:cNvSpPr/>
          <p:nvPr/>
        </p:nvSpPr>
        <p:spPr>
          <a:xfrm>
            <a:off x="731520" y="82296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Capacity constraint (K)</a:t>
            </a:r>
            <a:endParaRPr b="0" i="0" sz="1400" u="none" cap="none" strike="noStrike">
              <a:solidFill>
                <a:schemeClr val="dk1"/>
              </a:solidFill>
              <a:latin typeface="Calibri"/>
              <a:ea typeface="Calibri"/>
              <a:cs typeface="Calibri"/>
              <a:sym typeface="Calibri"/>
            </a:endParaRPr>
          </a:p>
        </p:txBody>
      </p:sp>
      <p:graphicFrame>
        <p:nvGraphicFramePr>
          <p:cNvPr id="218" name="Google Shape;218;p12"/>
          <p:cNvGraphicFramePr/>
          <p:nvPr/>
        </p:nvGraphicFramePr>
        <p:xfrm>
          <a:off x="457200" y="1188720"/>
          <a:ext cx="3000000" cy="3000000"/>
        </p:xfrm>
        <a:graphic>
          <a:graphicData uri="http://schemas.openxmlformats.org/drawingml/2006/table">
            <a:tbl>
              <a:tblPr>
                <a:noFill/>
                <a:tableStyleId>{58FDCEF9-4D71-4C96-B011-EAEA019F6FE5}</a:tableStyleId>
              </a:tblPr>
              <a:tblGrid>
                <a:gridCol w="640075"/>
                <a:gridCol w="914400"/>
                <a:gridCol w="914400"/>
                <a:gridCol w="914400"/>
              </a:tblGrid>
              <a:tr h="3200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K</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S2</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S3</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10%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92.1%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b="1" lang="en-US" sz="1100" u="none" cap="none" strike="noStrike">
                          <a:solidFill>
                            <a:srgbClr val="0F1B3D"/>
                          </a:solidFill>
                          <a:latin typeface="Calibri"/>
                          <a:ea typeface="Calibri"/>
                          <a:cs typeface="Calibri"/>
                          <a:sym typeface="Calibri"/>
                        </a:rPr>
                        <a:t>94.7%</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90.7%</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20%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87.8%</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b="1" lang="en-US" sz="1100" u="none" cap="none" strike="noStrike">
                          <a:solidFill>
                            <a:srgbClr val="0F1B3D"/>
                          </a:solidFill>
                          <a:latin typeface="Calibri"/>
                          <a:ea typeface="Calibri"/>
                          <a:cs typeface="Calibri"/>
                          <a:sym typeface="Calibri"/>
                        </a:rPr>
                        <a:t>89.4%</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30%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78.4%</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b="1" lang="en-US" sz="1100" u="none" cap="none" strike="noStrike">
                          <a:solidFill>
                            <a:srgbClr val="0F1B3D"/>
                          </a:solidFill>
                          <a:latin typeface="Calibri"/>
                          <a:ea typeface="Calibri"/>
                          <a:cs typeface="Calibri"/>
                          <a:sym typeface="Calibri"/>
                        </a:rPr>
                        <a:t>81.0%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79.9%</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bl>
          </a:graphicData>
        </a:graphic>
      </p:graphicFrame>
      <p:sp>
        <p:nvSpPr>
          <p:cNvPr id="219" name="Google Shape;219;p12"/>
          <p:cNvSpPr/>
          <p:nvPr/>
        </p:nvSpPr>
        <p:spPr>
          <a:xfrm>
            <a:off x="457200" y="2560320"/>
            <a:ext cx="3931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S2 exceeds S1 at every K value.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Advantage widens at K = 30% (+2.7 pp).</a:t>
            </a:r>
            <a:endParaRPr b="0" i="0" sz="1100" u="none" cap="none" strike="noStrike">
              <a:solidFill>
                <a:schemeClr val="dk1"/>
              </a:solidFill>
              <a:latin typeface="Calibri"/>
              <a:ea typeface="Calibri"/>
              <a:cs typeface="Calibri"/>
              <a:sym typeface="Calibri"/>
            </a:endParaRPr>
          </a:p>
        </p:txBody>
      </p:sp>
      <p:sp>
        <p:nvSpPr>
          <p:cNvPr id="220" name="Google Shape;220;p12"/>
          <p:cNvSpPr/>
          <p:nvPr/>
        </p:nvSpPr>
        <p:spPr>
          <a:xfrm>
            <a:off x="4754880" y="822960"/>
            <a:ext cx="4114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Tier cap sensitivity (K = 20%)</a:t>
            </a:r>
            <a:endParaRPr b="0" i="0" sz="1400" u="none" cap="none" strike="noStrike">
              <a:solidFill>
                <a:schemeClr val="dk1"/>
              </a:solidFill>
              <a:latin typeface="Calibri"/>
              <a:ea typeface="Calibri"/>
              <a:cs typeface="Calibri"/>
              <a:sym typeface="Calibri"/>
            </a:endParaRPr>
          </a:p>
        </p:txBody>
      </p:sp>
      <p:graphicFrame>
        <p:nvGraphicFramePr>
          <p:cNvPr id="221" name="Google Shape;221;p12"/>
          <p:cNvGraphicFramePr/>
          <p:nvPr/>
        </p:nvGraphicFramePr>
        <p:xfrm>
          <a:off x="4754880" y="1188720"/>
          <a:ext cx="3000000" cy="3000000"/>
        </p:xfrm>
        <a:graphic>
          <a:graphicData uri="http://schemas.openxmlformats.org/drawingml/2006/table">
            <a:tbl>
              <a:tblPr>
                <a:noFill/>
                <a:tableStyleId>{58FDCEF9-4D71-4C96-B011-EAEA019F6FE5}</a:tableStyleId>
              </a:tblPr>
              <a:tblGrid>
                <a:gridCol w="731525"/>
                <a:gridCol w="914400"/>
                <a:gridCol w="914400"/>
                <a:gridCol w="914400"/>
              </a:tblGrid>
              <a:tr h="3200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Cap</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S2</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S3</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20%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87.</a:t>
                      </a:r>
                      <a:r>
                        <a:rPr lang="en-US" sz="1100">
                          <a:solidFill>
                            <a:srgbClr val="0F1B3D"/>
                          </a:solidFill>
                          <a:latin typeface="Calibri"/>
                          <a:ea typeface="Calibri"/>
                          <a:cs typeface="Calibri"/>
                          <a:sym typeface="Calibri"/>
                        </a:rPr>
                        <a:t>7</a:t>
                      </a:r>
                      <a:r>
                        <a:rPr lang="en-US" sz="1100" u="none" cap="none" strike="noStrike">
                          <a:solidFill>
                            <a:srgbClr val="0F1B3D"/>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88.7%</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40%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87.</a:t>
                      </a:r>
                      <a:r>
                        <a:rPr lang="en-US" sz="1100">
                          <a:solidFill>
                            <a:srgbClr val="0F1B3D"/>
                          </a:solidFill>
                          <a:latin typeface="Calibri"/>
                          <a:ea typeface="Calibri"/>
                          <a:cs typeface="Calibri"/>
                          <a:sym typeface="Calibri"/>
                        </a:rPr>
                        <a:t>7</a:t>
                      </a:r>
                      <a:r>
                        <a:rPr lang="en-US" sz="1100" u="none" cap="none" strike="noStrike">
                          <a:solidFill>
                            <a:srgbClr val="0F1B3D"/>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b="1" lang="en-US" sz="1100" u="none" cap="none" strike="noStrike">
                          <a:solidFill>
                            <a:srgbClr val="0F1B3D"/>
                          </a:solidFill>
                          <a:latin typeface="Calibri"/>
                          <a:ea typeface="Calibri"/>
                          <a:cs typeface="Calibri"/>
                          <a:sym typeface="Calibri"/>
                        </a:rPr>
                        <a:t>89.4%</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60%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87.</a:t>
                      </a:r>
                      <a:r>
                        <a:rPr lang="en-US" sz="1100">
                          <a:solidFill>
                            <a:srgbClr val="0F1B3D"/>
                          </a:solidFill>
                          <a:latin typeface="Calibri"/>
                          <a:ea typeface="Calibri"/>
                          <a:cs typeface="Calibri"/>
                          <a:sym typeface="Calibri"/>
                        </a:rPr>
                        <a:t>7</a:t>
                      </a:r>
                      <a:r>
                        <a:rPr lang="en-US" sz="1100" u="none" cap="none" strike="noStrike">
                          <a:solidFill>
                            <a:srgbClr val="0F1B3D"/>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b="1" lang="en-US" sz="1100" u="none" cap="none" strike="noStrike">
                          <a:solidFill>
                            <a:srgbClr val="0F1B3D"/>
                          </a:solidFill>
                          <a:latin typeface="Calibri"/>
                          <a:ea typeface="Calibri"/>
                          <a:cs typeface="Calibri"/>
                          <a:sym typeface="Calibri"/>
                        </a:rPr>
                        <a:t>89.4%</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100%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87.</a:t>
                      </a:r>
                      <a:r>
                        <a:rPr lang="en-US" sz="1100">
                          <a:solidFill>
                            <a:srgbClr val="0F1B3D"/>
                          </a:solidFill>
                          <a:latin typeface="Calibri"/>
                          <a:ea typeface="Calibri"/>
                          <a:cs typeface="Calibri"/>
                          <a:sym typeface="Calibri"/>
                        </a:rPr>
                        <a:t>7</a:t>
                      </a:r>
                      <a:r>
                        <a:rPr lang="en-US" sz="1100" u="none" cap="none" strike="noStrike">
                          <a:solidFill>
                            <a:srgbClr val="0F1B3D"/>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E8593C"/>
                        </a:buClr>
                        <a:buSzPts val="1100"/>
                        <a:buFont typeface="Calibri"/>
                        <a:buNone/>
                      </a:pPr>
                      <a:r>
                        <a:rPr b="1" lang="en-US" sz="1100" u="none" cap="none" strike="noStrike">
                          <a:solidFill>
                            <a:srgbClr val="E8593C"/>
                          </a:solidFill>
                          <a:latin typeface="Calibri"/>
                          <a:ea typeface="Calibri"/>
                          <a:cs typeface="Calibri"/>
                          <a:sym typeface="Calibri"/>
                        </a:rPr>
                        <a:t>86.8%</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r>
            </a:tbl>
          </a:graphicData>
        </a:graphic>
      </p:graphicFrame>
      <p:sp>
        <p:nvSpPr>
          <p:cNvPr id="222" name="Google Shape;222;p12"/>
          <p:cNvSpPr/>
          <p:nvPr/>
        </p:nvSpPr>
        <p:spPr>
          <a:xfrm>
            <a:off x="4754880" y="2834640"/>
            <a:ext cx="3931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93C"/>
              </a:buClr>
              <a:buSzPts val="1100"/>
              <a:buFont typeface="Calibri"/>
              <a:buNone/>
            </a:pPr>
            <a:r>
              <a:rPr b="1" i="0" lang="en-US" sz="1100" u="none" cap="none" strike="noStrike">
                <a:solidFill>
                  <a:srgbClr val="E8593C"/>
                </a:solidFill>
                <a:latin typeface="Calibri"/>
                <a:ea typeface="Calibri"/>
                <a:cs typeface="Calibri"/>
                <a:sym typeface="Calibri"/>
              </a:rPr>
              <a:t>At 100% uncapped: S2 falls below S1.</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593C"/>
              </a:buClr>
              <a:buSzPts val="1100"/>
              <a:buFont typeface="Calibri"/>
              <a:buNone/>
            </a:pPr>
            <a:r>
              <a:rPr b="1" i="0" lang="en-US" sz="1100" u="none" cap="none" strike="noStrike">
                <a:solidFill>
                  <a:srgbClr val="E8593C"/>
                </a:solidFill>
                <a:latin typeface="Calibri"/>
                <a:ea typeface="Calibri"/>
                <a:cs typeface="Calibri"/>
                <a:sym typeface="Calibri"/>
              </a:rPr>
              <a:t>Qualification without ML filtering hurts.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13"/>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Sensitivity: System 3 blend weight</a:t>
            </a:r>
            <a:endParaRPr b="0" i="0" sz="2800" u="none" cap="none" strike="noStrike">
              <a:solidFill>
                <a:schemeClr val="dk1"/>
              </a:solidFill>
              <a:latin typeface="Calibri"/>
              <a:ea typeface="Calibri"/>
              <a:cs typeface="Calibri"/>
              <a:sym typeface="Calibri"/>
            </a:endParaRPr>
          </a:p>
        </p:txBody>
      </p:sp>
      <p:sp>
        <p:nvSpPr>
          <p:cNvPr id="229" name="Google Shape;229;p13"/>
          <p:cNvSpPr/>
          <p:nvPr/>
        </p:nvSpPr>
        <p:spPr>
          <a:xfrm>
            <a:off x="731520" y="73152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Same P1 + P2 signals as System 2 — different mechanism</a:t>
            </a:r>
            <a:endParaRPr b="0" i="0" sz="1300" u="none" cap="none" strike="noStrike">
              <a:solidFill>
                <a:schemeClr val="dk1"/>
              </a:solidFill>
              <a:latin typeface="Calibri"/>
              <a:ea typeface="Calibri"/>
              <a:cs typeface="Calibri"/>
              <a:sym typeface="Calibri"/>
            </a:endParaRPr>
          </a:p>
        </p:txBody>
      </p:sp>
      <p:graphicFrame>
        <p:nvGraphicFramePr>
          <p:cNvPr id="230" name="Google Shape;230;p13"/>
          <p:cNvGraphicFramePr/>
          <p:nvPr/>
        </p:nvGraphicFramePr>
        <p:xfrm>
          <a:off x="1371600" y="1280160"/>
          <a:ext cx="3000000" cy="3000000"/>
        </p:xfrm>
        <a:graphic>
          <a:graphicData uri="http://schemas.openxmlformats.org/drawingml/2006/table">
            <a:tbl>
              <a:tblPr>
                <a:noFill/>
                <a:tableStyleId>{58FDCEF9-4D71-4C96-B011-EAEA019F6FE5}</a:tableStyleId>
              </a:tblPr>
              <a:tblGrid>
                <a:gridCol w="4114800"/>
                <a:gridCol w="2286000"/>
              </a:tblGrid>
              <a:tr h="365750">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Configuration</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Precision@K</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r>
              <a:tr h="365750">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80% ML + 20% signal</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87.7%</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365750">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90% ML + 10% signal (primary)</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88.1%</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65750">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95% ML + 5% signal</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88.1%</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411475">
                <a:tc>
                  <a:txBody>
                    <a:bodyPr/>
                    <a:lstStyle/>
                    <a:p>
                      <a:pPr indent="0" lvl="0" marL="0" marR="0" rtl="0" algn="ctr">
                        <a:spcBef>
                          <a:spcPts val="0"/>
                        </a:spcBef>
                        <a:spcAft>
                          <a:spcPts val="0"/>
                        </a:spcAft>
                        <a:buClr>
                          <a:srgbClr val="0F1B3D"/>
                        </a:buClr>
                        <a:buSzPts val="1300"/>
                        <a:buFont typeface="Calibri"/>
                        <a:buNone/>
                      </a:pPr>
                      <a:r>
                        <a:rPr b="1" lang="en-US" sz="1300" u="none" cap="none" strike="noStrike">
                          <a:solidFill>
                            <a:srgbClr val="0F1B3D"/>
                          </a:solidFill>
                          <a:latin typeface="Calibri"/>
                          <a:ea typeface="Calibri"/>
                          <a:cs typeface="Calibri"/>
                          <a:sym typeface="Calibri"/>
                        </a:rPr>
                        <a:t>System 2 — Tier allocation</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E8593C"/>
                        </a:buClr>
                        <a:buSzPts val="1300"/>
                        <a:buFont typeface="Calibri"/>
                        <a:buNone/>
                      </a:pPr>
                      <a:r>
                        <a:rPr b="1" lang="en-US" sz="1300" u="none" cap="none" strike="noStrike">
                          <a:solidFill>
                            <a:srgbClr val="E8593C"/>
                          </a:solidFill>
                          <a:latin typeface="Calibri"/>
                          <a:ea typeface="Calibri"/>
                          <a:cs typeface="Calibri"/>
                          <a:sym typeface="Calibri"/>
                        </a:rPr>
                        <a:t>89.4%</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r>
            </a:tbl>
          </a:graphicData>
        </a:graphic>
      </p:graphicFrame>
      <p:sp>
        <p:nvSpPr>
          <p:cNvPr id="231" name="Google Shape;231;p13"/>
          <p:cNvSpPr/>
          <p:nvPr/>
        </p:nvSpPr>
        <p:spPr>
          <a:xfrm>
            <a:off x="731520" y="338328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S3 improved modestly over the baseline at all blend weights </a:t>
            </a:r>
            <a:r>
              <a:rPr lang="en-US" sz="1300">
                <a:solidFill>
                  <a:srgbClr val="0F1B3D"/>
                </a:solidFill>
                <a:latin typeface="Calibri"/>
                <a:ea typeface="Calibri"/>
                <a:cs typeface="Calibri"/>
                <a:sym typeface="Calibri"/>
              </a:rPr>
              <a:t>-</a:t>
            </a:r>
            <a:r>
              <a:rPr b="0" i="0" lang="en-US" sz="1300" u="none" cap="none" strike="noStrike">
                <a:solidFill>
                  <a:srgbClr val="0F1B3D"/>
                </a:solidFill>
                <a:latin typeface="Calibri"/>
                <a:ea typeface="Calibri"/>
                <a:cs typeface="Calibri"/>
                <a:sym typeface="Calibri"/>
              </a:rPr>
              <a:t> the signal has value.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But S2's larger gain shows that explicit allocation is more effective than score adjustment.</a:t>
            </a:r>
            <a:endParaRPr b="0" i="0" sz="1300" u="none" cap="none" strike="noStrike">
              <a:solidFill>
                <a:schemeClr val="dk1"/>
              </a:solidFill>
              <a:latin typeface="Calibri"/>
              <a:ea typeface="Calibri"/>
              <a:cs typeface="Calibri"/>
              <a:sym typeface="Calibri"/>
            </a:endParaRPr>
          </a:p>
        </p:txBody>
      </p:sp>
      <p:sp>
        <p:nvSpPr>
          <p:cNvPr id="232" name="Google Shape;232;p13"/>
          <p:cNvSpPr/>
          <p:nvPr/>
        </p:nvSpPr>
        <p:spPr>
          <a:xfrm>
            <a:off x="731520" y="4114800"/>
            <a:ext cx="76809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System 2 changed allocation. System 3 changed scores.</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Allocation produced the larger gain.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14"/>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The mechanism</a:t>
            </a:r>
            <a:endParaRPr b="0" i="0" sz="2800" u="none" cap="none" strike="noStrike">
              <a:solidFill>
                <a:schemeClr val="dk1"/>
              </a:solidFill>
              <a:latin typeface="Calibri"/>
              <a:ea typeface="Calibri"/>
              <a:cs typeface="Calibri"/>
              <a:sym typeface="Calibri"/>
            </a:endParaRPr>
          </a:p>
        </p:txBody>
      </p:sp>
      <p:sp>
        <p:nvSpPr>
          <p:cNvPr id="239" name="Google Shape;239;p14"/>
          <p:cNvSpPr/>
          <p:nvPr/>
        </p:nvSpPr>
        <p:spPr>
          <a:xfrm>
            <a:off x="2286000" y="1005840"/>
            <a:ext cx="4572000" cy="731520"/>
          </a:xfrm>
          <a:prstGeom prst="roundRect">
            <a:avLst>
              <a:gd fmla="val 12500" name="adj"/>
            </a:avLst>
          </a:prstGeom>
          <a:solidFill>
            <a:srgbClr val="FFF0EB"/>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
          <p:cNvSpPr/>
          <p:nvPr/>
        </p:nvSpPr>
        <p:spPr>
          <a:xfrm>
            <a:off x="2286000" y="814063"/>
            <a:ext cx="4572000" cy="92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500">
                <a:solidFill>
                  <a:srgbClr val="E8593C"/>
                </a:solidFill>
                <a:latin typeface="Calibri"/>
                <a:ea typeface="Calibri"/>
                <a:cs typeface="Calibri"/>
                <a:sym typeface="Calibri"/>
              </a:rPr>
              <a:t>Machine learning</a:t>
            </a:r>
            <a:endParaRPr b="1" sz="1500">
              <a:solidFill>
                <a:srgbClr val="E8593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500">
                <a:solidFill>
                  <a:srgbClr val="E8593C"/>
                </a:solidFill>
                <a:latin typeface="Calibri"/>
                <a:ea typeface="Calibri"/>
                <a:cs typeface="Calibri"/>
                <a:sym typeface="Calibri"/>
              </a:rPr>
              <a:t>Predicts using information available at lead creation</a:t>
            </a:r>
            <a:endParaRPr b="0" i="0" sz="1500" u="none" cap="none" strike="noStrike">
              <a:solidFill>
                <a:schemeClr val="dk1"/>
              </a:solidFill>
              <a:latin typeface="Calibri"/>
              <a:ea typeface="Calibri"/>
              <a:cs typeface="Calibri"/>
              <a:sym typeface="Calibri"/>
            </a:endParaRPr>
          </a:p>
        </p:txBody>
      </p:sp>
      <p:cxnSp>
        <p:nvCxnSpPr>
          <p:cNvPr id="241" name="Google Shape;241;p14"/>
          <p:cNvCxnSpPr/>
          <p:nvPr/>
        </p:nvCxnSpPr>
        <p:spPr>
          <a:xfrm>
            <a:off x="4572000" y="3108960"/>
            <a:ext cx="0" cy="457200"/>
          </a:xfrm>
          <a:prstGeom prst="straightConnector1">
            <a:avLst/>
          </a:prstGeom>
          <a:noFill/>
          <a:ln cap="flat" cmpd="sng" w="25400">
            <a:solidFill>
              <a:srgbClr val="64748B"/>
            </a:solidFill>
            <a:prstDash val="solid"/>
            <a:round/>
            <a:headEnd len="sm" w="sm" type="none"/>
            <a:tailEnd len="sm" w="sm" type="none"/>
          </a:ln>
        </p:spPr>
      </p:cxnSp>
      <p:sp>
        <p:nvSpPr>
          <p:cNvPr id="242" name="Google Shape;242;p14"/>
          <p:cNvSpPr/>
          <p:nvPr/>
        </p:nvSpPr>
        <p:spPr>
          <a:xfrm>
            <a:off x="2286000" y="3566152"/>
            <a:ext cx="4572000" cy="585000"/>
          </a:xfrm>
          <a:prstGeom prst="roundRect">
            <a:avLst>
              <a:gd fmla="val 12500" name="adj"/>
            </a:avLst>
          </a:prstGeom>
          <a:solidFill>
            <a:srgbClr val="F0F5F0"/>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2286000" y="3566150"/>
            <a:ext cx="4572000" cy="486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500"/>
              <a:buFont typeface="Calibri"/>
              <a:buNone/>
            </a:pPr>
            <a:r>
              <a:rPr b="1" i="0" lang="en-US" sz="1500" u="none" cap="none" strike="noStrike">
                <a:solidFill>
                  <a:srgbClr val="2E7D32"/>
                </a:solidFill>
                <a:latin typeface="Calibri"/>
                <a:ea typeface="Calibri"/>
                <a:cs typeface="Calibri"/>
                <a:sym typeface="Calibri"/>
              </a:rPr>
              <a:t>Higher Precision@K</a:t>
            </a:r>
            <a:endParaRPr b="0" i="0" sz="1500" u="none" cap="none" strike="noStrike">
              <a:solidFill>
                <a:schemeClr val="dk1"/>
              </a:solidFill>
              <a:latin typeface="Calibri"/>
              <a:ea typeface="Calibri"/>
              <a:cs typeface="Calibri"/>
              <a:sym typeface="Calibri"/>
            </a:endParaRPr>
          </a:p>
        </p:txBody>
      </p:sp>
      <p:sp>
        <p:nvSpPr>
          <p:cNvPr id="244" name="Google Shape;244;p14"/>
          <p:cNvSpPr/>
          <p:nvPr/>
        </p:nvSpPr>
        <p:spPr>
          <a:xfrm>
            <a:off x="2286000" y="3858080"/>
            <a:ext cx="4572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Neither component works alone </a:t>
            </a:r>
            <a:r>
              <a:rPr lang="en-US" sz="1100">
                <a:solidFill>
                  <a:srgbClr val="64748B"/>
                </a:solidFill>
                <a:latin typeface="Calibri"/>
                <a:ea typeface="Calibri"/>
                <a:cs typeface="Calibri"/>
                <a:sym typeface="Calibri"/>
              </a:rPr>
              <a:t>-</a:t>
            </a:r>
            <a:r>
              <a:rPr b="0" i="0" lang="en-US" sz="1100" u="none" cap="none" strike="noStrike">
                <a:solidFill>
                  <a:srgbClr val="64748B"/>
                </a:solidFill>
                <a:latin typeface="Calibri"/>
                <a:ea typeface="Calibri"/>
                <a:cs typeface="Calibri"/>
                <a:sym typeface="Calibri"/>
              </a:rPr>
              <a:t> uncapped tier falls below baseline</a:t>
            </a:r>
            <a:endParaRPr b="0" i="0" sz="1100" u="none" cap="none" strike="noStrike">
              <a:solidFill>
                <a:schemeClr val="dk1"/>
              </a:solidFill>
              <a:latin typeface="Calibri"/>
              <a:ea typeface="Calibri"/>
              <a:cs typeface="Calibri"/>
              <a:sym typeface="Calibri"/>
            </a:endParaRPr>
          </a:p>
        </p:txBody>
      </p:sp>
      <p:cxnSp>
        <p:nvCxnSpPr>
          <p:cNvPr id="245" name="Google Shape;245;p14"/>
          <p:cNvCxnSpPr/>
          <p:nvPr/>
        </p:nvCxnSpPr>
        <p:spPr>
          <a:xfrm>
            <a:off x="4572000" y="1828800"/>
            <a:ext cx="0" cy="457200"/>
          </a:xfrm>
          <a:prstGeom prst="straightConnector1">
            <a:avLst/>
          </a:prstGeom>
          <a:noFill/>
          <a:ln cap="flat" cmpd="sng" w="25400">
            <a:solidFill>
              <a:srgbClr val="64748B"/>
            </a:solidFill>
            <a:prstDash val="solid"/>
            <a:round/>
            <a:headEnd len="sm" w="sm" type="none"/>
            <a:tailEnd len="sm" w="sm" type="none"/>
          </a:ln>
        </p:spPr>
      </p:cxnSp>
      <p:sp>
        <p:nvSpPr>
          <p:cNvPr id="246" name="Google Shape;246;p14"/>
          <p:cNvSpPr/>
          <p:nvPr/>
        </p:nvSpPr>
        <p:spPr>
          <a:xfrm>
            <a:off x="2286000" y="2286000"/>
            <a:ext cx="4572000" cy="731400"/>
          </a:xfrm>
          <a:prstGeom prst="roundRect">
            <a:avLst>
              <a:gd fmla="val 12500" name="adj"/>
            </a:avLst>
          </a:prstGeom>
          <a:solidFill>
            <a:srgbClr val="E8EDF5"/>
          </a:solidFill>
          <a:ln>
            <a:noFill/>
          </a:ln>
          <a:effectLst>
            <a:outerShdw blurRad="76200" rotWithShape="0" algn="bl" dir="27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2286000" y="2067975"/>
            <a:ext cx="4572000" cy="1041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500">
                <a:solidFill>
                  <a:srgbClr val="1E2761"/>
                </a:solidFill>
                <a:latin typeface="Calibri"/>
                <a:ea typeface="Calibri"/>
                <a:cs typeface="Calibri"/>
                <a:sym typeface="Calibri"/>
              </a:rPr>
              <a:t>Qualification acquires additional</a:t>
            </a:r>
            <a:endParaRPr b="1" sz="1500">
              <a:solidFill>
                <a:srgbClr val="1E276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US" sz="1500">
                <a:solidFill>
                  <a:srgbClr val="1E2761"/>
                </a:solidFill>
                <a:latin typeface="Calibri"/>
                <a:ea typeface="Calibri"/>
                <a:cs typeface="Calibri"/>
                <a:sym typeface="Calibri"/>
              </a:rPr>
              <a:t>commercial information through sales interaction</a:t>
            </a:r>
            <a:endParaRPr b="1" sz="1500">
              <a:solidFill>
                <a:srgbClr val="1E2761"/>
              </a:solidFill>
              <a:latin typeface="Calibri"/>
              <a:ea typeface="Calibri"/>
              <a:cs typeface="Calibri"/>
              <a:sym typeface="Calibri"/>
            </a:endParaRPr>
          </a:p>
        </p:txBody>
      </p:sp>
      <p:sp>
        <p:nvSpPr>
          <p:cNvPr id="248" name="Google Shape;248;p14"/>
          <p:cNvSpPr/>
          <p:nvPr/>
        </p:nvSpPr>
        <p:spPr>
          <a:xfrm>
            <a:off x="2286000" y="1463045"/>
            <a:ext cx="4572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Baseline cutoff: leads below 39.8% drop to overflow pool</a:t>
            </a:r>
            <a:endParaRPr b="0" i="0" sz="1100" u="none" cap="none" strike="noStrike">
              <a:solidFill>
                <a:schemeClr val="dk1"/>
              </a:solidFill>
              <a:latin typeface="Calibri"/>
              <a:ea typeface="Calibri"/>
              <a:cs typeface="Calibri"/>
              <a:sym typeface="Calibri"/>
            </a:endParaRPr>
          </a:p>
        </p:txBody>
      </p:sp>
      <p:sp>
        <p:nvSpPr>
          <p:cNvPr id="249" name="Google Shape;249;p14"/>
          <p:cNvSpPr/>
          <p:nvPr/>
        </p:nvSpPr>
        <p:spPr>
          <a:xfrm>
            <a:off x="2360525" y="2788985"/>
            <a:ext cx="4572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Worki</a:t>
            </a:r>
            <a:r>
              <a:rPr b="0" i="0" lang="en-US" sz="1100" u="none" cap="none" strike="noStrike">
                <a:solidFill>
                  <a:srgbClr val="64748B"/>
                </a:solidFill>
                <a:latin typeface="Calibri"/>
                <a:ea typeface="Calibri"/>
                <a:cs typeface="Calibri"/>
                <a:sym typeface="Calibri"/>
              </a:rPr>
              <a:t>ng</a:t>
            </a:r>
            <a:r>
              <a:rPr b="0" i="0" lang="en-US" sz="1100" u="none" cap="none" strike="noStrike">
                <a:solidFill>
                  <a:srgbClr val="64748B"/>
                </a:solidFill>
                <a:latin typeface="Calibri"/>
                <a:ea typeface="Calibri"/>
                <a:cs typeface="Calibri"/>
                <a:sym typeface="Calibri"/>
              </a:rPr>
              <a:t> Prof 91%  |  SMS Sent 59%  |  Baseline 39.8%</a:t>
            </a:r>
            <a:endParaRPr b="0" i="0" sz="1100" u="none" cap="none" strike="noStrike">
              <a:solidFill>
                <a:schemeClr val="dk1"/>
              </a:solidFill>
              <a:latin typeface="Calibri"/>
              <a:ea typeface="Calibri"/>
              <a:cs typeface="Calibri"/>
              <a:sym typeface="Calibri"/>
            </a:endParaRPr>
          </a:p>
        </p:txBody>
      </p:sp>
      <p:sp>
        <p:nvSpPr>
          <p:cNvPr id="250" name="Google Shape;250;p14"/>
          <p:cNvSpPr/>
          <p:nvPr/>
        </p:nvSpPr>
        <p:spPr>
          <a:xfrm>
            <a:off x="717425" y="4266425"/>
            <a:ext cx="8046600" cy="923400"/>
          </a:xfrm>
          <a:prstGeom prst="roundRect">
            <a:avLst>
              <a:gd fmla="val 11429" name="adj"/>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txBox="1"/>
          <p:nvPr/>
        </p:nvSpPr>
        <p:spPr>
          <a:xfrm>
            <a:off x="717425" y="4190525"/>
            <a:ext cx="7964700" cy="1075200"/>
          </a:xfrm>
          <a:prstGeom prst="rect">
            <a:avLst/>
          </a:prstGeom>
          <a:noFill/>
          <a:ln>
            <a:noFill/>
          </a:ln>
        </p:spPr>
        <p:txBody>
          <a:bodyPr anchorCtr="0" anchor="t" bIns="91425" lIns="91425" spcFirstLastPara="1" rIns="91425" wrap="square" tIns="91425">
            <a:spAutoFit/>
          </a:bodyPr>
          <a:lstStyle/>
          <a:p>
            <a:pPr indent="0" lvl="0" marL="381000" marR="381000" rtl="0" algn="ctr">
              <a:lnSpc>
                <a:spcPct val="115000"/>
              </a:lnSpc>
              <a:spcBef>
                <a:spcPts val="1200"/>
              </a:spcBef>
              <a:spcAft>
                <a:spcPts val="1200"/>
              </a:spcAft>
              <a:buNone/>
            </a:pPr>
            <a:r>
              <a:rPr lang="en-US" sz="1300">
                <a:solidFill>
                  <a:schemeClr val="lt1"/>
                </a:solidFill>
              </a:rPr>
              <a:t>Qualification adds value by uncovering commercially important information that was unavailable when the predictive model generated its score. When that information identifies high-conversion groups, scarce sales capacity can be redirected towards better opportunities while preserving machine-learning ranking within each group.</a:t>
            </a:r>
            <a:endParaRPr sz="13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56" name="Shape 256"/>
        <p:cNvGrpSpPr/>
        <p:nvPr/>
      </p:nvGrpSpPr>
      <p:grpSpPr>
        <a:xfrm>
          <a:off x="0" y="0"/>
          <a:ext cx="0" cy="0"/>
          <a:chOff x="0" y="0"/>
          <a:chExt cx="0" cy="0"/>
        </a:xfrm>
      </p:grpSpPr>
      <p:pic>
        <p:nvPicPr>
          <p:cNvPr descr="preencoded.png" id="257" name="Google Shape;257;p15"/>
          <p:cNvPicPr preferRelativeResize="0"/>
          <p:nvPr/>
        </p:nvPicPr>
        <p:blipFill rotWithShape="1">
          <a:blip r:embed="rId3">
            <a:alphaModFix/>
          </a:blip>
          <a:srcRect b="0" l="0" r="0" t="0"/>
          <a:stretch/>
        </p:blipFill>
        <p:spPr>
          <a:xfrm>
            <a:off x="731520" y="411480"/>
            <a:ext cx="365760" cy="365760"/>
          </a:xfrm>
          <a:prstGeom prst="rect">
            <a:avLst/>
          </a:prstGeom>
          <a:noFill/>
          <a:ln>
            <a:noFill/>
          </a:ln>
        </p:spPr>
      </p:pic>
      <p:sp>
        <p:nvSpPr>
          <p:cNvPr id="258" name="Google Shape;258;p15"/>
          <p:cNvSpPr/>
          <p:nvPr/>
        </p:nvSpPr>
        <p:spPr>
          <a:xfrm>
            <a:off x="1234440" y="36576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Key research decisions</a:t>
            </a:r>
            <a:endParaRPr b="0" i="0" sz="2800" u="none" cap="none" strike="noStrike">
              <a:solidFill>
                <a:schemeClr val="dk1"/>
              </a:solidFill>
              <a:latin typeface="Calibri"/>
              <a:ea typeface="Calibri"/>
              <a:cs typeface="Calibri"/>
              <a:sym typeface="Calibri"/>
            </a:endParaRPr>
          </a:p>
        </p:txBody>
      </p:sp>
      <p:sp>
        <p:nvSpPr>
          <p:cNvPr id="259" name="Google Shape;259;p15"/>
          <p:cNvSpPr/>
          <p:nvPr/>
        </p:nvSpPr>
        <p:spPr>
          <a:xfrm>
            <a:off x="731520" y="86868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400"/>
              <a:buFont typeface="Calibri"/>
              <a:buNone/>
            </a:pPr>
            <a:r>
              <a:rPr b="0" i="1" lang="en-US" sz="1400" u="none" cap="none" strike="noStrike">
                <a:solidFill>
                  <a:srgbClr val="CADCFC"/>
                </a:solidFill>
                <a:latin typeface="Calibri"/>
                <a:ea typeface="Calibri"/>
                <a:cs typeface="Calibri"/>
                <a:sym typeface="Calibri"/>
              </a:rPr>
              <a:t>How my thinking changed during the dissertation</a:t>
            </a:r>
            <a:endParaRPr b="0" i="0" sz="1400" u="none" cap="none" strike="noStrike">
              <a:solidFill>
                <a:schemeClr val="dk1"/>
              </a:solidFill>
              <a:latin typeface="Calibri"/>
              <a:ea typeface="Calibri"/>
              <a:cs typeface="Calibri"/>
              <a:sym typeface="Calibri"/>
            </a:endParaRPr>
          </a:p>
        </p:txBody>
      </p:sp>
      <p:sp>
        <p:nvSpPr>
          <p:cNvPr id="260" name="Google Shape;260;p15"/>
          <p:cNvSpPr/>
          <p:nvPr/>
        </p:nvSpPr>
        <p:spPr>
          <a:xfrm>
            <a:off x="731520" y="1371600"/>
            <a:ext cx="2468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I assumed...</a:t>
            </a:r>
            <a:endParaRPr b="0" i="0" sz="1200" u="none" cap="none" strike="noStrike">
              <a:solidFill>
                <a:schemeClr val="dk1"/>
              </a:solidFill>
              <a:latin typeface="Calibri"/>
              <a:ea typeface="Calibri"/>
              <a:cs typeface="Calibri"/>
              <a:sym typeface="Calibri"/>
            </a:endParaRPr>
          </a:p>
        </p:txBody>
      </p:sp>
      <p:sp>
        <p:nvSpPr>
          <p:cNvPr id="261" name="Google Shape;261;p15"/>
          <p:cNvSpPr/>
          <p:nvPr/>
        </p:nvSpPr>
        <p:spPr>
          <a:xfrm>
            <a:off x="3383280" y="137160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What happened...</a:t>
            </a:r>
            <a:endParaRPr b="0" i="0" sz="1200" u="none" cap="none" strike="noStrike">
              <a:solidFill>
                <a:schemeClr val="dk1"/>
              </a:solidFill>
              <a:latin typeface="Calibri"/>
              <a:ea typeface="Calibri"/>
              <a:cs typeface="Calibri"/>
              <a:sym typeface="Calibri"/>
            </a:endParaRPr>
          </a:p>
        </p:txBody>
      </p:sp>
      <p:sp>
        <p:nvSpPr>
          <p:cNvPr id="262" name="Google Shape;262;p15"/>
          <p:cNvSpPr/>
          <p:nvPr/>
        </p:nvSpPr>
        <p:spPr>
          <a:xfrm>
            <a:off x="6217920" y="1371600"/>
            <a:ext cx="2468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What I learned...</a:t>
            </a:r>
            <a:endParaRPr b="0" i="0" sz="1200" u="none" cap="none" strike="noStrike">
              <a:solidFill>
                <a:schemeClr val="dk1"/>
              </a:solidFill>
              <a:latin typeface="Calibri"/>
              <a:ea typeface="Calibri"/>
              <a:cs typeface="Calibri"/>
              <a:sym typeface="Calibri"/>
            </a:endParaRPr>
          </a:p>
        </p:txBody>
      </p:sp>
      <p:sp>
        <p:nvSpPr>
          <p:cNvPr id="263" name="Google Shape;263;p15"/>
          <p:cNvSpPr/>
          <p:nvPr/>
        </p:nvSpPr>
        <p:spPr>
          <a:xfrm>
            <a:off x="548640" y="1783080"/>
            <a:ext cx="8046720" cy="822960"/>
          </a:xfrm>
          <a:prstGeom prst="roundRect">
            <a:avLst>
              <a:gd fmla="val 8889" name="adj"/>
            </a:avLst>
          </a:prstGeom>
          <a:solidFill>
            <a:srgbClr val="2433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640080" y="2011680"/>
            <a:ext cx="320040" cy="32004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640080" y="2011680"/>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66" name="Google Shape;266;p15"/>
          <p:cNvSpPr/>
          <p:nvPr/>
        </p:nvSpPr>
        <p:spPr>
          <a:xfrm>
            <a:off x="1097280" y="187452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Qualification would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outperform scoring</a:t>
            </a:r>
            <a:endParaRPr b="0" i="0" sz="1200" u="none" cap="none" strike="noStrike">
              <a:solidFill>
                <a:schemeClr val="dk1"/>
              </a:solidFill>
              <a:latin typeface="Calibri"/>
              <a:ea typeface="Calibri"/>
              <a:cs typeface="Calibri"/>
              <a:sym typeface="Calibri"/>
            </a:endParaRPr>
          </a:p>
        </p:txBody>
      </p:sp>
      <p:sp>
        <p:nvSpPr>
          <p:cNvPr id="267" name="Google Shape;267;p15"/>
          <p:cNvSpPr/>
          <p:nvPr/>
        </p:nvSpPr>
        <p:spPr>
          <a:xfrm>
            <a:off x="3383280" y="1874520"/>
            <a:ext cx="26517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It only worked when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ML ranking was preserved</a:t>
            </a:r>
            <a:endParaRPr b="0" i="0" sz="1200" u="none" cap="none" strike="noStrike">
              <a:solidFill>
                <a:schemeClr val="dk1"/>
              </a:solidFill>
              <a:latin typeface="Calibri"/>
              <a:ea typeface="Calibri"/>
              <a:cs typeface="Calibri"/>
              <a:sym typeface="Calibri"/>
            </a:endParaRPr>
          </a:p>
        </p:txBody>
      </p:sp>
      <p:sp>
        <p:nvSpPr>
          <p:cNvPr id="268" name="Google Shape;268;p15"/>
          <p:cNvSpPr/>
          <p:nvPr/>
        </p:nvSpPr>
        <p:spPr>
          <a:xfrm>
            <a:off x="6217920" y="187452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The baseline cutoff is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not optional</a:t>
            </a:r>
            <a:r>
              <a:rPr b="1" lang="en-US" sz="1200">
                <a:solidFill>
                  <a:srgbClr val="E8593C"/>
                </a:solidFill>
                <a:latin typeface="Calibri"/>
                <a:ea typeface="Calibri"/>
                <a:cs typeface="Calibri"/>
                <a:sym typeface="Calibri"/>
              </a:rPr>
              <a:t>,</a:t>
            </a:r>
            <a:r>
              <a:rPr b="1" i="0" lang="en-US" sz="1200" u="none" cap="none" strike="noStrike">
                <a:solidFill>
                  <a:srgbClr val="E8593C"/>
                </a:solidFill>
                <a:latin typeface="Calibri"/>
                <a:ea typeface="Calibri"/>
                <a:cs typeface="Calibri"/>
                <a:sym typeface="Calibri"/>
              </a:rPr>
              <a:t> it is essential</a:t>
            </a:r>
            <a:endParaRPr b="0" i="0" sz="1200" u="none" cap="none" strike="noStrike">
              <a:solidFill>
                <a:schemeClr val="dk1"/>
              </a:solidFill>
              <a:latin typeface="Calibri"/>
              <a:ea typeface="Calibri"/>
              <a:cs typeface="Calibri"/>
              <a:sym typeface="Calibri"/>
            </a:endParaRPr>
          </a:p>
        </p:txBody>
      </p:sp>
      <p:sp>
        <p:nvSpPr>
          <p:cNvPr id="269" name="Google Shape;269;p15"/>
          <p:cNvSpPr/>
          <p:nvPr/>
        </p:nvSpPr>
        <p:spPr>
          <a:xfrm>
            <a:off x="548640" y="2788920"/>
            <a:ext cx="8046720" cy="822960"/>
          </a:xfrm>
          <a:prstGeom prst="roundRect">
            <a:avLst>
              <a:gd fmla="val 8889" name="adj"/>
            </a:avLst>
          </a:prstGeom>
          <a:solidFill>
            <a:srgbClr val="2433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640080" y="3017520"/>
            <a:ext cx="320040" cy="32004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p:nvPr/>
        </p:nvSpPr>
        <p:spPr>
          <a:xfrm>
            <a:off x="640080" y="3017520"/>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72" name="Google Shape;272;p15"/>
          <p:cNvSpPr/>
          <p:nvPr/>
        </p:nvSpPr>
        <p:spPr>
          <a:xfrm>
            <a:off x="1097280" y="288036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Any use of qualification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info should help</a:t>
            </a:r>
            <a:endParaRPr b="0" i="0" sz="1200" u="none" cap="none" strike="noStrike">
              <a:solidFill>
                <a:schemeClr val="dk1"/>
              </a:solidFill>
              <a:latin typeface="Calibri"/>
              <a:ea typeface="Calibri"/>
              <a:cs typeface="Calibri"/>
              <a:sym typeface="Calibri"/>
            </a:endParaRPr>
          </a:p>
        </p:txBody>
      </p:sp>
      <p:sp>
        <p:nvSpPr>
          <p:cNvPr id="273" name="Google Shape;273;p15"/>
          <p:cNvSpPr/>
          <p:nvPr/>
        </p:nvSpPr>
        <p:spPr>
          <a:xfrm>
            <a:off x="3383280" y="2880360"/>
            <a:ext cx="26517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System 3 produced only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a small improvement</a:t>
            </a:r>
            <a:endParaRPr b="0" i="0" sz="1200" u="none" cap="none" strike="noStrike">
              <a:solidFill>
                <a:schemeClr val="dk1"/>
              </a:solidFill>
              <a:latin typeface="Calibri"/>
              <a:ea typeface="Calibri"/>
              <a:cs typeface="Calibri"/>
              <a:sym typeface="Calibri"/>
            </a:endParaRPr>
          </a:p>
        </p:txBody>
      </p:sp>
      <p:sp>
        <p:nvSpPr>
          <p:cNvPr id="274" name="Google Shape;274;p15"/>
          <p:cNvSpPr/>
          <p:nvPr/>
        </p:nvSpPr>
        <p:spPr>
          <a:xfrm>
            <a:off x="6217920" y="288036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The mechanism matters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more than the signal</a:t>
            </a:r>
            <a:endParaRPr b="0" i="0" sz="1200" u="none" cap="none" strike="noStrike">
              <a:solidFill>
                <a:schemeClr val="dk1"/>
              </a:solidFill>
              <a:latin typeface="Calibri"/>
              <a:ea typeface="Calibri"/>
              <a:cs typeface="Calibri"/>
              <a:sym typeface="Calibri"/>
            </a:endParaRPr>
          </a:p>
        </p:txBody>
      </p:sp>
      <p:sp>
        <p:nvSpPr>
          <p:cNvPr id="275" name="Google Shape;275;p15"/>
          <p:cNvSpPr/>
          <p:nvPr/>
        </p:nvSpPr>
        <p:spPr>
          <a:xfrm>
            <a:off x="548640" y="3794760"/>
            <a:ext cx="8046720" cy="822960"/>
          </a:xfrm>
          <a:prstGeom prst="roundRect">
            <a:avLst>
              <a:gd fmla="val 8889" name="adj"/>
            </a:avLst>
          </a:prstGeom>
          <a:solidFill>
            <a:srgbClr val="2433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640080" y="4023360"/>
            <a:ext cx="320040" cy="32004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5"/>
          <p:cNvSpPr/>
          <p:nvPr/>
        </p:nvSpPr>
        <p:spPr>
          <a:xfrm>
            <a:off x="640080" y="40233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78" name="Google Shape;278;p15"/>
          <p:cNvSpPr/>
          <p:nvPr/>
        </p:nvSpPr>
        <p:spPr>
          <a:xfrm>
            <a:off x="1097280" y="388620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Qualification should always override ML</a:t>
            </a:r>
            <a:endParaRPr b="0" i="0" sz="1200" u="none" cap="none" strike="noStrike">
              <a:solidFill>
                <a:schemeClr val="dk1"/>
              </a:solidFill>
              <a:latin typeface="Calibri"/>
              <a:ea typeface="Calibri"/>
              <a:cs typeface="Calibri"/>
              <a:sym typeface="Calibri"/>
            </a:endParaRPr>
          </a:p>
        </p:txBody>
      </p:sp>
      <p:sp>
        <p:nvSpPr>
          <p:cNvPr id="279" name="Google Shape;279;p15"/>
          <p:cNvSpPr/>
          <p:nvPr/>
        </p:nvSpPr>
        <p:spPr>
          <a:xfrm>
            <a:off x="3383280" y="3886200"/>
            <a:ext cx="2651760" cy="64008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lang="en-US" sz="1200">
                <a:solidFill>
                  <a:srgbClr val="FFFFFF"/>
                </a:solidFill>
                <a:latin typeface="Calibri"/>
                <a:ea typeface="Calibri"/>
                <a:cs typeface="Calibri"/>
                <a:sym typeface="Calibri"/>
              </a:rPr>
              <a:t>Qualification only helped when genuinely new information appeared</a:t>
            </a:r>
            <a:endParaRPr b="0" i="0" sz="1200" u="none" cap="none" strike="noStrike">
              <a:solidFill>
                <a:schemeClr val="dk1"/>
              </a:solidFill>
              <a:latin typeface="Calibri"/>
              <a:ea typeface="Calibri"/>
              <a:cs typeface="Calibri"/>
              <a:sym typeface="Calibri"/>
            </a:endParaRPr>
          </a:p>
        </p:txBody>
      </p:sp>
      <p:sp>
        <p:nvSpPr>
          <p:cNvPr id="280" name="Google Shape;280;p15"/>
          <p:cNvSpPr/>
          <p:nvPr/>
        </p:nvSpPr>
        <p:spPr>
          <a:xfrm>
            <a:off x="6217920" y="3886200"/>
            <a:ext cx="219456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200">
                <a:solidFill>
                  <a:srgbClr val="E8593C"/>
                </a:solidFill>
                <a:latin typeface="Calibri"/>
                <a:ea typeface="Calibri"/>
                <a:cs typeface="Calibri"/>
                <a:sym typeface="Calibri"/>
              </a:rPr>
              <a:t>Qualification creates value</a:t>
            </a:r>
            <a:endParaRPr b="1" sz="1200">
              <a:solidFill>
                <a:srgbClr val="E8593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200">
                <a:solidFill>
                  <a:srgbClr val="E8593C"/>
                </a:solidFill>
                <a:latin typeface="Calibri"/>
                <a:ea typeface="Calibri"/>
                <a:cs typeface="Calibri"/>
                <a:sym typeface="Calibri"/>
              </a:rPr>
              <a:t>by acquiring genuinely new</a:t>
            </a:r>
            <a:endParaRPr b="1" sz="1200">
              <a:solidFill>
                <a:srgbClr val="E8593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200">
                <a:solidFill>
                  <a:srgbClr val="E8593C"/>
                </a:solidFill>
                <a:latin typeface="Calibri"/>
                <a:ea typeface="Calibri"/>
                <a:cs typeface="Calibri"/>
                <a:sym typeface="Calibri"/>
              </a:rPr>
              <a:t>commercial information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85" name="Shape 285"/>
        <p:cNvGrpSpPr/>
        <p:nvPr/>
      </p:nvGrpSpPr>
      <p:grpSpPr>
        <a:xfrm>
          <a:off x="0" y="0"/>
          <a:ext cx="0" cy="0"/>
          <a:chOff x="0" y="0"/>
          <a:chExt cx="0" cy="0"/>
        </a:xfrm>
      </p:grpSpPr>
      <p:pic>
        <p:nvPicPr>
          <p:cNvPr descr="preencoded.png" id="286" name="Google Shape;286;p16"/>
          <p:cNvPicPr preferRelativeResize="0"/>
          <p:nvPr/>
        </p:nvPicPr>
        <p:blipFill rotWithShape="1">
          <a:blip r:embed="rId3">
            <a:alphaModFix/>
          </a:blip>
          <a:srcRect b="0" l="0" r="0" t="0"/>
          <a:stretch/>
        </p:blipFill>
        <p:spPr>
          <a:xfrm>
            <a:off x="731520" y="411480"/>
            <a:ext cx="365760" cy="365760"/>
          </a:xfrm>
          <a:prstGeom prst="rect">
            <a:avLst/>
          </a:prstGeom>
          <a:noFill/>
          <a:ln>
            <a:noFill/>
          </a:ln>
        </p:spPr>
      </p:pic>
      <p:sp>
        <p:nvSpPr>
          <p:cNvPr id="287" name="Google Shape;287;p16"/>
          <p:cNvSpPr/>
          <p:nvPr/>
        </p:nvSpPr>
        <p:spPr>
          <a:xfrm>
            <a:off x="1234440" y="36576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Conclusion</a:t>
            </a:r>
            <a:endParaRPr b="0" i="0" sz="2800" u="none" cap="none" strike="noStrike">
              <a:solidFill>
                <a:schemeClr val="dk1"/>
              </a:solidFill>
              <a:latin typeface="Calibri"/>
              <a:ea typeface="Calibri"/>
              <a:cs typeface="Calibri"/>
              <a:sym typeface="Calibri"/>
            </a:endParaRPr>
          </a:p>
        </p:txBody>
      </p:sp>
      <p:sp>
        <p:nvSpPr>
          <p:cNvPr id="288" name="Google Shape;288;p16"/>
          <p:cNvSpPr/>
          <p:nvPr/>
        </p:nvSpPr>
        <p:spPr>
          <a:xfrm>
            <a:off x="731458" y="1034300"/>
            <a:ext cx="201300" cy="20130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1097280" y="822960"/>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 qualification layer can improve lead selection beyond predictive scoring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alone — when it introduces information unavailable at the point of scoring</a:t>
            </a:r>
            <a:endParaRPr b="0" i="0" sz="1300" u="none" cap="none" strike="noStrike">
              <a:solidFill>
                <a:schemeClr val="dk1"/>
              </a:solidFill>
              <a:latin typeface="Calibri"/>
              <a:ea typeface="Calibri"/>
              <a:cs typeface="Calibri"/>
              <a:sym typeface="Calibri"/>
            </a:endParaRPr>
          </a:p>
        </p:txBody>
      </p:sp>
      <p:sp>
        <p:nvSpPr>
          <p:cNvPr id="290" name="Google Shape;290;p16"/>
          <p:cNvSpPr/>
          <p:nvPr/>
        </p:nvSpPr>
        <p:spPr>
          <a:xfrm>
            <a:off x="731458" y="1751003"/>
            <a:ext cx="201300" cy="20130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
          <p:cNvSpPr/>
          <p:nvPr/>
        </p:nvSpPr>
        <p:spPr>
          <a:xfrm>
            <a:off x="1063330" y="1508750"/>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improvement is directional (+1.7 pp, 5 additional converters) and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consistent across capacity assumptions, though not statistically conclusive</a:t>
            </a:r>
            <a:endParaRPr b="0" i="0" sz="1300" u="none" cap="none" strike="noStrike">
              <a:solidFill>
                <a:schemeClr val="dk1"/>
              </a:solidFill>
              <a:latin typeface="Calibri"/>
              <a:ea typeface="Calibri"/>
              <a:cs typeface="Calibri"/>
              <a:sym typeface="Calibri"/>
            </a:endParaRPr>
          </a:p>
        </p:txBody>
      </p:sp>
      <p:sp>
        <p:nvSpPr>
          <p:cNvPr id="292" name="Google Shape;292;p16"/>
          <p:cNvSpPr/>
          <p:nvPr/>
        </p:nvSpPr>
        <p:spPr>
          <a:xfrm>
            <a:off x="731508" y="2425730"/>
            <a:ext cx="201300" cy="20130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
          <p:cNvSpPr/>
          <p:nvPr/>
        </p:nvSpPr>
        <p:spPr>
          <a:xfrm>
            <a:off x="1063330" y="2183465"/>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Both the signal and the mechanism matter — S3 shows the signal has value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(+0.3 pp), but S2 shows allocation produces the larger gain (+1.7 pp)</a:t>
            </a:r>
            <a:endParaRPr b="0" i="0" sz="1300" u="none" cap="none" strike="noStrike">
              <a:solidFill>
                <a:schemeClr val="dk1"/>
              </a:solidFill>
              <a:latin typeface="Calibri"/>
              <a:ea typeface="Calibri"/>
              <a:cs typeface="Calibri"/>
              <a:sym typeface="Calibri"/>
            </a:endParaRPr>
          </a:p>
        </p:txBody>
      </p:sp>
      <p:sp>
        <p:nvSpPr>
          <p:cNvPr id="294" name="Google Shape;294;p16"/>
          <p:cNvSpPr/>
          <p:nvPr/>
        </p:nvSpPr>
        <p:spPr>
          <a:xfrm>
            <a:off x="731558" y="3204383"/>
            <a:ext cx="201300" cy="20130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1063330" y="2962080"/>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This provides empirical support for the industry practice of layering</a:t>
            </a:r>
            <a:r>
              <a:rPr lang="en-US" sz="1300">
                <a:solidFill>
                  <a:schemeClr val="dk1"/>
                </a:solidFill>
                <a:latin typeface="Calibri"/>
                <a:ea typeface="Calibri"/>
                <a:cs typeface="Calibri"/>
                <a:sym typeface="Calibri"/>
              </a:rPr>
              <a:t> </a:t>
            </a:r>
            <a:r>
              <a:rPr b="0" i="0" lang="en-US" sz="1300" u="none" cap="none" strike="noStrike">
                <a:solidFill>
                  <a:srgbClr val="FFFFFF"/>
                </a:solidFill>
                <a:latin typeface="Calibri"/>
                <a:ea typeface="Calibri"/>
                <a:cs typeface="Calibri"/>
                <a:sym typeface="Calibri"/>
              </a:rPr>
              <a:t>qualification policies on top of lead scoring systems. Where no meaningful new information is obtained during qualification, organisations should generally retain the original machine-learning ranking rather than override it.</a:t>
            </a:r>
            <a:endParaRPr b="0" i="0" sz="1300" u="none" cap="none" strike="noStrike">
              <a:solidFill>
                <a:schemeClr val="dk1"/>
              </a:solidFill>
              <a:latin typeface="Calibri"/>
              <a:ea typeface="Calibri"/>
              <a:cs typeface="Calibri"/>
              <a:sym typeface="Calibri"/>
            </a:endParaRPr>
          </a:p>
        </p:txBody>
      </p:sp>
      <p:sp>
        <p:nvSpPr>
          <p:cNvPr id="296" name="Google Shape;296;p16"/>
          <p:cNvSpPr/>
          <p:nvPr/>
        </p:nvSpPr>
        <p:spPr>
          <a:xfrm>
            <a:off x="548700" y="3817150"/>
            <a:ext cx="8046600" cy="1326300"/>
          </a:xfrm>
          <a:prstGeom prst="roundRect">
            <a:avLst>
              <a:gd fmla="val 11429" name="adj"/>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731550" y="4069074"/>
            <a:ext cx="7680900" cy="955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500">
                <a:solidFill>
                  <a:srgbClr val="FFFFFF"/>
                </a:solidFill>
                <a:latin typeface="Calibri"/>
                <a:ea typeface="Calibri"/>
                <a:cs typeface="Calibri"/>
                <a:sym typeface="Calibri"/>
              </a:rPr>
              <a:t>The contribution is not that qualification replaces machine learning. </a:t>
            </a:r>
            <a:endParaRPr b="1" sz="1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US" sz="1500">
                <a:solidFill>
                  <a:srgbClr val="FFFFFF"/>
                </a:solidFill>
                <a:latin typeface="Calibri"/>
                <a:ea typeface="Calibri"/>
                <a:cs typeface="Calibri"/>
                <a:sym typeface="Calibri"/>
              </a:rPr>
              <a:t>It shows that predictive scoring and qualification perform complementary roles:</a:t>
            </a:r>
            <a:endParaRPr b="1" sz="1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US" sz="1500">
                <a:solidFill>
                  <a:srgbClr val="FFFFFF"/>
                </a:solidFill>
                <a:latin typeface="Calibri"/>
                <a:ea typeface="Calibri"/>
                <a:cs typeface="Calibri"/>
                <a:sym typeface="Calibri"/>
              </a:rPr>
              <a:t>• ML predicts from existing information.</a:t>
            </a:r>
            <a:endParaRPr b="1" sz="1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US" sz="1500">
                <a:solidFill>
                  <a:srgbClr val="FFFFFF"/>
                </a:solidFill>
                <a:latin typeface="Calibri"/>
                <a:ea typeface="Calibri"/>
                <a:cs typeface="Calibri"/>
                <a:sym typeface="Calibri"/>
              </a:rPr>
              <a:t>• Qualification acquires new information.</a:t>
            </a:r>
            <a:endParaRPr b="1" sz="1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US" sz="1500">
                <a:solidFill>
                  <a:srgbClr val="FFFFFF"/>
                </a:solidFill>
                <a:latin typeface="Calibri"/>
                <a:ea typeface="Calibri"/>
                <a:cs typeface="Calibri"/>
                <a:sym typeface="Calibri"/>
              </a:rPr>
              <a:t>• Together they improve constrained lead selection.</a:t>
            </a:r>
            <a:endParaRPr b="1" sz="1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b="1" sz="1500">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pic>
        <p:nvPicPr>
          <p:cNvPr descr="preencoded.png" id="303" name="Google Shape;303;p17"/>
          <p:cNvPicPr preferRelativeResize="0"/>
          <p:nvPr/>
        </p:nvPicPr>
        <p:blipFill rotWithShape="1">
          <a:blip r:embed="rId3">
            <a:alphaModFix/>
          </a:blip>
          <a:srcRect b="0" l="0" r="0" t="0"/>
          <a:stretch/>
        </p:blipFill>
        <p:spPr>
          <a:xfrm>
            <a:off x="731520" y="320040"/>
            <a:ext cx="365760" cy="365760"/>
          </a:xfrm>
          <a:prstGeom prst="rect">
            <a:avLst/>
          </a:prstGeom>
          <a:noFill/>
          <a:ln>
            <a:noFill/>
          </a:ln>
        </p:spPr>
      </p:pic>
      <p:sp>
        <p:nvSpPr>
          <p:cNvPr id="304" name="Google Shape;304;p17"/>
          <p:cNvSpPr/>
          <p:nvPr/>
        </p:nvSpPr>
        <p:spPr>
          <a:xfrm>
            <a:off x="1234440" y="27432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Limitations and future work</a:t>
            </a:r>
            <a:endParaRPr b="0" i="0" sz="2800" u="none" cap="none" strike="noStrike">
              <a:solidFill>
                <a:schemeClr val="dk1"/>
              </a:solidFill>
              <a:latin typeface="Calibri"/>
              <a:ea typeface="Calibri"/>
              <a:cs typeface="Calibri"/>
              <a:sym typeface="Calibri"/>
            </a:endParaRPr>
          </a:p>
        </p:txBody>
      </p:sp>
      <p:sp>
        <p:nvSpPr>
          <p:cNvPr id="305" name="Google Shape;305;p17"/>
          <p:cNvSpPr/>
          <p:nvPr/>
        </p:nvSpPr>
        <p:spPr>
          <a:xfrm>
            <a:off x="731520" y="91440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93C"/>
              </a:buClr>
              <a:buSzPts val="1600"/>
              <a:buFont typeface="Calibri"/>
              <a:buNone/>
            </a:pPr>
            <a:r>
              <a:rPr b="1" i="0" lang="en-US" sz="1600" u="none" cap="none" strike="noStrike">
                <a:solidFill>
                  <a:srgbClr val="E8593C"/>
                </a:solidFill>
                <a:latin typeface="Calibri"/>
                <a:ea typeface="Calibri"/>
                <a:cs typeface="Calibri"/>
                <a:sym typeface="Calibri"/>
              </a:rPr>
              <a:t>Major limitations</a:t>
            </a:r>
            <a:endParaRPr b="0" i="0" sz="1600" u="none" cap="none" strike="noStrike">
              <a:solidFill>
                <a:schemeClr val="dk1"/>
              </a:solidFill>
              <a:latin typeface="Calibri"/>
              <a:ea typeface="Calibri"/>
              <a:cs typeface="Calibri"/>
              <a:sym typeface="Calibri"/>
            </a:endParaRPr>
          </a:p>
        </p:txBody>
      </p:sp>
      <p:sp>
        <p:nvSpPr>
          <p:cNvPr id="306" name="Google Shape;306;p17"/>
          <p:cNvSpPr/>
          <p:nvPr/>
        </p:nvSpPr>
        <p:spPr>
          <a:xfrm>
            <a:off x="731520" y="1280160"/>
            <a:ext cx="3840480" cy="12801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B2C dataset </a:t>
            </a:r>
            <a:r>
              <a:rPr lang="en-US" sz="1200">
                <a:solidFill>
                  <a:srgbClr val="0F1B3D"/>
                </a:solidFill>
                <a:latin typeface="Calibri"/>
                <a:ea typeface="Calibri"/>
                <a:cs typeface="Calibri"/>
                <a:sym typeface="Calibri"/>
              </a:rPr>
              <a:t>-</a:t>
            </a:r>
            <a:r>
              <a:rPr b="0" i="0" lang="en-US" sz="1200" u="none" cap="none" strike="noStrike">
                <a:solidFill>
                  <a:srgbClr val="0F1B3D"/>
                </a:solidFill>
                <a:latin typeface="Calibri"/>
                <a:ea typeface="Calibri"/>
                <a:cs typeface="Calibri"/>
                <a:sym typeface="Calibri"/>
              </a:rPr>
              <a:t> BANT dimensions are</a:t>
            </a:r>
            <a:r>
              <a:rPr lang="en-US" sz="1200">
                <a:solidFill>
                  <a:schemeClr val="dk1"/>
                </a:solidFill>
                <a:latin typeface="Calibri"/>
                <a:ea typeface="Calibri"/>
                <a:cs typeface="Calibri"/>
                <a:sym typeface="Calibri"/>
              </a:rPr>
              <a:t> </a:t>
            </a:r>
            <a:r>
              <a:rPr b="0" i="0" lang="en-US" sz="1200" u="none" cap="none" strike="noStrike">
                <a:solidFill>
                  <a:srgbClr val="0F1B3D"/>
                </a:solidFill>
                <a:latin typeface="Calibri"/>
                <a:ea typeface="Calibri"/>
                <a:cs typeface="Calibri"/>
                <a:sym typeface="Calibri"/>
              </a:rPr>
              <a:t>proxied, not directly measured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Directional result </a:t>
            </a:r>
            <a:r>
              <a:rPr lang="en-US" sz="1200">
                <a:solidFill>
                  <a:srgbClr val="0F1B3D"/>
                </a:solidFill>
                <a:latin typeface="Calibri"/>
                <a:ea typeface="Calibri"/>
                <a:cs typeface="Calibri"/>
                <a:sym typeface="Calibri"/>
              </a:rPr>
              <a:t>-</a:t>
            </a:r>
            <a:r>
              <a:rPr b="0" i="0" lang="en-US" sz="1200" u="none" cap="none" strike="noStrike">
                <a:solidFill>
                  <a:srgbClr val="0F1B3D"/>
                </a:solidFill>
                <a:latin typeface="Calibri"/>
                <a:ea typeface="Calibri"/>
                <a:cs typeface="Calibri"/>
                <a:sym typeface="Calibri"/>
              </a:rPr>
              <a:t> bootstrap CIs overlap</a:t>
            </a:r>
            <a:r>
              <a:rPr lang="en-US" sz="1200">
                <a:solidFill>
                  <a:schemeClr val="dk1"/>
                </a:solidFill>
                <a:latin typeface="Calibri"/>
                <a:ea typeface="Calibri"/>
                <a:cs typeface="Calibri"/>
                <a:sym typeface="Calibri"/>
              </a:rPr>
              <a:t> </a:t>
            </a:r>
            <a:r>
              <a:rPr b="0" i="0" lang="en-US" sz="1200" u="none" cap="none" strike="noStrike">
                <a:solidFill>
                  <a:srgbClr val="0F1B3D"/>
                </a:solidFill>
                <a:latin typeface="Calibri"/>
                <a:ea typeface="Calibri"/>
                <a:cs typeface="Calibri"/>
                <a:sym typeface="Calibri"/>
              </a:rPr>
              <a:t>at 95% confidence</a:t>
            </a:r>
            <a:endParaRPr b="0" i="0" sz="1200" u="none" cap="none" strike="noStrike">
              <a:solidFill>
                <a:schemeClr val="dk1"/>
              </a:solidFill>
              <a:latin typeface="Calibri"/>
              <a:ea typeface="Calibri"/>
              <a:cs typeface="Calibri"/>
              <a:sym typeface="Calibri"/>
            </a:endParaRPr>
          </a:p>
        </p:txBody>
      </p:sp>
      <p:sp>
        <p:nvSpPr>
          <p:cNvPr id="307" name="Google Shape;307;p17"/>
          <p:cNvSpPr/>
          <p:nvPr/>
        </p:nvSpPr>
        <p:spPr>
          <a:xfrm>
            <a:off x="731520" y="256032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Calibri"/>
              <a:buNone/>
            </a:pPr>
            <a:r>
              <a:rPr b="1" i="0" lang="en-US" sz="1400" u="none" cap="none" strike="noStrike">
                <a:solidFill>
                  <a:srgbClr val="64748B"/>
                </a:solidFill>
                <a:latin typeface="Calibri"/>
                <a:ea typeface="Calibri"/>
                <a:cs typeface="Calibri"/>
                <a:sym typeface="Calibri"/>
              </a:rPr>
              <a:t>Minor limitations</a:t>
            </a:r>
            <a:endParaRPr b="0" i="0" sz="1400" u="none" cap="none" strike="noStrike">
              <a:solidFill>
                <a:schemeClr val="dk1"/>
              </a:solidFill>
              <a:latin typeface="Calibri"/>
              <a:ea typeface="Calibri"/>
              <a:cs typeface="Calibri"/>
              <a:sym typeface="Calibri"/>
            </a:endParaRPr>
          </a:p>
        </p:txBody>
      </p:sp>
      <p:sp>
        <p:nvSpPr>
          <p:cNvPr id="308" name="Google Shape;308;p17"/>
          <p:cNvSpPr/>
          <p:nvPr/>
        </p:nvSpPr>
        <p:spPr>
          <a:xfrm>
            <a:off x="731520" y="2880360"/>
            <a:ext cx="3840480" cy="914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Partial signal separation (proxy leakage)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No field-level timestamps in dataset</a:t>
            </a:r>
            <a:endParaRPr b="0" i="0" sz="1200" u="none" cap="none" strike="noStrike">
              <a:solidFill>
                <a:schemeClr val="dk1"/>
              </a:solidFill>
              <a:latin typeface="Calibri"/>
              <a:ea typeface="Calibri"/>
              <a:cs typeface="Calibri"/>
              <a:sym typeface="Calibri"/>
            </a:endParaRPr>
          </a:p>
        </p:txBody>
      </p:sp>
      <p:sp>
        <p:nvSpPr>
          <p:cNvPr id="309" name="Google Shape;309;p17"/>
          <p:cNvSpPr/>
          <p:nvPr/>
        </p:nvSpPr>
        <p:spPr>
          <a:xfrm>
            <a:off x="4754880" y="91440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Calibri"/>
                <a:ea typeface="Calibri"/>
                <a:cs typeface="Calibri"/>
                <a:sym typeface="Calibri"/>
              </a:rPr>
              <a:t>Future work</a:t>
            </a:r>
            <a:endParaRPr b="0" i="0" sz="1600" u="none" cap="none" strike="noStrike">
              <a:solidFill>
                <a:schemeClr val="dk1"/>
              </a:solidFill>
              <a:latin typeface="Calibri"/>
              <a:ea typeface="Calibri"/>
              <a:cs typeface="Calibri"/>
              <a:sym typeface="Calibri"/>
            </a:endParaRPr>
          </a:p>
        </p:txBody>
      </p:sp>
      <p:sp>
        <p:nvSpPr>
          <p:cNvPr id="310" name="Google Shape;310;p17"/>
          <p:cNvSpPr/>
          <p:nvPr/>
        </p:nvSpPr>
        <p:spPr>
          <a:xfrm>
            <a:off x="4754880" y="1280160"/>
            <a:ext cx="3840480" cy="2926080"/>
          </a:xfrm>
          <a:prstGeom prst="rect">
            <a:avLst/>
          </a:prstGeom>
          <a:noFill/>
          <a:ln>
            <a:noFill/>
          </a:ln>
        </p:spPr>
        <p:txBody>
          <a:bodyPr anchorCtr="0" anchor="ctr" bIns="45700" lIns="114300" spcFirstLastPara="1" rIns="91425" wrap="square" tIns="45700">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419100" lvl="0" marL="342900" rtl="0" algn="l">
              <a:spcBef>
                <a:spcPts val="0"/>
              </a:spcBef>
              <a:spcAft>
                <a:spcPts val="0"/>
              </a:spcAft>
              <a:buClr>
                <a:srgbClr val="0F1B3D"/>
              </a:buClr>
              <a:buSzPts val="1200"/>
              <a:buFont typeface="Calibri"/>
              <a:buChar char="•"/>
            </a:pPr>
            <a:r>
              <a:rPr lang="en-US" sz="1200">
                <a:solidFill>
                  <a:srgbClr val="0F1B3D"/>
                </a:solidFill>
                <a:latin typeface="Calibri"/>
                <a:ea typeface="Calibri"/>
                <a:cs typeface="Calibri"/>
                <a:sym typeface="Calibri"/>
              </a:rPr>
              <a:t>Qualification should be studied separately from prediction.</a:t>
            </a:r>
            <a:endParaRPr sz="1200">
              <a:solidFill>
                <a:srgbClr val="0F1B3D"/>
              </a:solidFill>
              <a:latin typeface="Calibri"/>
              <a:ea typeface="Calibri"/>
              <a:cs typeface="Calibri"/>
              <a:sym typeface="Calibri"/>
            </a:endParaRPr>
          </a:p>
          <a:p>
            <a:pPr indent="-419100" lvl="0" marL="342900" rtl="0" algn="l">
              <a:spcBef>
                <a:spcPts val="0"/>
              </a:spcBef>
              <a:spcAft>
                <a:spcPts val="0"/>
              </a:spcAft>
              <a:buClr>
                <a:srgbClr val="0F1B3D"/>
              </a:buClr>
              <a:buSzPts val="1200"/>
              <a:buFont typeface="Calibri"/>
              <a:buChar char="•"/>
            </a:pPr>
            <a:r>
              <a:rPr lang="en-US" sz="1200">
                <a:solidFill>
                  <a:srgbClr val="0F1B3D"/>
                </a:solidFill>
                <a:latin typeface="Calibri"/>
                <a:ea typeface="Calibri"/>
                <a:cs typeface="Calibri"/>
                <a:sym typeface="Calibri"/>
              </a:rPr>
              <a:t>Lead selection is both a prediction and a constrained decision problem.</a:t>
            </a:r>
            <a:endParaRPr sz="1200">
              <a:solidFill>
                <a:srgbClr val="0F1B3D"/>
              </a:solidFill>
              <a:latin typeface="Calibri"/>
              <a:ea typeface="Calibri"/>
              <a:cs typeface="Calibri"/>
              <a:sym typeface="Calibri"/>
            </a:endParaRPr>
          </a:p>
          <a:p>
            <a:pPr indent="-419100" lvl="0" marL="342900" rtl="0" algn="l">
              <a:spcBef>
                <a:spcPts val="0"/>
              </a:spcBef>
              <a:spcAft>
                <a:spcPts val="0"/>
              </a:spcAft>
              <a:buClr>
                <a:srgbClr val="0F1B3D"/>
              </a:buClr>
              <a:buSzPts val="1200"/>
              <a:buFont typeface="Calibri"/>
              <a:buChar char="•"/>
            </a:pPr>
            <a:r>
              <a:rPr lang="en-US" sz="1200">
                <a:solidFill>
                  <a:srgbClr val="0F1B3D"/>
                </a:solidFill>
                <a:latin typeface="Calibri"/>
                <a:ea typeface="Calibri"/>
                <a:cs typeface="Calibri"/>
                <a:sym typeface="Calibri"/>
              </a:rPr>
              <a:t>Test on real B2B CRM data with genuine</a:t>
            </a:r>
            <a:r>
              <a:rPr lang="en-US" sz="1200">
                <a:solidFill>
                  <a:schemeClr val="dk1"/>
                </a:solidFill>
                <a:latin typeface="Calibri"/>
                <a:ea typeface="Calibri"/>
                <a:cs typeface="Calibri"/>
                <a:sym typeface="Calibri"/>
              </a:rPr>
              <a:t> </a:t>
            </a:r>
            <a:r>
              <a:rPr lang="en-US" sz="1200">
                <a:solidFill>
                  <a:srgbClr val="0F1B3D"/>
                </a:solidFill>
                <a:latin typeface="Calibri"/>
                <a:ea typeface="Calibri"/>
                <a:cs typeface="Calibri"/>
                <a:sym typeface="Calibri"/>
              </a:rPr>
              <a:t>BANT qualification signals</a:t>
            </a:r>
            <a:endParaRPr sz="1200">
              <a:solidFill>
                <a:srgbClr val="0F1B3D"/>
              </a:solidFill>
              <a:latin typeface="Calibri"/>
              <a:ea typeface="Calibri"/>
              <a:cs typeface="Calibri"/>
              <a:sym typeface="Calibri"/>
            </a:endParaRPr>
          </a:p>
          <a:p>
            <a:pPr indent="-419100" lvl="0" marL="342900" rtl="0" algn="l">
              <a:spcBef>
                <a:spcPts val="0"/>
              </a:spcBef>
              <a:spcAft>
                <a:spcPts val="0"/>
              </a:spcAft>
              <a:buClr>
                <a:srgbClr val="0F1B3D"/>
              </a:buClr>
              <a:buSzPts val="1200"/>
              <a:buFont typeface="Calibri"/>
              <a:buChar char="•"/>
            </a:pPr>
            <a:r>
              <a:rPr lang="en-US" sz="1200">
                <a:solidFill>
                  <a:srgbClr val="0F1B3D"/>
                </a:solidFill>
                <a:latin typeface="Calibri"/>
                <a:ea typeface="Calibri"/>
                <a:cs typeface="Calibri"/>
                <a:sym typeface="Calibri"/>
              </a:rPr>
              <a:t>Investigate which qualification questions produce the highest-value new information.</a:t>
            </a:r>
            <a:endParaRPr sz="1200">
              <a:solidFill>
                <a:srgbClr val="0F1B3D"/>
              </a:solidFill>
              <a:latin typeface="Calibri"/>
              <a:ea typeface="Calibri"/>
              <a:cs typeface="Calibri"/>
              <a:sym typeface="Calibri"/>
            </a:endParaRPr>
          </a:p>
          <a:p>
            <a:pPr indent="-4191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Extend to multi-objective evaluation</a:t>
            </a:r>
            <a:r>
              <a:rPr lang="en-US" sz="1200">
                <a:solidFill>
                  <a:schemeClr val="dk1"/>
                </a:solidFill>
                <a:latin typeface="Calibri"/>
                <a:ea typeface="Calibri"/>
                <a:cs typeface="Calibri"/>
                <a:sym typeface="Calibri"/>
              </a:rPr>
              <a:t> </a:t>
            </a:r>
            <a:r>
              <a:rPr b="0" i="0" lang="en-US" sz="1200" u="none" cap="none" strike="noStrike">
                <a:solidFill>
                  <a:srgbClr val="0F1B3D"/>
                </a:solidFill>
                <a:latin typeface="Calibri"/>
                <a:ea typeface="Calibri"/>
                <a:cs typeface="Calibri"/>
                <a:sym typeface="Calibri"/>
              </a:rPr>
              <a:t>(revenue, account value, cost to serve)</a:t>
            </a:r>
            <a:endParaRPr b="0" i="0" sz="1200" u="none" cap="none" strike="noStrike">
              <a:solidFill>
                <a:schemeClr val="dk1"/>
              </a:solidFill>
              <a:latin typeface="Calibri"/>
              <a:ea typeface="Calibri"/>
              <a:cs typeface="Calibri"/>
              <a:sym typeface="Calibri"/>
            </a:endParaRPr>
          </a:p>
          <a:p>
            <a:pPr indent="-4191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Test complete signal separation by</a:t>
            </a:r>
            <a:r>
              <a:rPr lang="en-US" sz="1200">
                <a:solidFill>
                  <a:schemeClr val="dk1"/>
                </a:solidFill>
                <a:latin typeface="Calibri"/>
                <a:ea typeface="Calibri"/>
                <a:cs typeface="Calibri"/>
                <a:sym typeface="Calibri"/>
              </a:rPr>
              <a:t> </a:t>
            </a:r>
            <a:r>
              <a:rPr b="0" i="0" lang="en-US" sz="1200" u="none" cap="none" strike="noStrike">
                <a:solidFill>
                  <a:srgbClr val="0F1B3D"/>
                </a:solidFill>
                <a:latin typeface="Calibri"/>
                <a:ea typeface="Calibri"/>
                <a:cs typeface="Calibri"/>
                <a:sym typeface="Calibri"/>
              </a:rPr>
              <a:t>excluding Last Notable Activity</a:t>
            </a:r>
            <a:endParaRPr sz="1200">
              <a:solidFill>
                <a:srgbClr val="0F1B3D"/>
              </a:solidFill>
              <a:latin typeface="Calibri"/>
              <a:ea typeface="Calibri"/>
              <a:cs typeface="Calibri"/>
              <a:sym typeface="Calibri"/>
            </a:endParaRPr>
          </a:p>
          <a:p>
            <a:pPr indent="-419100" lvl="0" marL="342900" rtl="0" algn="l">
              <a:spcBef>
                <a:spcPts val="0"/>
              </a:spcBef>
              <a:spcAft>
                <a:spcPts val="0"/>
              </a:spcAft>
              <a:buClr>
                <a:srgbClr val="0F1B3D"/>
              </a:buClr>
              <a:buSzPts val="1200"/>
              <a:buFont typeface="Calibri"/>
              <a:buChar char="•"/>
            </a:pPr>
            <a:r>
              <a:rPr lang="en-US" sz="1200">
                <a:solidFill>
                  <a:srgbClr val="0F1B3D"/>
                </a:solidFill>
                <a:latin typeface="Calibri"/>
                <a:ea typeface="Calibri"/>
                <a:cs typeface="Calibri"/>
                <a:sym typeface="Calibri"/>
              </a:rPr>
              <a:t>Predict not only who will convert, but who remains open to influence</a:t>
            </a:r>
            <a:endParaRPr sz="1200">
              <a:solidFill>
                <a:srgbClr val="0F1B3D"/>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15" name="Shape 315"/>
        <p:cNvGrpSpPr/>
        <p:nvPr/>
      </p:nvGrpSpPr>
      <p:grpSpPr>
        <a:xfrm>
          <a:off x="0" y="0"/>
          <a:ext cx="0" cy="0"/>
          <a:chOff x="0" y="0"/>
          <a:chExt cx="0" cy="0"/>
        </a:xfrm>
      </p:grpSpPr>
      <p:sp>
        <p:nvSpPr>
          <p:cNvPr id="316" name="Google Shape;316;p18"/>
          <p:cNvSpPr/>
          <p:nvPr/>
        </p:nvSpPr>
        <p:spPr>
          <a:xfrm>
            <a:off x="731520" y="1645920"/>
            <a:ext cx="768096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Thank you</a:t>
            </a:r>
            <a:endParaRPr b="0" i="0" sz="4400" u="none" cap="none" strike="noStrike">
              <a:solidFill>
                <a:schemeClr val="dk1"/>
              </a:solidFill>
              <a:latin typeface="Calibri"/>
              <a:ea typeface="Calibri"/>
              <a:cs typeface="Calibri"/>
              <a:sym typeface="Calibri"/>
            </a:endParaRPr>
          </a:p>
        </p:txBody>
      </p:sp>
      <p:sp>
        <p:nvSpPr>
          <p:cNvPr id="317" name="Google Shape;317;p18"/>
          <p:cNvSpPr/>
          <p:nvPr/>
        </p:nvSpPr>
        <p:spPr>
          <a:xfrm>
            <a:off x="731520" y="2560320"/>
            <a:ext cx="76809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2200"/>
              <a:buFont typeface="Calibri"/>
              <a:buNone/>
            </a:pPr>
            <a:r>
              <a:rPr b="0" i="0" lang="en-US" sz="2200" u="none" cap="none" strike="noStrike">
                <a:solidFill>
                  <a:srgbClr val="CADCFC"/>
                </a:solidFill>
                <a:latin typeface="Calibri"/>
                <a:ea typeface="Calibri"/>
                <a:cs typeface="Calibri"/>
                <a:sym typeface="Calibri"/>
              </a:rPr>
              <a:t>Questions?</a:t>
            </a:r>
            <a:endParaRPr b="0" i="0" sz="2200" u="none" cap="none" strike="noStrike">
              <a:solidFill>
                <a:schemeClr val="dk1"/>
              </a:solidFill>
              <a:latin typeface="Calibri"/>
              <a:ea typeface="Calibri"/>
              <a:cs typeface="Calibri"/>
              <a:sym typeface="Calibri"/>
            </a:endParaRPr>
          </a:p>
        </p:txBody>
      </p:sp>
      <p:cxnSp>
        <p:nvCxnSpPr>
          <p:cNvPr id="318" name="Google Shape;318;p18"/>
          <p:cNvCxnSpPr/>
          <p:nvPr/>
        </p:nvCxnSpPr>
        <p:spPr>
          <a:xfrm>
            <a:off x="3200400" y="3291840"/>
            <a:ext cx="2743200" cy="0"/>
          </a:xfrm>
          <a:prstGeom prst="straightConnector1">
            <a:avLst/>
          </a:prstGeom>
          <a:noFill/>
          <a:ln cap="flat" cmpd="sng" w="38100">
            <a:solidFill>
              <a:srgbClr val="E8593C"/>
            </a:solidFill>
            <a:prstDash val="solid"/>
            <a:round/>
            <a:headEnd len="sm" w="sm" type="none"/>
            <a:tailEnd len="sm" w="sm" type="none"/>
          </a:ln>
        </p:spPr>
      </p:cxnSp>
      <p:sp>
        <p:nvSpPr>
          <p:cNvPr id="319" name="Google Shape;319;p18"/>
          <p:cNvSpPr/>
          <p:nvPr/>
        </p:nvSpPr>
        <p:spPr>
          <a:xfrm>
            <a:off x="731520" y="3566160"/>
            <a:ext cx="76809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Michael Dean Thomas</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michael@tailyx.ai</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2026-06-25T06:20:08Z</dcterms:created>
  <dc:creator>Michael Thomas</dc:creator>
</cp:coreProperties>
</file>